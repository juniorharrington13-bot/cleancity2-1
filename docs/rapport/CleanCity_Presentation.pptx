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B21"/>
        </a:solidFill>
        <a:effectLst/>
      </p:bgPr>
    </p:bg>
    <p:spTree>
      <p:nvGrpSpPr>
        <p:cNvPr id="1" name=""/>
        <p:cNvGrpSpPr/>
        <p:nvPr/>
      </p:nvGrpSpPr>
      <p:grpSpPr/>
      <p:sp>
        <p:nvSpPr>
          <p:cNvPr id="2" name="Oval 1"/>
          <p:cNvSpPr/>
          <p:nvPr/>
        </p:nvSpPr>
        <p:spPr>
          <a:xfrm>
            <a:off x="9509760" y="-1463040"/>
            <a:ext cx="5029200" cy="502920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45920" y="4206240"/>
            <a:ext cx="4023360" cy="402336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685800"/>
            <a:ext cx="960120" cy="960120"/>
          </a:xfrm>
          <a:prstGeom prst="ellipse">
            <a:avLst/>
          </a:prstGeom>
          <a:solidFill>
            <a:srgbClr val="74C6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85800"/>
            <a:ext cx="960120" cy="960120"/>
          </a:xfrm>
          <a:prstGeom prst="rect">
            <a:avLst/>
          </a:prstGeom>
          <a:noFill/>
        </p:spPr>
        <p:txBody>
          <a:bodyPr wrap="none" lIns="0" rIns="0" tIns="0" bIns="0" anchor="ctr">
            <a:spAutoFit/>
          </a:bodyPr>
          <a:lstStyle/>
          <a:p>
            <a:pPr algn="ctr"/>
            <a:r>
              <a:rPr sz="3400">
                <a:latin typeface="Segoe UI Emoji"/>
              </a:rPr>
              <a:t>♻️</a:t>
            </a:r>
          </a:p>
        </p:txBody>
      </p:sp>
      <p:sp>
        <p:nvSpPr>
          <p:cNvPr id="6" name="TextBox 5"/>
          <p:cNvSpPr txBox="1"/>
          <p:nvPr/>
        </p:nvSpPr>
        <p:spPr>
          <a:xfrm>
            <a:off x="822960" y="1965960"/>
            <a:ext cx="10515600" cy="320040"/>
          </a:xfrm>
          <a:prstGeom prst="rect">
            <a:avLst/>
          </a:prstGeom>
          <a:noFill/>
        </p:spPr>
        <p:txBody>
          <a:bodyPr wrap="square" lIns="0" rIns="0" tIns="0" bIns="0" anchor="t">
            <a:spAutoFit/>
          </a:bodyPr>
          <a:lstStyle/>
          <a:p>
            <a:pPr algn="l">
              <a:lnSpc>
                <a:spcPct val="100000"/>
              </a:lnSpc>
              <a:spcAft>
                <a:spcPts val="0"/>
              </a:spcAft>
            </a:pPr>
            <a:r>
              <a:rPr sz="1300" b="1" i="0">
                <a:solidFill>
                  <a:srgbClr val="74C69D"/>
                </a:solidFill>
                <a:latin typeface="Calibri"/>
              </a:rPr>
              <a:t>MEMOIRE DE FIN D'ETUDES — LICENCE INFORMATIQUE / GENIE LOGICIEL</a:t>
            </a:r>
          </a:p>
        </p:txBody>
      </p:sp>
      <p:sp>
        <p:nvSpPr>
          <p:cNvPr id="7" name="TextBox 6"/>
          <p:cNvSpPr txBox="1"/>
          <p:nvPr/>
        </p:nvSpPr>
        <p:spPr>
          <a:xfrm>
            <a:off x="777240" y="2331720"/>
            <a:ext cx="10515600" cy="1371600"/>
          </a:xfrm>
          <a:prstGeom prst="rect">
            <a:avLst/>
          </a:prstGeom>
          <a:noFill/>
        </p:spPr>
        <p:txBody>
          <a:bodyPr wrap="square" lIns="0" rIns="0" tIns="0" bIns="0" anchor="t">
            <a:spAutoFit/>
          </a:bodyPr>
          <a:lstStyle/>
          <a:p>
            <a:pPr algn="l">
              <a:lnSpc>
                <a:spcPct val="100000"/>
              </a:lnSpc>
              <a:spcAft>
                <a:spcPts val="0"/>
              </a:spcAft>
            </a:pPr>
            <a:r>
              <a:rPr sz="7600" b="1" i="0">
                <a:solidFill>
                  <a:srgbClr val="FFFFFF"/>
                </a:solidFill>
                <a:latin typeface="Cambria"/>
              </a:rPr>
              <a:t>CLEANCITY</a:t>
            </a:r>
          </a:p>
        </p:txBody>
      </p:sp>
      <p:sp>
        <p:nvSpPr>
          <p:cNvPr id="8" name="TextBox 7"/>
          <p:cNvSpPr txBox="1"/>
          <p:nvPr/>
        </p:nvSpPr>
        <p:spPr>
          <a:xfrm>
            <a:off x="822960" y="3520440"/>
            <a:ext cx="9692640" cy="822960"/>
          </a:xfrm>
          <a:prstGeom prst="rect">
            <a:avLst/>
          </a:prstGeom>
          <a:noFill/>
        </p:spPr>
        <p:txBody>
          <a:bodyPr wrap="square" lIns="0" rIns="0" tIns="0" bIns="0" anchor="t">
            <a:spAutoFit/>
          </a:bodyPr>
          <a:lstStyle/>
          <a:p>
            <a:pPr algn="l">
              <a:lnSpc>
                <a:spcPct val="115000"/>
              </a:lnSpc>
              <a:spcAft>
                <a:spcPts val="0"/>
              </a:spcAft>
            </a:pPr>
            <a:r>
              <a:rPr sz="1900" b="0" i="0">
                <a:solidFill>
                  <a:srgbClr val="FFFFFF"/>
                </a:solidFill>
                <a:latin typeface="Calibri"/>
              </a:rPr>
              <a:t>Une plateforme mobile et web pour la gestion participative des dechets urbains au Cameroun</a:t>
            </a:r>
          </a:p>
        </p:txBody>
      </p:sp>
      <p:sp>
        <p:nvSpPr>
          <p:cNvPr id="9" name="TextBox 8"/>
          <p:cNvSpPr txBox="1"/>
          <p:nvPr/>
        </p:nvSpPr>
        <p:spPr>
          <a:xfrm>
            <a:off x="822960" y="4434840"/>
            <a:ext cx="8229600" cy="457200"/>
          </a:xfrm>
          <a:prstGeom prst="rect">
            <a:avLst/>
          </a:prstGeom>
          <a:noFill/>
        </p:spPr>
        <p:txBody>
          <a:bodyPr wrap="square" lIns="0" rIns="0" tIns="0" bIns="0" anchor="t">
            <a:spAutoFit/>
          </a:bodyPr>
          <a:lstStyle/>
          <a:p>
            <a:pPr algn="l">
              <a:lnSpc>
                <a:spcPct val="100000"/>
              </a:lnSpc>
              <a:spcAft>
                <a:spcPts val="0"/>
              </a:spcAft>
            </a:pPr>
            <a:r>
              <a:rPr sz="1700" b="1" i="1">
                <a:solidFill>
                  <a:srgbClr val="FFB703"/>
                </a:solidFill>
                <a:latin typeface="Cambria"/>
              </a:rPr>
              <a:t>«  Collect  ·  Recover  ·  Preserve  »</a:t>
            </a:r>
          </a:p>
        </p:txBody>
      </p:sp>
      <p:sp>
        <p:nvSpPr>
          <p:cNvPr id="10" name="Rectangle 9"/>
          <p:cNvSpPr/>
          <p:nvPr/>
        </p:nvSpPr>
        <p:spPr>
          <a:xfrm>
            <a:off x="822960" y="5257800"/>
            <a:ext cx="10515600" cy="18288"/>
          </a:xfrm>
          <a:prstGeom prst="rect">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486400"/>
            <a:ext cx="5486400" cy="320040"/>
          </a:xfrm>
          <a:prstGeom prst="rect">
            <a:avLst/>
          </a:prstGeom>
          <a:noFill/>
        </p:spPr>
        <p:txBody>
          <a:bodyPr wrap="square" lIns="0" rIns="0" tIns="0" bIns="0" anchor="t">
            <a:spAutoFit/>
          </a:bodyPr>
          <a:lstStyle/>
          <a:p>
            <a:pPr algn="l">
              <a:lnSpc>
                <a:spcPct val="100000"/>
              </a:lnSpc>
              <a:spcAft>
                <a:spcPts val="0"/>
              </a:spcAft>
            </a:pPr>
            <a:r>
              <a:rPr sz="1300" b="0" i="0">
                <a:solidFill>
                  <a:srgbClr val="FFFFFF"/>
                </a:solidFill>
                <a:latin typeface="Calibri"/>
              </a:rPr>
              <a:t>Presente par : [Prenom NOM de l'etudiant(e)]</a:t>
            </a:r>
          </a:p>
        </p:txBody>
      </p:sp>
      <p:sp>
        <p:nvSpPr>
          <p:cNvPr id="12" name="TextBox 11"/>
          <p:cNvSpPr txBox="1"/>
          <p:nvPr/>
        </p:nvSpPr>
        <p:spPr>
          <a:xfrm>
            <a:off x="822960" y="5806440"/>
            <a:ext cx="7315200" cy="320040"/>
          </a:xfrm>
          <a:prstGeom prst="rect">
            <a:avLst/>
          </a:prstGeom>
          <a:noFill/>
        </p:spPr>
        <p:txBody>
          <a:bodyPr wrap="square" lIns="0" rIns="0" tIns="0" bIns="0" anchor="t">
            <a:spAutoFit/>
          </a:bodyPr>
          <a:lstStyle/>
          <a:p>
            <a:pPr algn="l">
              <a:lnSpc>
                <a:spcPct val="100000"/>
              </a:lnSpc>
              <a:spcAft>
                <a:spcPts val="0"/>
              </a:spcAft>
            </a:pPr>
            <a:r>
              <a:rPr sz="1300" b="0" i="0">
                <a:solidFill>
                  <a:srgbClr val="FFFFFF"/>
                </a:solidFill>
                <a:latin typeface="Calibri"/>
              </a:rPr>
              <a:t>Sous l'encadrement de : [Titre et Nom de l'encadreur academique]</a:t>
            </a:r>
          </a:p>
        </p:txBody>
      </p:sp>
      <p:sp>
        <p:nvSpPr>
          <p:cNvPr id="13" name="TextBox 12"/>
          <p:cNvSpPr txBox="1"/>
          <p:nvPr/>
        </p:nvSpPr>
        <p:spPr>
          <a:xfrm>
            <a:off x="822960" y="6172200"/>
            <a:ext cx="5486400" cy="320040"/>
          </a:xfrm>
          <a:prstGeom prst="rect">
            <a:avLst/>
          </a:prstGeom>
          <a:noFill/>
        </p:spPr>
        <p:txBody>
          <a:bodyPr wrap="square" lIns="0" rIns="0" tIns="0" bIns="0" anchor="t">
            <a:spAutoFit/>
          </a:bodyPr>
          <a:lstStyle/>
          <a:p>
            <a:pPr algn="l">
              <a:lnSpc>
                <a:spcPct val="100000"/>
              </a:lnSpc>
              <a:spcAft>
                <a:spcPts val="0"/>
              </a:spcAft>
            </a:pPr>
            <a:r>
              <a:rPr sz="1200" b="0" i="0">
                <a:solidFill>
                  <a:srgbClr val="74C69D"/>
                </a:solidFill>
                <a:latin typeface="Calibri"/>
              </a:rPr>
              <a:t>Annee academique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PLAN DE LA PRESENTATION</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Sommaire</a:t>
            </a:r>
          </a:p>
        </p:txBody>
      </p:sp>
      <p:sp>
        <p:nvSpPr>
          <p:cNvPr id="6" name="Oval 5"/>
          <p:cNvSpPr/>
          <p:nvPr/>
        </p:nvSpPr>
        <p:spPr>
          <a:xfrm>
            <a:off x="548640" y="1508760"/>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08760"/>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01</a:t>
            </a:r>
          </a:p>
        </p:txBody>
      </p:sp>
      <p:sp>
        <p:nvSpPr>
          <p:cNvPr id="8" name="TextBox 7"/>
          <p:cNvSpPr txBox="1"/>
          <p:nvPr/>
        </p:nvSpPr>
        <p:spPr>
          <a:xfrm>
            <a:off x="1207008" y="1508760"/>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Contexte et problematique locale</a:t>
            </a:r>
          </a:p>
        </p:txBody>
      </p:sp>
      <p:sp>
        <p:nvSpPr>
          <p:cNvPr id="9" name="Oval 8"/>
          <p:cNvSpPr/>
          <p:nvPr/>
        </p:nvSpPr>
        <p:spPr>
          <a:xfrm>
            <a:off x="548640" y="2350008"/>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50008"/>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02</a:t>
            </a:r>
          </a:p>
        </p:txBody>
      </p:sp>
      <p:sp>
        <p:nvSpPr>
          <p:cNvPr id="11" name="TextBox 10"/>
          <p:cNvSpPr txBox="1"/>
          <p:nvPr/>
        </p:nvSpPr>
        <p:spPr>
          <a:xfrm>
            <a:off x="1207008" y="2350008"/>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Objectifs, vision et acteurs du systeme</a:t>
            </a:r>
          </a:p>
        </p:txBody>
      </p:sp>
      <p:sp>
        <p:nvSpPr>
          <p:cNvPr id="12" name="Oval 11"/>
          <p:cNvSpPr/>
          <p:nvPr/>
        </p:nvSpPr>
        <p:spPr>
          <a:xfrm>
            <a:off x="548640" y="3191256"/>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191256"/>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03</a:t>
            </a:r>
          </a:p>
        </p:txBody>
      </p:sp>
      <p:sp>
        <p:nvSpPr>
          <p:cNvPr id="14" name="TextBox 13"/>
          <p:cNvSpPr txBox="1"/>
          <p:nvPr/>
        </p:nvSpPr>
        <p:spPr>
          <a:xfrm>
            <a:off x="1207008" y="3191256"/>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Cahier des charges fonctionnel</a:t>
            </a:r>
          </a:p>
        </p:txBody>
      </p:sp>
      <p:sp>
        <p:nvSpPr>
          <p:cNvPr id="15" name="Oval 14"/>
          <p:cNvSpPr/>
          <p:nvPr/>
        </p:nvSpPr>
        <p:spPr>
          <a:xfrm>
            <a:off x="548640" y="4032504"/>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32504"/>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04</a:t>
            </a:r>
          </a:p>
        </p:txBody>
      </p:sp>
      <p:sp>
        <p:nvSpPr>
          <p:cNvPr id="17" name="TextBox 16"/>
          <p:cNvSpPr txBox="1"/>
          <p:nvPr/>
        </p:nvSpPr>
        <p:spPr>
          <a:xfrm>
            <a:off x="1207008" y="4032504"/>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Architecture et stack technique</a:t>
            </a:r>
          </a:p>
        </p:txBody>
      </p:sp>
      <p:sp>
        <p:nvSpPr>
          <p:cNvPr id="18" name="Oval 17"/>
          <p:cNvSpPr/>
          <p:nvPr/>
        </p:nvSpPr>
        <p:spPr>
          <a:xfrm>
            <a:off x="548640" y="4873752"/>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873752"/>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05</a:t>
            </a:r>
          </a:p>
        </p:txBody>
      </p:sp>
      <p:sp>
        <p:nvSpPr>
          <p:cNvPr id="20" name="TextBox 19"/>
          <p:cNvSpPr txBox="1"/>
          <p:nvPr/>
        </p:nvSpPr>
        <p:spPr>
          <a:xfrm>
            <a:off x="1207008" y="4873752"/>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Modele de donnees et securite (RLS)</a:t>
            </a:r>
          </a:p>
        </p:txBody>
      </p:sp>
      <p:sp>
        <p:nvSpPr>
          <p:cNvPr id="21" name="Oval 20"/>
          <p:cNvSpPr/>
          <p:nvPr/>
        </p:nvSpPr>
        <p:spPr>
          <a:xfrm>
            <a:off x="6355080" y="1508760"/>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1508760"/>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06</a:t>
            </a:r>
          </a:p>
        </p:txBody>
      </p:sp>
      <p:sp>
        <p:nvSpPr>
          <p:cNvPr id="23" name="TextBox 22"/>
          <p:cNvSpPr txBox="1"/>
          <p:nvPr/>
        </p:nvSpPr>
        <p:spPr>
          <a:xfrm>
            <a:off x="7013448" y="1508760"/>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Cycle de vie d'un signalement</a:t>
            </a:r>
          </a:p>
        </p:txBody>
      </p:sp>
      <p:sp>
        <p:nvSpPr>
          <p:cNvPr id="24" name="Oval 23"/>
          <p:cNvSpPr/>
          <p:nvPr/>
        </p:nvSpPr>
        <p:spPr>
          <a:xfrm>
            <a:off x="6355080" y="2350008"/>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350008"/>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07</a:t>
            </a:r>
          </a:p>
        </p:txBody>
      </p:sp>
      <p:sp>
        <p:nvSpPr>
          <p:cNvPr id="26" name="TextBox 25"/>
          <p:cNvSpPr txBox="1"/>
          <p:nvPr/>
        </p:nvSpPr>
        <p:spPr>
          <a:xfrm>
            <a:off x="7013448" y="2350008"/>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Points ecologiques et mobile money</a:t>
            </a:r>
          </a:p>
        </p:txBody>
      </p:sp>
      <p:sp>
        <p:nvSpPr>
          <p:cNvPr id="27" name="Oval 26"/>
          <p:cNvSpPr/>
          <p:nvPr/>
        </p:nvSpPr>
        <p:spPr>
          <a:xfrm>
            <a:off x="6355080" y="3191256"/>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3191256"/>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08</a:t>
            </a:r>
          </a:p>
        </p:txBody>
      </p:sp>
      <p:sp>
        <p:nvSpPr>
          <p:cNvPr id="29" name="TextBox 28"/>
          <p:cNvSpPr txBox="1"/>
          <p:nvPr/>
        </p:nvSpPr>
        <p:spPr>
          <a:xfrm>
            <a:off x="7013448" y="3191256"/>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Tests, CI/CD et deploiement</a:t>
            </a:r>
          </a:p>
        </p:txBody>
      </p:sp>
      <p:sp>
        <p:nvSpPr>
          <p:cNvPr id="30" name="Oval 29"/>
          <p:cNvSpPr/>
          <p:nvPr/>
        </p:nvSpPr>
        <p:spPr>
          <a:xfrm>
            <a:off x="6355080" y="4032504"/>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4032504"/>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09</a:t>
            </a:r>
          </a:p>
        </p:txBody>
      </p:sp>
      <p:sp>
        <p:nvSpPr>
          <p:cNvPr id="32" name="TextBox 31"/>
          <p:cNvSpPr txBox="1"/>
          <p:nvPr/>
        </p:nvSpPr>
        <p:spPr>
          <a:xfrm>
            <a:off x="7013448" y="4032504"/>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Bilan, limites et perspectives</a:t>
            </a:r>
          </a:p>
        </p:txBody>
      </p:sp>
      <p:sp>
        <p:nvSpPr>
          <p:cNvPr id="33" name="Oval 32"/>
          <p:cNvSpPr/>
          <p:nvPr/>
        </p:nvSpPr>
        <p:spPr>
          <a:xfrm>
            <a:off x="6355080" y="4873752"/>
            <a:ext cx="457200" cy="457200"/>
          </a:xfrm>
          <a:prstGeom prst="ellipse">
            <a:avLst/>
          </a:prstGeom>
          <a:solidFill>
            <a:srgbClr val="EAF4EE"/>
          </a:solidFill>
          <a:ln w="15875">
            <a:solidFill>
              <a:srgbClr val="2D6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873752"/>
            <a:ext cx="457200" cy="457200"/>
          </a:xfrm>
          <a:prstGeom prst="rect">
            <a:avLst/>
          </a:prstGeom>
          <a:noFill/>
        </p:spPr>
        <p:txBody>
          <a:bodyPr wrap="square" lIns="0" rIns="0" tIns="0" bIns="0" anchor="ctr">
            <a:spAutoFit/>
          </a:bodyPr>
          <a:lstStyle/>
          <a:p>
            <a:pPr algn="ctr">
              <a:lnSpc>
                <a:spcPct val="100000"/>
              </a:lnSpc>
              <a:spcAft>
                <a:spcPts val="0"/>
              </a:spcAft>
            </a:pPr>
            <a:r>
              <a:rPr sz="1500" b="1" i="0">
                <a:solidFill>
                  <a:srgbClr val="2D6A4F"/>
                </a:solidFill>
                <a:latin typeface="Cambria"/>
              </a:rPr>
              <a:t>10</a:t>
            </a:r>
          </a:p>
        </p:txBody>
      </p:sp>
      <p:sp>
        <p:nvSpPr>
          <p:cNvPr id="35" name="TextBox 34"/>
          <p:cNvSpPr txBox="1"/>
          <p:nvPr/>
        </p:nvSpPr>
        <p:spPr>
          <a:xfrm>
            <a:off x="7013448" y="4873752"/>
            <a:ext cx="4663440" cy="457200"/>
          </a:xfrm>
          <a:prstGeom prst="rect">
            <a:avLst/>
          </a:prstGeom>
          <a:noFill/>
        </p:spPr>
        <p:txBody>
          <a:bodyPr wrap="square" lIns="0" rIns="0" tIns="0" bIns="0" anchor="ctr">
            <a:spAutoFit/>
          </a:bodyPr>
          <a:lstStyle/>
          <a:p>
            <a:pPr algn="l">
              <a:lnSpc>
                <a:spcPct val="100000"/>
              </a:lnSpc>
              <a:spcAft>
                <a:spcPts val="0"/>
              </a:spcAft>
            </a:pPr>
            <a:r>
              <a:rPr sz="1500" b="0" i="0">
                <a:solidFill>
                  <a:srgbClr val="1C2B24"/>
                </a:solidFill>
                <a:latin typeface="Calibri"/>
              </a:rPr>
              <a:t>Conclusion generale</a:t>
            </a:r>
          </a:p>
        </p:txBody>
      </p:sp>
      <p:sp>
        <p:nvSpPr>
          <p:cNvPr id="36" name="TextBox 35"/>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37" name="TextBox 36"/>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1 — CONTEXTE DU PROJET</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Une urbanisation rapide, un suivi qui reste informel</a:t>
            </a:r>
          </a:p>
        </p:txBody>
      </p:sp>
      <p:sp>
        <p:nvSpPr>
          <p:cNvPr id="6" name="TextBox 5"/>
          <p:cNvSpPr txBox="1"/>
          <p:nvPr/>
        </p:nvSpPr>
        <p:spPr>
          <a:xfrm>
            <a:off x="548640" y="1600200"/>
            <a:ext cx="6492240" cy="4297680"/>
          </a:xfrm>
          <a:prstGeom prst="rect">
            <a:avLst/>
          </a:prstGeom>
          <a:noFill/>
        </p:spPr>
        <p:txBody>
          <a:bodyPr wrap="square" lIns="0" rIns="0" tIns="0" bIns="0">
            <a:spAutoFit/>
          </a:bodyPr>
          <a:lstStyle/>
          <a:p>
            <a:pPr algn="l" marL="228600" indent="-228600">
              <a:lnSpc>
                <a:spcPct val="115000"/>
              </a:lnSpc>
              <a:spcAft>
                <a:spcPts val="1400"/>
              </a:spcAft>
              <a:buClr>
                <a:srgbClr val="2D6A4F"/>
              </a:buClr>
              <a:buFont typeface="Arial"/>
              <a:buChar char="•"/>
            </a:pPr>
            <a:r>
              <a:rPr sz="1450" b="1">
                <a:solidFill>
                  <a:srgbClr val="1C2B24"/>
                </a:solidFill>
                <a:latin typeface="Calibri"/>
              </a:rPr>
              <a:t>Urbanisation non planifiee — </a:t>
            </a:r>
            <a:r>
              <a:rPr sz="1450" b="0">
                <a:solidFill>
                  <a:srgbClr val="1C2B24"/>
                </a:solidFill>
                <a:latin typeface="Calibri"/>
              </a:rPr>
              <a:t>Douala, Yaounde, Bafoussam, Garoua connaissent une forte croissance urbaine que les dispositifs de collecte peinent a absorber.</a:t>
            </a:r>
          </a:p>
          <a:p>
            <a:pPr algn="l" marL="228600" indent="-228600">
              <a:lnSpc>
                <a:spcPct val="115000"/>
              </a:lnSpc>
              <a:spcAft>
                <a:spcPts val="1400"/>
              </a:spcAft>
              <a:buClr>
                <a:srgbClr val="2D6A4F"/>
              </a:buClr>
              <a:buFont typeface="Arial"/>
              <a:buChar char="•"/>
            </a:pPr>
            <a:r>
              <a:rPr sz="1450" b="1">
                <a:solidFill>
                  <a:srgbClr val="1C2B24"/>
                </a:solidFill>
                <a:latin typeface="Calibri"/>
              </a:rPr>
              <a:t>Decharges sauvages — </a:t>
            </a:r>
            <a:r>
              <a:rPr sz="1450" b="0">
                <a:solidFill>
                  <a:srgbClr val="1C2B24"/>
                </a:solidFill>
                <a:latin typeface="Calibri"/>
              </a:rPr>
              <a:t>l'absence de points de collecte reguliers favorise leur apparition, avec des risques sanitaires et environnementaux (inondations, maladies).</a:t>
            </a:r>
          </a:p>
          <a:p>
            <a:pPr algn="l" marL="228600" indent="-228600">
              <a:lnSpc>
                <a:spcPct val="115000"/>
              </a:lnSpc>
              <a:spcAft>
                <a:spcPts val="1400"/>
              </a:spcAft>
              <a:buClr>
                <a:srgbClr val="2D6A4F"/>
              </a:buClr>
              <a:buFont typeface="Arial"/>
              <a:buChar char="•"/>
            </a:pPr>
            <a:r>
              <a:rPr sz="1450" b="1">
                <a:solidFill>
                  <a:srgbClr val="1C2B24"/>
                </a:solidFill>
                <a:latin typeface="Calibri"/>
              </a:rPr>
              <a:t>Signalement informel — </a:t>
            </a:r>
            <a:r>
              <a:rPr sz="1450" b="0">
                <a:solidFill>
                  <a:srgbClr val="1C2B24"/>
                </a:solidFill>
                <a:latin typeface="Calibri"/>
              </a:rPr>
              <a:t>appel telephonique, bouche-a-oreille ou reseaux sociaux : les signalements se perdent et ne sont pas centralises.</a:t>
            </a:r>
          </a:p>
          <a:p>
            <a:pPr algn="l" marL="228600" indent="-228600">
              <a:lnSpc>
                <a:spcPct val="115000"/>
              </a:lnSpc>
              <a:spcAft>
                <a:spcPts val="1400"/>
              </a:spcAft>
              <a:buClr>
                <a:srgbClr val="2D6A4F"/>
              </a:buClr>
              <a:buFont typeface="Arial"/>
              <a:buChar char="•"/>
            </a:pPr>
            <a:r>
              <a:rPr sz="1450" b="1">
                <a:solidFill>
                  <a:srgbClr val="1C2B24"/>
                </a:solidFill>
                <a:latin typeface="Calibri"/>
              </a:rPr>
              <a:t>Aucune visibilite en temps reel — </a:t>
            </a:r>
            <a:r>
              <a:rPr sz="1450" b="0">
                <a:solidFill>
                  <a:srgbClr val="1C2B24"/>
                </a:solidFill>
                <a:latin typeface="Calibri"/>
              </a:rPr>
              <a:t>ni pour les collecteurs sur les zones prioritaires, ni pour les centres de tri sur les volumes a recevoir, ni pour les autorites.</a:t>
            </a:r>
          </a:p>
        </p:txBody>
      </p:sp>
      <p:sp>
        <p:nvSpPr>
          <p:cNvPr id="7" name="Rounded Rectangle 6"/>
          <p:cNvSpPr/>
          <p:nvPr/>
        </p:nvSpPr>
        <p:spPr>
          <a:xfrm>
            <a:off x="7406640" y="1600200"/>
            <a:ext cx="4206240" cy="434340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828800"/>
            <a:ext cx="3657600" cy="274320"/>
          </a:xfrm>
          <a:prstGeom prst="rect">
            <a:avLst/>
          </a:prstGeom>
          <a:noFill/>
        </p:spPr>
        <p:txBody>
          <a:bodyPr wrap="square" lIns="0" rIns="0" tIns="0" bIns="0" anchor="t">
            <a:spAutoFit/>
          </a:bodyPr>
          <a:lstStyle/>
          <a:p>
            <a:pPr algn="l">
              <a:lnSpc>
                <a:spcPct val="100000"/>
              </a:lnSpc>
              <a:spcAft>
                <a:spcPts val="0"/>
              </a:spcAft>
            </a:pPr>
            <a:r>
              <a:rPr sz="1150" b="1" i="0">
                <a:solidFill>
                  <a:srgbClr val="2D6A4F"/>
                </a:solidFill>
                <a:latin typeface="Calibri"/>
              </a:rPr>
              <a:t>PROBLEMATIQUE CENTRALE</a:t>
            </a:r>
          </a:p>
        </p:txBody>
      </p:sp>
      <p:sp>
        <p:nvSpPr>
          <p:cNvPr id="9" name="TextBox 8"/>
          <p:cNvSpPr txBox="1"/>
          <p:nvPr/>
        </p:nvSpPr>
        <p:spPr>
          <a:xfrm>
            <a:off x="7680960" y="2148840"/>
            <a:ext cx="3657600" cy="2286000"/>
          </a:xfrm>
          <a:prstGeom prst="rect">
            <a:avLst/>
          </a:prstGeom>
          <a:noFill/>
        </p:spPr>
        <p:txBody>
          <a:bodyPr wrap="square" lIns="0" rIns="0" tIns="0" bIns="0" anchor="t">
            <a:spAutoFit/>
          </a:bodyPr>
          <a:lstStyle/>
          <a:p>
            <a:pPr algn="l">
              <a:lnSpc>
                <a:spcPct val="120000"/>
              </a:lnSpc>
              <a:spcAft>
                <a:spcPts val="0"/>
              </a:spcAft>
            </a:pPr>
            <a:r>
              <a:rPr sz="1450" b="0" i="1">
                <a:solidFill>
                  <a:srgbClr val="1C2B24"/>
                </a:solidFill>
                <a:latin typeface="Cambria"/>
              </a:rPr>
              <a:t>Comment permettre a un citoyen de signaler rapidement un probleme de salubrite, tout en offrant aux collecteurs, centres de tri et autorites une visibilite en temps reel sur les signalements, leur localisation et leur statut de traitement ?</a:t>
            </a:r>
          </a:p>
        </p:txBody>
      </p:sp>
      <p:sp>
        <p:nvSpPr>
          <p:cNvPr id="10" name="Oval 9"/>
          <p:cNvSpPr/>
          <p:nvPr/>
        </p:nvSpPr>
        <p:spPr>
          <a:xfrm>
            <a:off x="7680960" y="4709160"/>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4709160"/>
            <a:ext cx="502920" cy="502920"/>
          </a:xfrm>
          <a:prstGeom prst="rect">
            <a:avLst/>
          </a:prstGeom>
          <a:noFill/>
        </p:spPr>
        <p:txBody>
          <a:bodyPr wrap="none" lIns="0" rIns="0" tIns="0" bIns="0" anchor="ctr">
            <a:spAutoFit/>
          </a:bodyPr>
          <a:lstStyle/>
          <a:p>
            <a:pPr algn="ctr"/>
            <a:r>
              <a:rPr sz="1800">
                <a:latin typeface="Segoe UI Emoji"/>
              </a:rPr>
              <a:t>📍</a:t>
            </a:r>
          </a:p>
        </p:txBody>
      </p:sp>
      <p:sp>
        <p:nvSpPr>
          <p:cNvPr id="12" name="TextBox 11"/>
          <p:cNvSpPr txBox="1"/>
          <p:nvPr/>
        </p:nvSpPr>
        <p:spPr>
          <a:xfrm>
            <a:off x="8321040" y="4736592"/>
            <a:ext cx="3108960" cy="1097280"/>
          </a:xfrm>
          <a:prstGeom prst="rect">
            <a:avLst/>
          </a:prstGeom>
          <a:noFill/>
        </p:spPr>
        <p:txBody>
          <a:bodyPr wrap="square" lIns="0" rIns="0" tIns="0" bIns="0" anchor="t">
            <a:spAutoFit/>
          </a:bodyPr>
          <a:lstStyle/>
          <a:p>
            <a:pPr algn="l">
              <a:lnSpc>
                <a:spcPct val="115000"/>
              </a:lnSpc>
              <a:spcAft>
                <a:spcPts val="0"/>
              </a:spcAft>
            </a:pPr>
            <a:r>
              <a:rPr sz="1150" b="0" i="0">
                <a:solidFill>
                  <a:srgbClr val="5C6B65"/>
                </a:solidFill>
                <a:latin typeface="Calibri"/>
              </a:rPr>
              <a:t>Zero outil numerique de geolocalisation et de
coordination en temps reel entre les acteurs.</a:t>
            </a:r>
          </a:p>
        </p:txBody>
      </p:sp>
      <p:sp>
        <p:nvSpPr>
          <p:cNvPr id="13" name="TextBox 12"/>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14" name="TextBox 13"/>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1 — VALEUR AJOUTEE</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Signalement traditionnel vs signalement CleanCity</a:t>
            </a:r>
          </a:p>
        </p:txBody>
      </p:sp>
      <p:graphicFrame>
        <p:nvGraphicFramePr>
          <p:cNvPr id="6" name="Table 5"/>
          <p:cNvGraphicFramePr>
            <a:graphicFrameLocks noGrp="1"/>
          </p:cNvGraphicFramePr>
          <p:nvPr/>
        </p:nvGraphicFramePr>
        <p:xfrm>
          <a:off x="548640" y="1600200"/>
          <a:ext cx="11091672" cy="4480560"/>
        </p:xfrm>
        <a:graphic>
          <a:graphicData uri="http://schemas.openxmlformats.org/drawingml/2006/table">
            <a:tbl>
              <a:tblPr firstRow="1" bandRow="1">
                <a:tableStyleId>{5C22544A-7EE6-4342-B048-85BDC9FD1C3A}</a:tableStyleId>
              </a:tblPr>
              <a:tblGrid>
                <a:gridCol w="2377440"/>
                <a:gridCol w="4572000"/>
                <a:gridCol w="4142232"/>
              </a:tblGrid>
              <a:tr h="746760">
                <a:tc>
                  <a:txBody>
                    <a:bodyPr/>
                    <a:lstStyle/>
                    <a:p>
                      <a:r>
                        <a:rPr b="1" sz="1400">
                          <a:solidFill>
                            <a:srgbClr val="FFFFFF"/>
                          </a:solidFill>
                          <a:latin typeface="Calibri"/>
                        </a:rPr>
                        <a:t>Critere</a:t>
                      </a:r>
                    </a:p>
                  </a:txBody>
                  <a:tcPr marL="137160" marR="137160" marT="73152" marB="73152" anchor="ctr">
                    <a:solidFill>
                      <a:srgbClr val="1B4332"/>
                    </a:solidFill>
                  </a:tcPr>
                </a:tc>
                <a:tc>
                  <a:txBody>
                    <a:bodyPr/>
                    <a:lstStyle/>
                    <a:p>
                      <a:r>
                        <a:rPr b="1" sz="1400">
                          <a:solidFill>
                            <a:srgbClr val="FFFFFF"/>
                          </a:solidFill>
                          <a:latin typeface="Calibri"/>
                        </a:rPr>
                        <a:t>Signalement traditionnel</a:t>
                      </a:r>
                    </a:p>
                  </a:txBody>
                  <a:tcPr marL="137160" marR="137160" marT="73152" marB="73152" anchor="ctr">
                    <a:solidFill>
                      <a:srgbClr val="1B4332"/>
                    </a:solidFill>
                  </a:tcPr>
                </a:tc>
                <a:tc>
                  <a:txBody>
                    <a:bodyPr/>
                    <a:lstStyle/>
                    <a:p>
                      <a:r>
                        <a:rPr b="1" sz="1400">
                          <a:solidFill>
                            <a:srgbClr val="FFFFFF"/>
                          </a:solidFill>
                          <a:latin typeface="Calibri"/>
                        </a:rPr>
                        <a:t>Avec CleanCity</a:t>
                      </a:r>
                    </a:p>
                  </a:txBody>
                  <a:tcPr marL="137160" marR="137160" marT="73152" marB="73152" anchor="ctr">
                    <a:solidFill>
                      <a:srgbClr val="1B4332"/>
                    </a:solidFill>
                  </a:tcPr>
                </a:tc>
              </a:tr>
              <a:tr h="746760">
                <a:tc>
                  <a:txBody>
                    <a:bodyPr/>
                    <a:lstStyle/>
                    <a:p>
                      <a:r>
                        <a:rPr sz="1300">
                          <a:solidFill>
                            <a:srgbClr val="1C2B24"/>
                          </a:solidFill>
                          <a:latin typeface="Calibri"/>
                        </a:rPr>
                        <a:t>Canal</a:t>
                      </a:r>
                    </a:p>
                  </a:txBody>
                  <a:tcPr marL="137160" marR="137160" marT="73152" marB="73152" anchor="ctr">
                    <a:solidFill>
                      <a:srgbClr val="FFFFFF"/>
                    </a:solidFill>
                  </a:tcPr>
                </a:tc>
                <a:tc>
                  <a:txBody>
                    <a:bodyPr/>
                    <a:lstStyle/>
                    <a:p>
                      <a:r>
                        <a:rPr sz="1300">
                          <a:solidFill>
                            <a:srgbClr val="1C2B24"/>
                          </a:solidFill>
                          <a:latin typeface="Calibri"/>
                        </a:rPr>
                        <a:t>Appel, bouche-a-oreille, reseaux sociaux</a:t>
                      </a:r>
                    </a:p>
                  </a:txBody>
                  <a:tcPr marL="137160" marR="137160" marT="73152" marB="73152" anchor="ctr">
                    <a:solidFill>
                      <a:srgbClr val="FFFFFF"/>
                    </a:solidFill>
                  </a:tcPr>
                </a:tc>
                <a:tc>
                  <a:txBody>
                    <a:bodyPr/>
                    <a:lstStyle/>
                    <a:p>
                      <a:r>
                        <a:rPr sz="1300" b="1">
                          <a:solidFill>
                            <a:srgbClr val="2D6A4F"/>
                          </a:solidFill>
                          <a:latin typeface="Calibri"/>
                        </a:rPr>
                        <a:t>Application mobile / web dediee</a:t>
                      </a:r>
                    </a:p>
                  </a:txBody>
                  <a:tcPr marL="137160" marR="137160" marT="73152" marB="73152" anchor="ctr">
                    <a:solidFill>
                      <a:srgbClr val="FFFFFF"/>
                    </a:solidFill>
                  </a:tcPr>
                </a:tc>
              </a:tr>
              <a:tr h="746760">
                <a:tc>
                  <a:txBody>
                    <a:bodyPr/>
                    <a:lstStyle/>
                    <a:p>
                      <a:r>
                        <a:rPr sz="1300">
                          <a:solidFill>
                            <a:srgbClr val="1C2B24"/>
                          </a:solidFill>
                          <a:latin typeface="Calibri"/>
                        </a:rPr>
                        <a:t>Localisation</a:t>
                      </a:r>
                    </a:p>
                  </a:txBody>
                  <a:tcPr marL="137160" marR="137160" marT="73152" marB="73152" anchor="ctr">
                    <a:solidFill>
                      <a:srgbClr val="F5FAF7"/>
                    </a:solidFill>
                  </a:tcPr>
                </a:tc>
                <a:tc>
                  <a:txBody>
                    <a:bodyPr/>
                    <a:lstStyle/>
                    <a:p>
                      <a:r>
                        <a:rPr sz="1300">
                          <a:solidFill>
                            <a:srgbClr val="1C2B24"/>
                          </a:solidFill>
                          <a:latin typeface="Calibri"/>
                        </a:rPr>
                        <a:t>Description approximative</a:t>
                      </a:r>
                    </a:p>
                  </a:txBody>
                  <a:tcPr marL="137160" marR="137160" marT="73152" marB="73152" anchor="ctr">
                    <a:solidFill>
                      <a:srgbClr val="F5FAF7"/>
                    </a:solidFill>
                  </a:tcPr>
                </a:tc>
                <a:tc>
                  <a:txBody>
                    <a:bodyPr/>
                    <a:lstStyle/>
                    <a:p>
                      <a:r>
                        <a:rPr sz="1300" b="1">
                          <a:solidFill>
                            <a:srgbClr val="2D6A4F"/>
                          </a:solidFill>
                          <a:latin typeface="Calibri"/>
                        </a:rPr>
                        <a:t>Coordonnees GPS precises</a:t>
                      </a:r>
                    </a:p>
                  </a:txBody>
                  <a:tcPr marL="137160" marR="137160" marT="73152" marB="73152" anchor="ctr">
                    <a:solidFill>
                      <a:srgbClr val="F5FAF7"/>
                    </a:solidFill>
                  </a:tcPr>
                </a:tc>
              </a:tr>
              <a:tr h="746760">
                <a:tc>
                  <a:txBody>
                    <a:bodyPr/>
                    <a:lstStyle/>
                    <a:p>
                      <a:r>
                        <a:rPr sz="1300">
                          <a:solidFill>
                            <a:srgbClr val="1C2B24"/>
                          </a:solidFill>
                          <a:latin typeface="Calibri"/>
                        </a:rPr>
                        <a:t>Tracabilite</a:t>
                      </a:r>
                    </a:p>
                  </a:txBody>
                  <a:tcPr marL="137160" marR="137160" marT="73152" marB="73152" anchor="ctr">
                    <a:solidFill>
                      <a:srgbClr val="FFFFFF"/>
                    </a:solidFill>
                  </a:tcPr>
                </a:tc>
                <a:tc>
                  <a:txBody>
                    <a:bodyPr/>
                    <a:lstStyle/>
                    <a:p>
                      <a:r>
                        <a:rPr sz="1300">
                          <a:solidFill>
                            <a:srgbClr val="1C2B24"/>
                          </a:solidFill>
                          <a:latin typeface="Calibri"/>
                        </a:rPr>
                        <a:t>Aucune visibilite apres signalement</a:t>
                      </a:r>
                    </a:p>
                  </a:txBody>
                  <a:tcPr marL="137160" marR="137160" marT="73152" marB="73152" anchor="ctr">
                    <a:solidFill>
                      <a:srgbClr val="FFFFFF"/>
                    </a:solidFill>
                  </a:tcPr>
                </a:tc>
                <a:tc>
                  <a:txBody>
                    <a:bodyPr/>
                    <a:lstStyle/>
                    <a:p>
                      <a:r>
                        <a:rPr sz="1300" b="1">
                          <a:solidFill>
                            <a:srgbClr val="2D6A4F"/>
                          </a:solidFill>
                          <a:latin typeface="Calibri"/>
                        </a:rPr>
                        <a:t>Statuts suivis en temps reel</a:t>
                      </a:r>
                    </a:p>
                  </a:txBody>
                  <a:tcPr marL="137160" marR="137160" marT="73152" marB="73152" anchor="ctr">
                    <a:solidFill>
                      <a:srgbClr val="FFFFFF"/>
                    </a:solidFill>
                  </a:tcPr>
                </a:tc>
              </a:tr>
              <a:tr h="746760">
                <a:tc>
                  <a:txBody>
                    <a:bodyPr/>
                    <a:lstStyle/>
                    <a:p>
                      <a:r>
                        <a:rPr sz="1300">
                          <a:solidFill>
                            <a:srgbClr val="1C2B24"/>
                          </a:solidFill>
                          <a:latin typeface="Calibri"/>
                        </a:rPr>
                        <a:t>Preuve visuelle</a:t>
                      </a:r>
                    </a:p>
                  </a:txBody>
                  <a:tcPr marL="137160" marR="137160" marT="73152" marB="73152" anchor="ctr">
                    <a:solidFill>
                      <a:srgbClr val="F5FAF7"/>
                    </a:solidFill>
                  </a:tcPr>
                </a:tc>
                <a:tc>
                  <a:txBody>
                    <a:bodyPr/>
                    <a:lstStyle/>
                    <a:p>
                      <a:r>
                        <a:rPr sz="1300">
                          <a:solidFill>
                            <a:srgbClr val="1C2B24"/>
                          </a:solidFill>
                          <a:latin typeface="Calibri"/>
                        </a:rPr>
                        <a:t>Rarement disponible</a:t>
                      </a:r>
                    </a:p>
                  </a:txBody>
                  <a:tcPr marL="137160" marR="137160" marT="73152" marB="73152" anchor="ctr">
                    <a:solidFill>
                      <a:srgbClr val="F5FAF7"/>
                    </a:solidFill>
                  </a:tcPr>
                </a:tc>
                <a:tc>
                  <a:txBody>
                    <a:bodyPr/>
                    <a:lstStyle/>
                    <a:p>
                      <a:r>
                        <a:rPr sz="1300" b="1">
                          <a:solidFill>
                            <a:srgbClr val="2D6A4F"/>
                          </a:solidFill>
                          <a:latin typeface="Calibri"/>
                        </a:rPr>
                        <a:t>Photographies jointes</a:t>
                      </a:r>
                    </a:p>
                  </a:txBody>
                  <a:tcPr marL="137160" marR="137160" marT="73152" marB="73152" anchor="ctr">
                    <a:solidFill>
                      <a:srgbClr val="F5FAF7"/>
                    </a:solidFill>
                  </a:tcPr>
                </a:tc>
              </a:tr>
              <a:tr h="746760">
                <a:tc>
                  <a:txBody>
                    <a:bodyPr/>
                    <a:lstStyle/>
                    <a:p>
                      <a:r>
                        <a:rPr sz="1300">
                          <a:solidFill>
                            <a:srgbClr val="1C2B24"/>
                          </a:solidFill>
                          <a:latin typeface="Calibri"/>
                        </a:rPr>
                        <a:t>Incitation</a:t>
                      </a:r>
                    </a:p>
                  </a:txBody>
                  <a:tcPr marL="137160" marR="137160" marT="73152" marB="73152" anchor="ctr">
                    <a:solidFill>
                      <a:srgbClr val="FFFFFF"/>
                    </a:solidFill>
                  </a:tcPr>
                </a:tc>
                <a:tc>
                  <a:txBody>
                    <a:bodyPr/>
                    <a:lstStyle/>
                    <a:p>
                      <a:r>
                        <a:rPr sz="1300">
                          <a:solidFill>
                            <a:srgbClr val="1C2B24"/>
                          </a:solidFill>
                          <a:latin typeface="Calibri"/>
                        </a:rPr>
                        <a:t>Absente ou informelle</a:t>
                      </a:r>
                    </a:p>
                  </a:txBody>
                  <a:tcPr marL="137160" marR="137160" marT="73152" marB="73152" anchor="ctr">
                    <a:solidFill>
                      <a:srgbClr val="FFFFFF"/>
                    </a:solidFill>
                  </a:tcPr>
                </a:tc>
                <a:tc>
                  <a:txBody>
                    <a:bodyPr/>
                    <a:lstStyle/>
                    <a:p>
                      <a:r>
                        <a:rPr sz="1300" b="1">
                          <a:solidFill>
                            <a:srgbClr val="2D6A4F"/>
                          </a:solidFill>
                          <a:latin typeface="Calibri"/>
                        </a:rPr>
                        <a:t>Points ecologiques + mobile money</a:t>
                      </a:r>
                    </a:p>
                  </a:txBody>
                  <a:tcPr marL="137160" marR="137160" marT="73152" marB="73152" anchor="ctr">
                    <a:solidFill>
                      <a:srgbClr val="FFFFFF"/>
                    </a:solidFill>
                  </a:tcPr>
                </a:tc>
              </a:tr>
            </a:tbl>
          </a:graphicData>
        </a:graphic>
      </p:graphicFrame>
      <p:sp>
        <p:nvSpPr>
          <p:cNvPr id="7" name="TextBox 6"/>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8" name="TextBox 7"/>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1 — FINALITES DU PROJET</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Objectifs et vision de CleanCity</a:t>
            </a:r>
          </a:p>
        </p:txBody>
      </p:sp>
      <p:sp>
        <p:nvSpPr>
          <p:cNvPr id="6" name="TextBox 5"/>
          <p:cNvSpPr txBox="1"/>
          <p:nvPr/>
        </p:nvSpPr>
        <p:spPr>
          <a:xfrm>
            <a:off x="548640" y="1508760"/>
            <a:ext cx="3657600" cy="274320"/>
          </a:xfrm>
          <a:prstGeom prst="rect">
            <a:avLst/>
          </a:prstGeom>
          <a:noFill/>
        </p:spPr>
        <p:txBody>
          <a:bodyPr wrap="square" lIns="0" rIns="0" tIns="0" bIns="0" anchor="t">
            <a:spAutoFit/>
          </a:bodyPr>
          <a:lstStyle/>
          <a:p>
            <a:pPr algn="l">
              <a:lnSpc>
                <a:spcPct val="100000"/>
              </a:lnSpc>
              <a:spcAft>
                <a:spcPts val="0"/>
              </a:spcAft>
            </a:pPr>
            <a:r>
              <a:rPr sz="1300" b="1" i="0">
                <a:solidFill>
                  <a:srgbClr val="2D6A4F"/>
                </a:solidFill>
                <a:latin typeface="Calibri"/>
              </a:rPr>
              <a:t>OBJECTIFS</a:t>
            </a:r>
          </a:p>
        </p:txBody>
      </p:sp>
      <p:sp>
        <p:nvSpPr>
          <p:cNvPr id="7" name="TextBox 6"/>
          <p:cNvSpPr txBox="1"/>
          <p:nvPr/>
        </p:nvSpPr>
        <p:spPr>
          <a:xfrm>
            <a:off x="548640" y="1828800"/>
            <a:ext cx="6583680" cy="4114800"/>
          </a:xfrm>
          <a:prstGeom prst="rect">
            <a:avLst/>
          </a:prstGeom>
          <a:noFill/>
        </p:spPr>
        <p:txBody>
          <a:bodyPr wrap="square" lIns="0" rIns="0" tIns="0" bIns="0">
            <a:spAutoFit/>
          </a:bodyPr>
          <a:lstStyle/>
          <a:p>
            <a:pPr algn="l" marL="228600" indent="-228600">
              <a:lnSpc>
                <a:spcPct val="112000"/>
              </a:lnSpc>
              <a:spcAft>
                <a:spcPts val="1300"/>
              </a:spcAft>
              <a:buClr>
                <a:srgbClr val="2D6A4F"/>
              </a:buClr>
              <a:buFont typeface="Arial"/>
              <a:buChar char="•"/>
            </a:pPr>
            <a:r>
              <a:rPr sz="1400">
                <a:solidFill>
                  <a:srgbClr val="1C2B24"/>
                </a:solidFill>
                <a:latin typeface="Calibri"/>
              </a:rPr>
              <a:t>Signaler un dechet en quelques etapes avec photo et localisation GPS precise.</a:t>
            </a:r>
          </a:p>
          <a:p>
            <a:pPr algn="l" marL="228600" indent="-228600">
              <a:lnSpc>
                <a:spcPct val="112000"/>
              </a:lnSpc>
              <a:spcAft>
                <a:spcPts val="1300"/>
              </a:spcAft>
              <a:buClr>
                <a:srgbClr val="2D6A4F"/>
              </a:buClr>
              <a:buFont typeface="Arial"/>
              <a:buChar char="•"/>
            </a:pPr>
            <a:r>
              <a:rPr sz="1400">
                <a:solidFill>
                  <a:srgbClr val="1C2B24"/>
                </a:solidFill>
                <a:latin typeface="Calibri"/>
              </a:rPr>
              <a:t>Offrir aux collecteurs un tableau de bord de missions localisees sur une carte.</a:t>
            </a:r>
          </a:p>
          <a:p>
            <a:pPr algn="l" marL="228600" indent="-228600">
              <a:lnSpc>
                <a:spcPct val="112000"/>
              </a:lnSpc>
              <a:spcAft>
                <a:spcPts val="1300"/>
              </a:spcAft>
              <a:buClr>
                <a:srgbClr val="2D6A4F"/>
              </a:buClr>
              <a:buFont typeface="Arial"/>
              <a:buChar char="•"/>
            </a:pPr>
            <a:r>
              <a:rPr sz="1400">
                <a:solidFill>
                  <a:srgbClr val="1C2B24"/>
                </a:solidFill>
                <a:latin typeface="Calibri"/>
              </a:rPr>
              <a:t>Permettre aux centres de tri de confirmer la reception et la pesee reelle.</a:t>
            </a:r>
          </a:p>
          <a:p>
            <a:pPr algn="l" marL="228600" indent="-228600">
              <a:lnSpc>
                <a:spcPct val="112000"/>
              </a:lnSpc>
              <a:spcAft>
                <a:spcPts val="1300"/>
              </a:spcAft>
              <a:buClr>
                <a:srgbClr val="2D6A4F"/>
              </a:buClr>
              <a:buFont typeface="Arial"/>
              <a:buChar char="•"/>
            </a:pPr>
            <a:r>
              <a:rPr sz="1400">
                <a:solidFill>
                  <a:srgbClr val="1C2B24"/>
                </a:solidFill>
                <a:latin typeface="Calibri"/>
              </a:rPr>
              <a:t>Fournir aux administrateurs une supervision complete des utilisateurs et paiements.</a:t>
            </a:r>
          </a:p>
          <a:p>
            <a:pPr algn="l" marL="228600" indent="-228600">
              <a:lnSpc>
                <a:spcPct val="112000"/>
              </a:lnSpc>
              <a:spcAft>
                <a:spcPts val="1300"/>
              </a:spcAft>
              <a:buClr>
                <a:srgbClr val="2D6A4F"/>
              </a:buClr>
              <a:buFont typeface="Arial"/>
              <a:buChar char="•"/>
            </a:pPr>
            <a:r>
              <a:rPr sz="1400">
                <a:solidFill>
                  <a:srgbClr val="1C2B24"/>
                </a:solidFill>
                <a:latin typeface="Calibri"/>
              </a:rPr>
              <a:t>Inciter economiquement la collecte via des points ecologiques convertibles.</a:t>
            </a:r>
          </a:p>
        </p:txBody>
      </p:sp>
      <p:sp>
        <p:nvSpPr>
          <p:cNvPr id="8" name="Rounded Rectangle 7"/>
          <p:cNvSpPr/>
          <p:nvPr/>
        </p:nvSpPr>
        <p:spPr>
          <a:xfrm>
            <a:off x="7406640" y="1508760"/>
            <a:ext cx="4206240" cy="4434840"/>
          </a:xfrm>
          <a:prstGeom prst="roundRect">
            <a:avLst>
              <a:gd name="adj" fmla="val 6000"/>
            </a:avLst>
          </a:prstGeom>
          <a:solidFill>
            <a:srgbClr val="1B4332"/>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26679" y="1783080"/>
            <a:ext cx="685800" cy="685800"/>
          </a:xfrm>
          <a:prstGeom prst="ellipse">
            <a:avLst/>
          </a:prstGeom>
          <a:solidFill>
            <a:srgbClr val="74C6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79" y="1783080"/>
            <a:ext cx="685800" cy="685800"/>
          </a:xfrm>
          <a:prstGeom prst="rect">
            <a:avLst/>
          </a:prstGeom>
          <a:noFill/>
        </p:spPr>
        <p:txBody>
          <a:bodyPr wrap="none" lIns="0" rIns="0" tIns="0" bIns="0" anchor="ctr">
            <a:spAutoFit/>
          </a:bodyPr>
          <a:lstStyle/>
          <a:p>
            <a:pPr algn="ctr"/>
            <a:r>
              <a:rPr sz="2600">
                <a:latin typeface="Segoe UI Emoji"/>
              </a:rPr>
              <a:t>🍃</a:t>
            </a:r>
          </a:p>
        </p:txBody>
      </p:sp>
      <p:sp>
        <p:nvSpPr>
          <p:cNvPr id="11" name="TextBox 10"/>
          <p:cNvSpPr txBox="1"/>
          <p:nvPr/>
        </p:nvSpPr>
        <p:spPr>
          <a:xfrm>
            <a:off x="8549640" y="1901952"/>
            <a:ext cx="2743200" cy="274320"/>
          </a:xfrm>
          <a:prstGeom prst="rect">
            <a:avLst/>
          </a:prstGeom>
          <a:noFill/>
        </p:spPr>
        <p:txBody>
          <a:bodyPr wrap="square" lIns="0" rIns="0" tIns="0" bIns="0" anchor="t">
            <a:spAutoFit/>
          </a:bodyPr>
          <a:lstStyle/>
          <a:p>
            <a:pPr algn="l">
              <a:lnSpc>
                <a:spcPct val="100000"/>
              </a:lnSpc>
              <a:spcAft>
                <a:spcPts val="0"/>
              </a:spcAft>
            </a:pPr>
            <a:r>
              <a:rPr sz="1300" b="1" i="0">
                <a:solidFill>
                  <a:srgbClr val="74C69D"/>
                </a:solidFill>
                <a:latin typeface="Calibri"/>
              </a:rPr>
              <a:t>VISION</a:t>
            </a:r>
          </a:p>
        </p:txBody>
      </p:sp>
      <p:sp>
        <p:nvSpPr>
          <p:cNvPr id="12" name="TextBox 11"/>
          <p:cNvSpPr txBox="1"/>
          <p:nvPr/>
        </p:nvSpPr>
        <p:spPr>
          <a:xfrm>
            <a:off x="7726679" y="2331720"/>
            <a:ext cx="3657600" cy="822960"/>
          </a:xfrm>
          <a:prstGeom prst="rect">
            <a:avLst/>
          </a:prstGeom>
          <a:noFill/>
        </p:spPr>
        <p:txBody>
          <a:bodyPr wrap="square" lIns="0" rIns="0" tIns="0" bIns="0" anchor="t">
            <a:spAutoFit/>
          </a:bodyPr>
          <a:lstStyle/>
          <a:p>
            <a:pPr algn="l">
              <a:lnSpc>
                <a:spcPct val="110000"/>
              </a:lnSpc>
              <a:spcAft>
                <a:spcPts val="0"/>
              </a:spcAft>
            </a:pPr>
            <a:r>
              <a:rPr sz="2000" b="1" i="1">
                <a:solidFill>
                  <a:srgbClr val="FFFFFF"/>
                </a:solidFill>
                <a:latin typeface="Cambria"/>
              </a:rPr>
              <a:t>«  Collect · Recover · Preserve  »</a:t>
            </a:r>
          </a:p>
        </p:txBody>
      </p:sp>
      <p:sp>
        <p:nvSpPr>
          <p:cNvPr id="13" name="TextBox 12"/>
          <p:cNvSpPr txBox="1"/>
          <p:nvPr/>
        </p:nvSpPr>
        <p:spPr>
          <a:xfrm>
            <a:off x="7726679" y="3246120"/>
            <a:ext cx="3611880" cy="2468880"/>
          </a:xfrm>
          <a:prstGeom prst="rect">
            <a:avLst/>
          </a:prstGeom>
          <a:noFill/>
        </p:spPr>
        <p:txBody>
          <a:bodyPr wrap="square" lIns="0" rIns="0" tIns="0" bIns="0" anchor="t">
            <a:spAutoFit/>
          </a:bodyPr>
          <a:lstStyle/>
          <a:p>
            <a:pPr algn="l">
              <a:lnSpc>
                <a:spcPct val="125000"/>
              </a:lnSpc>
              <a:spcAft>
                <a:spcPts val="0"/>
              </a:spcAft>
            </a:pPr>
            <a:r>
              <a:rPr sz="1300" b="0" i="0">
                <a:solidFill>
                  <a:srgbClr val="FFFFFF"/>
                </a:solidFill>
                <a:latin typeface="Calibri"/>
              </a:rPr>
              <a:t>Collecter les dechets la ou ils se trouvent grace a la participation citoyenne, valoriser les matieres recuperables au sein de centres de tri partenaires, et preserver ainsi l'environnement urbain et la sante publique.</a:t>
            </a:r>
          </a:p>
        </p:txBody>
      </p:sp>
      <p:sp>
        <p:nvSpPr>
          <p:cNvPr id="14" name="TextBox 13"/>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15" name="TextBox 14"/>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2 — CAHIER DES CHARGES</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Quatre acteurs, quatre roles applicatifs</a:t>
            </a:r>
          </a:p>
        </p:txBody>
      </p:sp>
      <p:sp>
        <p:nvSpPr>
          <p:cNvPr id="6" name="Rounded Rectangle 5"/>
          <p:cNvSpPr/>
          <p:nvPr/>
        </p:nvSpPr>
        <p:spPr>
          <a:xfrm>
            <a:off x="548640" y="1600200"/>
            <a:ext cx="2606040" cy="443484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856232"/>
            <a:ext cx="777240" cy="77724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56232"/>
            <a:ext cx="777240" cy="777240"/>
          </a:xfrm>
          <a:prstGeom prst="rect">
            <a:avLst/>
          </a:prstGeom>
          <a:noFill/>
        </p:spPr>
        <p:txBody>
          <a:bodyPr wrap="none" lIns="0" rIns="0" tIns="0" bIns="0" anchor="ctr">
            <a:spAutoFit/>
          </a:bodyPr>
          <a:lstStyle/>
          <a:p>
            <a:pPr algn="ctr"/>
            <a:r>
              <a:rPr sz="2800">
                <a:latin typeface="Segoe UI Emoji"/>
              </a:rPr>
              <a:t>👤</a:t>
            </a:r>
          </a:p>
        </p:txBody>
      </p:sp>
      <p:sp>
        <p:nvSpPr>
          <p:cNvPr id="9" name="TextBox 8"/>
          <p:cNvSpPr txBox="1"/>
          <p:nvPr/>
        </p:nvSpPr>
        <p:spPr>
          <a:xfrm>
            <a:off x="731520" y="2770632"/>
            <a:ext cx="2240280" cy="365760"/>
          </a:xfrm>
          <a:prstGeom prst="rect">
            <a:avLst/>
          </a:prstGeom>
          <a:noFill/>
        </p:spPr>
        <p:txBody>
          <a:bodyPr wrap="square" lIns="0" rIns="0" tIns="0" bIns="0" anchor="t">
            <a:spAutoFit/>
          </a:bodyPr>
          <a:lstStyle/>
          <a:p>
            <a:pPr algn="l">
              <a:lnSpc>
                <a:spcPct val="100000"/>
              </a:lnSpc>
              <a:spcAft>
                <a:spcPts val="0"/>
              </a:spcAft>
            </a:pPr>
            <a:r>
              <a:rPr sz="1700" b="1" i="0">
                <a:solidFill>
                  <a:srgbClr val="1B4332"/>
                </a:solidFill>
                <a:latin typeface="Cambria"/>
              </a:rPr>
              <a:t>Generateur</a:t>
            </a:r>
          </a:p>
        </p:txBody>
      </p:sp>
      <p:sp>
        <p:nvSpPr>
          <p:cNvPr id="10" name="TextBox 9"/>
          <p:cNvSpPr txBox="1"/>
          <p:nvPr/>
        </p:nvSpPr>
        <p:spPr>
          <a:xfrm>
            <a:off x="731520" y="3136392"/>
            <a:ext cx="2240280" cy="274320"/>
          </a:xfrm>
          <a:prstGeom prst="rect">
            <a:avLst/>
          </a:prstGeom>
          <a:noFill/>
        </p:spPr>
        <p:txBody>
          <a:bodyPr wrap="square" lIns="0" rIns="0" tIns="0" bIns="0" anchor="t">
            <a:spAutoFit/>
          </a:bodyPr>
          <a:lstStyle/>
          <a:p>
            <a:pPr algn="l">
              <a:lnSpc>
                <a:spcPct val="100000"/>
              </a:lnSpc>
              <a:spcAft>
                <a:spcPts val="0"/>
              </a:spcAft>
            </a:pPr>
            <a:r>
              <a:rPr sz="1050" b="1" i="0">
                <a:solidFill>
                  <a:srgbClr val="FFB703"/>
                </a:solidFill>
                <a:latin typeface="Calibri"/>
              </a:rPr>
              <a:t>role : generator</a:t>
            </a:r>
          </a:p>
        </p:txBody>
      </p:sp>
      <p:sp>
        <p:nvSpPr>
          <p:cNvPr id="11" name="TextBox 10"/>
          <p:cNvSpPr txBox="1"/>
          <p:nvPr/>
        </p:nvSpPr>
        <p:spPr>
          <a:xfrm>
            <a:off x="731520" y="3502152"/>
            <a:ext cx="2240280" cy="2377440"/>
          </a:xfrm>
          <a:prstGeom prst="rect">
            <a:avLst/>
          </a:prstGeom>
          <a:noFill/>
        </p:spPr>
        <p:txBody>
          <a:bodyPr wrap="square" lIns="0" rIns="0" tIns="0" bIns="0" anchor="t">
            <a:spAutoFit/>
          </a:bodyPr>
          <a:lstStyle/>
          <a:p>
            <a:pPr algn="l">
              <a:lnSpc>
                <a:spcPct val="122000"/>
              </a:lnSpc>
              <a:spcAft>
                <a:spcPts val="0"/>
              </a:spcAft>
            </a:pPr>
            <a:r>
              <a:rPr sz="1200" b="0" i="0">
                <a:solidFill>
                  <a:srgbClr val="1C2B24"/>
                </a:solidFill>
                <a:latin typeface="Calibri"/>
              </a:rPr>
              <a:t>Signale un dechet avec photo et localisation ; suit son statut ; contacte le collecteur.</a:t>
            </a:r>
          </a:p>
        </p:txBody>
      </p:sp>
      <p:sp>
        <p:nvSpPr>
          <p:cNvPr id="12" name="Rounded Rectangle 11"/>
          <p:cNvSpPr/>
          <p:nvPr/>
        </p:nvSpPr>
        <p:spPr>
          <a:xfrm>
            <a:off x="3319272" y="1600200"/>
            <a:ext cx="2606040" cy="443484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02152" y="1856232"/>
            <a:ext cx="777240" cy="77724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856232"/>
            <a:ext cx="777240" cy="777240"/>
          </a:xfrm>
          <a:prstGeom prst="rect">
            <a:avLst/>
          </a:prstGeom>
          <a:noFill/>
        </p:spPr>
        <p:txBody>
          <a:bodyPr wrap="none" lIns="0" rIns="0" tIns="0" bIns="0" anchor="ctr">
            <a:spAutoFit/>
          </a:bodyPr>
          <a:lstStyle/>
          <a:p>
            <a:pPr algn="ctr"/>
            <a:r>
              <a:rPr sz="2800">
                <a:latin typeface="Segoe UI Emoji"/>
              </a:rPr>
              <a:t>🚚</a:t>
            </a:r>
          </a:p>
        </p:txBody>
      </p:sp>
      <p:sp>
        <p:nvSpPr>
          <p:cNvPr id="15" name="TextBox 14"/>
          <p:cNvSpPr txBox="1"/>
          <p:nvPr/>
        </p:nvSpPr>
        <p:spPr>
          <a:xfrm>
            <a:off x="3502152" y="2770632"/>
            <a:ext cx="2240280" cy="365760"/>
          </a:xfrm>
          <a:prstGeom prst="rect">
            <a:avLst/>
          </a:prstGeom>
          <a:noFill/>
        </p:spPr>
        <p:txBody>
          <a:bodyPr wrap="square" lIns="0" rIns="0" tIns="0" bIns="0" anchor="t">
            <a:spAutoFit/>
          </a:bodyPr>
          <a:lstStyle/>
          <a:p>
            <a:pPr algn="l">
              <a:lnSpc>
                <a:spcPct val="100000"/>
              </a:lnSpc>
              <a:spcAft>
                <a:spcPts val="0"/>
              </a:spcAft>
            </a:pPr>
            <a:r>
              <a:rPr sz="1700" b="1" i="0">
                <a:solidFill>
                  <a:srgbClr val="1B4332"/>
                </a:solidFill>
                <a:latin typeface="Cambria"/>
              </a:rPr>
              <a:t>Collecteur</a:t>
            </a:r>
          </a:p>
        </p:txBody>
      </p:sp>
      <p:sp>
        <p:nvSpPr>
          <p:cNvPr id="16" name="TextBox 15"/>
          <p:cNvSpPr txBox="1"/>
          <p:nvPr/>
        </p:nvSpPr>
        <p:spPr>
          <a:xfrm>
            <a:off x="3502152" y="3136392"/>
            <a:ext cx="2240280" cy="274320"/>
          </a:xfrm>
          <a:prstGeom prst="rect">
            <a:avLst/>
          </a:prstGeom>
          <a:noFill/>
        </p:spPr>
        <p:txBody>
          <a:bodyPr wrap="square" lIns="0" rIns="0" tIns="0" bIns="0" anchor="t">
            <a:spAutoFit/>
          </a:bodyPr>
          <a:lstStyle/>
          <a:p>
            <a:pPr algn="l">
              <a:lnSpc>
                <a:spcPct val="100000"/>
              </a:lnSpc>
              <a:spcAft>
                <a:spcPts val="0"/>
              </a:spcAft>
            </a:pPr>
            <a:r>
              <a:rPr sz="1050" b="1" i="0">
                <a:solidFill>
                  <a:srgbClr val="FFB703"/>
                </a:solidFill>
                <a:latin typeface="Calibri"/>
              </a:rPr>
              <a:t>role : collector</a:t>
            </a:r>
          </a:p>
        </p:txBody>
      </p:sp>
      <p:sp>
        <p:nvSpPr>
          <p:cNvPr id="17" name="TextBox 16"/>
          <p:cNvSpPr txBox="1"/>
          <p:nvPr/>
        </p:nvSpPr>
        <p:spPr>
          <a:xfrm>
            <a:off x="3502152" y="3502152"/>
            <a:ext cx="2240280" cy="2377440"/>
          </a:xfrm>
          <a:prstGeom prst="rect">
            <a:avLst/>
          </a:prstGeom>
          <a:noFill/>
        </p:spPr>
        <p:txBody>
          <a:bodyPr wrap="square" lIns="0" rIns="0" tIns="0" bIns="0" anchor="t">
            <a:spAutoFit/>
          </a:bodyPr>
          <a:lstStyle/>
          <a:p>
            <a:pPr algn="l">
              <a:lnSpc>
                <a:spcPct val="122000"/>
              </a:lnSpc>
              <a:spcAft>
                <a:spcPts val="0"/>
              </a:spcAft>
            </a:pPr>
            <a:r>
              <a:rPr sz="1200" b="0" i="0">
                <a:solidFill>
                  <a:srgbClr val="1C2B24"/>
                </a:solidFill>
                <a:latin typeface="Calibri"/>
              </a:rPr>
              <a:t>Consulte les missions sur la carte ; accepte, collecte et livre ; suit sa remuneration.</a:t>
            </a:r>
          </a:p>
        </p:txBody>
      </p:sp>
      <p:sp>
        <p:nvSpPr>
          <p:cNvPr id="18" name="Rounded Rectangle 17"/>
          <p:cNvSpPr/>
          <p:nvPr/>
        </p:nvSpPr>
        <p:spPr>
          <a:xfrm>
            <a:off x="6089904" y="1600200"/>
            <a:ext cx="2606040" cy="443484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72784" y="1856232"/>
            <a:ext cx="777240" cy="77724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2784" y="1856232"/>
            <a:ext cx="777240" cy="777240"/>
          </a:xfrm>
          <a:prstGeom prst="rect">
            <a:avLst/>
          </a:prstGeom>
          <a:noFill/>
        </p:spPr>
        <p:txBody>
          <a:bodyPr wrap="none" lIns="0" rIns="0" tIns="0" bIns="0" anchor="ctr">
            <a:spAutoFit/>
          </a:bodyPr>
          <a:lstStyle/>
          <a:p>
            <a:pPr algn="ctr"/>
            <a:r>
              <a:rPr sz="2800">
                <a:latin typeface="Segoe UI Emoji"/>
              </a:rPr>
              <a:t>🏭</a:t>
            </a:r>
          </a:p>
        </p:txBody>
      </p:sp>
      <p:sp>
        <p:nvSpPr>
          <p:cNvPr id="21" name="TextBox 20"/>
          <p:cNvSpPr txBox="1"/>
          <p:nvPr/>
        </p:nvSpPr>
        <p:spPr>
          <a:xfrm>
            <a:off x="6272784" y="2770632"/>
            <a:ext cx="2240280" cy="365760"/>
          </a:xfrm>
          <a:prstGeom prst="rect">
            <a:avLst/>
          </a:prstGeom>
          <a:noFill/>
        </p:spPr>
        <p:txBody>
          <a:bodyPr wrap="square" lIns="0" rIns="0" tIns="0" bIns="0" anchor="t">
            <a:spAutoFit/>
          </a:bodyPr>
          <a:lstStyle/>
          <a:p>
            <a:pPr algn="l">
              <a:lnSpc>
                <a:spcPct val="100000"/>
              </a:lnSpc>
              <a:spcAft>
                <a:spcPts val="0"/>
              </a:spcAft>
            </a:pPr>
            <a:r>
              <a:rPr sz="1700" b="1" i="0">
                <a:solidFill>
                  <a:srgbClr val="1B4332"/>
                </a:solidFill>
                <a:latin typeface="Cambria"/>
              </a:rPr>
              <a:t>Centre de tri</a:t>
            </a:r>
          </a:p>
        </p:txBody>
      </p:sp>
      <p:sp>
        <p:nvSpPr>
          <p:cNvPr id="22" name="TextBox 21"/>
          <p:cNvSpPr txBox="1"/>
          <p:nvPr/>
        </p:nvSpPr>
        <p:spPr>
          <a:xfrm>
            <a:off x="6272784" y="3136392"/>
            <a:ext cx="2240280" cy="274320"/>
          </a:xfrm>
          <a:prstGeom prst="rect">
            <a:avLst/>
          </a:prstGeom>
          <a:noFill/>
        </p:spPr>
        <p:txBody>
          <a:bodyPr wrap="square" lIns="0" rIns="0" tIns="0" bIns="0" anchor="t">
            <a:spAutoFit/>
          </a:bodyPr>
          <a:lstStyle/>
          <a:p>
            <a:pPr algn="l">
              <a:lnSpc>
                <a:spcPct val="100000"/>
              </a:lnSpc>
              <a:spcAft>
                <a:spcPts val="0"/>
              </a:spcAft>
            </a:pPr>
            <a:r>
              <a:rPr sz="1050" b="1" i="0">
                <a:solidFill>
                  <a:srgbClr val="FFB703"/>
                </a:solidFill>
                <a:latin typeface="Calibri"/>
              </a:rPr>
              <a:t>role : center</a:t>
            </a:r>
          </a:p>
        </p:txBody>
      </p:sp>
      <p:sp>
        <p:nvSpPr>
          <p:cNvPr id="23" name="TextBox 22"/>
          <p:cNvSpPr txBox="1"/>
          <p:nvPr/>
        </p:nvSpPr>
        <p:spPr>
          <a:xfrm>
            <a:off x="6272784" y="3502152"/>
            <a:ext cx="2240280" cy="2377440"/>
          </a:xfrm>
          <a:prstGeom prst="rect">
            <a:avLst/>
          </a:prstGeom>
          <a:noFill/>
        </p:spPr>
        <p:txBody>
          <a:bodyPr wrap="square" lIns="0" rIns="0" tIns="0" bIns="0" anchor="t">
            <a:spAutoFit/>
          </a:bodyPr>
          <a:lstStyle/>
          <a:p>
            <a:pPr algn="l">
              <a:lnSpc>
                <a:spcPct val="122000"/>
              </a:lnSpc>
              <a:spcAft>
                <a:spcPts val="0"/>
              </a:spcAft>
            </a:pPr>
            <a:r>
              <a:rPr sz="1200" b="0" i="0">
                <a:solidFill>
                  <a:srgbClr val="1C2B24"/>
                </a:solidFill>
                <a:latin typeface="Calibri"/>
              </a:rPr>
              <a:t>Recoit les livraisons ; confirme la reception, saisit le poids reel et credite les points.</a:t>
            </a:r>
          </a:p>
        </p:txBody>
      </p:sp>
      <p:sp>
        <p:nvSpPr>
          <p:cNvPr id="24" name="Rounded Rectangle 23"/>
          <p:cNvSpPr/>
          <p:nvPr/>
        </p:nvSpPr>
        <p:spPr>
          <a:xfrm>
            <a:off x="8860536" y="1600200"/>
            <a:ext cx="2606040" cy="443484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043416" y="1856232"/>
            <a:ext cx="777240" cy="77724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43416" y="1856232"/>
            <a:ext cx="777240" cy="777240"/>
          </a:xfrm>
          <a:prstGeom prst="rect">
            <a:avLst/>
          </a:prstGeom>
          <a:noFill/>
        </p:spPr>
        <p:txBody>
          <a:bodyPr wrap="none" lIns="0" rIns="0" tIns="0" bIns="0" anchor="ctr">
            <a:spAutoFit/>
          </a:bodyPr>
          <a:lstStyle/>
          <a:p>
            <a:pPr algn="ctr"/>
            <a:r>
              <a:rPr sz="2800">
                <a:latin typeface="Segoe UI Emoji"/>
              </a:rPr>
              <a:t>⚙️</a:t>
            </a:r>
          </a:p>
        </p:txBody>
      </p:sp>
      <p:sp>
        <p:nvSpPr>
          <p:cNvPr id="27" name="TextBox 26"/>
          <p:cNvSpPr txBox="1"/>
          <p:nvPr/>
        </p:nvSpPr>
        <p:spPr>
          <a:xfrm>
            <a:off x="9043416" y="2770632"/>
            <a:ext cx="2240280" cy="365760"/>
          </a:xfrm>
          <a:prstGeom prst="rect">
            <a:avLst/>
          </a:prstGeom>
          <a:noFill/>
        </p:spPr>
        <p:txBody>
          <a:bodyPr wrap="square" lIns="0" rIns="0" tIns="0" bIns="0" anchor="t">
            <a:spAutoFit/>
          </a:bodyPr>
          <a:lstStyle/>
          <a:p>
            <a:pPr algn="l">
              <a:lnSpc>
                <a:spcPct val="100000"/>
              </a:lnSpc>
              <a:spcAft>
                <a:spcPts val="0"/>
              </a:spcAft>
            </a:pPr>
            <a:r>
              <a:rPr sz="1700" b="1" i="0">
                <a:solidFill>
                  <a:srgbClr val="1B4332"/>
                </a:solidFill>
                <a:latin typeface="Cambria"/>
              </a:rPr>
              <a:t>Administrateur</a:t>
            </a:r>
          </a:p>
        </p:txBody>
      </p:sp>
      <p:sp>
        <p:nvSpPr>
          <p:cNvPr id="28" name="TextBox 27"/>
          <p:cNvSpPr txBox="1"/>
          <p:nvPr/>
        </p:nvSpPr>
        <p:spPr>
          <a:xfrm>
            <a:off x="9043416" y="3136392"/>
            <a:ext cx="2240280" cy="274320"/>
          </a:xfrm>
          <a:prstGeom prst="rect">
            <a:avLst/>
          </a:prstGeom>
          <a:noFill/>
        </p:spPr>
        <p:txBody>
          <a:bodyPr wrap="square" lIns="0" rIns="0" tIns="0" bIns="0" anchor="t">
            <a:spAutoFit/>
          </a:bodyPr>
          <a:lstStyle/>
          <a:p>
            <a:pPr algn="l">
              <a:lnSpc>
                <a:spcPct val="100000"/>
              </a:lnSpc>
              <a:spcAft>
                <a:spcPts val="0"/>
              </a:spcAft>
            </a:pPr>
            <a:r>
              <a:rPr sz="1050" b="1" i="0">
                <a:solidFill>
                  <a:srgbClr val="FFB703"/>
                </a:solidFill>
                <a:latin typeface="Calibri"/>
              </a:rPr>
              <a:t>role : admin</a:t>
            </a:r>
          </a:p>
        </p:txBody>
      </p:sp>
      <p:sp>
        <p:nvSpPr>
          <p:cNvPr id="29" name="TextBox 28"/>
          <p:cNvSpPr txBox="1"/>
          <p:nvPr/>
        </p:nvSpPr>
        <p:spPr>
          <a:xfrm>
            <a:off x="9043416" y="3502152"/>
            <a:ext cx="2240280" cy="2377440"/>
          </a:xfrm>
          <a:prstGeom prst="rect">
            <a:avLst/>
          </a:prstGeom>
          <a:noFill/>
        </p:spPr>
        <p:txBody>
          <a:bodyPr wrap="square" lIns="0" rIns="0" tIns="0" bIns="0" anchor="t">
            <a:spAutoFit/>
          </a:bodyPr>
          <a:lstStyle/>
          <a:p>
            <a:pPr algn="l">
              <a:lnSpc>
                <a:spcPct val="122000"/>
              </a:lnSpc>
              <a:spcAft>
                <a:spcPts val="0"/>
              </a:spcAft>
            </a:pPr>
            <a:r>
              <a:rPr sz="1200" b="0" i="0">
                <a:solidFill>
                  <a:srgbClr val="1C2B24"/>
                </a:solidFill>
                <a:latin typeface="Calibri"/>
              </a:rPr>
              <a:t>Supervise utilisateurs et signalements ; valide ou rejette les demandes de retrait.</a:t>
            </a:r>
          </a:p>
        </p:txBody>
      </p:sp>
      <p:sp>
        <p:nvSpPr>
          <p:cNvPr id="30" name="TextBox 29"/>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31" name="TextBox 30"/>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2 — SPECIFICATIONS FONCTIONNELLES</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Le cycle de vie complet d'un signalement</a:t>
            </a:r>
          </a:p>
        </p:txBody>
      </p:sp>
      <p:sp>
        <p:nvSpPr>
          <p:cNvPr id="6" name="Rounded Rectangle 5"/>
          <p:cNvSpPr/>
          <p:nvPr/>
        </p:nvSpPr>
        <p:spPr>
          <a:xfrm>
            <a:off x="548640" y="1554480"/>
            <a:ext cx="2615184"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5564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55648"/>
            <a:ext cx="502920" cy="502920"/>
          </a:xfrm>
          <a:prstGeom prst="rect">
            <a:avLst/>
          </a:prstGeom>
          <a:noFill/>
        </p:spPr>
        <p:txBody>
          <a:bodyPr wrap="none" lIns="0" rIns="0" tIns="0" bIns="0" anchor="ctr">
            <a:spAutoFit/>
          </a:bodyPr>
          <a:lstStyle/>
          <a:p>
            <a:pPr algn="ctr"/>
            <a:r>
              <a:rPr sz="1800">
                <a:latin typeface="Segoe UI Emoji"/>
              </a:rPr>
              <a:t>🔐</a:t>
            </a:r>
          </a:p>
        </p:txBody>
      </p:sp>
      <p:sp>
        <p:nvSpPr>
          <p:cNvPr id="9" name="TextBox 8"/>
          <p:cNvSpPr txBox="1"/>
          <p:nvPr/>
        </p:nvSpPr>
        <p:spPr>
          <a:xfrm>
            <a:off x="749808" y="2395728"/>
            <a:ext cx="2212848" cy="502920"/>
          </a:xfrm>
          <a:prstGeom prst="rect">
            <a:avLst/>
          </a:prstGeom>
          <a:noFill/>
        </p:spPr>
        <p:txBody>
          <a:bodyPr wrap="square" lIns="0" rIns="0" tIns="0" bIns="0" anchor="t">
            <a:spAutoFit/>
          </a:bodyPr>
          <a:lstStyle/>
          <a:p>
            <a:pPr algn="l">
              <a:lnSpc>
                <a:spcPct val="105000"/>
              </a:lnSpc>
              <a:spcAft>
                <a:spcPts val="0"/>
              </a:spcAft>
            </a:pPr>
            <a:r>
              <a:rPr sz="1250" b="1" i="0">
                <a:solidFill>
                  <a:srgbClr val="1B4332"/>
                </a:solidFill>
                <a:latin typeface="Cambria"/>
              </a:rPr>
              <a:t>Authentification multi-canal</a:t>
            </a:r>
          </a:p>
        </p:txBody>
      </p:sp>
      <p:sp>
        <p:nvSpPr>
          <p:cNvPr id="10" name="TextBox 9"/>
          <p:cNvSpPr txBox="1"/>
          <p:nvPr/>
        </p:nvSpPr>
        <p:spPr>
          <a:xfrm>
            <a:off x="749808" y="2852928"/>
            <a:ext cx="2212848" cy="621792"/>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Email/mot de passe, Google OAuth ou OTP telephonique.</a:t>
            </a:r>
          </a:p>
        </p:txBody>
      </p:sp>
      <p:sp>
        <p:nvSpPr>
          <p:cNvPr id="11" name="Rounded Rectangle 10"/>
          <p:cNvSpPr/>
          <p:nvPr/>
        </p:nvSpPr>
        <p:spPr>
          <a:xfrm>
            <a:off x="3328416" y="1554480"/>
            <a:ext cx="2615184"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29584" y="175564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9584" y="1755648"/>
            <a:ext cx="502920" cy="502920"/>
          </a:xfrm>
          <a:prstGeom prst="rect">
            <a:avLst/>
          </a:prstGeom>
          <a:noFill/>
        </p:spPr>
        <p:txBody>
          <a:bodyPr wrap="none" lIns="0" rIns="0" tIns="0" bIns="0" anchor="ctr">
            <a:spAutoFit/>
          </a:bodyPr>
          <a:lstStyle/>
          <a:p>
            <a:pPr algn="ctr"/>
            <a:r>
              <a:rPr sz="1800">
                <a:latin typeface="Segoe UI Emoji"/>
              </a:rPr>
              <a:t>📍</a:t>
            </a:r>
          </a:p>
        </p:txBody>
      </p:sp>
      <p:sp>
        <p:nvSpPr>
          <p:cNvPr id="14" name="TextBox 13"/>
          <p:cNvSpPr txBox="1"/>
          <p:nvPr/>
        </p:nvSpPr>
        <p:spPr>
          <a:xfrm>
            <a:off x="3529584" y="2395728"/>
            <a:ext cx="2212848" cy="502920"/>
          </a:xfrm>
          <a:prstGeom prst="rect">
            <a:avLst/>
          </a:prstGeom>
          <a:noFill/>
        </p:spPr>
        <p:txBody>
          <a:bodyPr wrap="square" lIns="0" rIns="0" tIns="0" bIns="0" anchor="t">
            <a:spAutoFit/>
          </a:bodyPr>
          <a:lstStyle/>
          <a:p>
            <a:pPr algn="l">
              <a:lnSpc>
                <a:spcPct val="105000"/>
              </a:lnSpc>
              <a:spcAft>
                <a:spcPts val="0"/>
              </a:spcAft>
            </a:pPr>
            <a:r>
              <a:rPr sz="1250" b="1" i="0">
                <a:solidFill>
                  <a:srgbClr val="1B4332"/>
                </a:solidFill>
                <a:latin typeface="Cambria"/>
              </a:rPr>
              <a:t>Signalement geolocalise</a:t>
            </a:r>
          </a:p>
        </p:txBody>
      </p:sp>
      <p:sp>
        <p:nvSpPr>
          <p:cNvPr id="15" name="TextBox 14"/>
          <p:cNvSpPr txBox="1"/>
          <p:nvPr/>
        </p:nvSpPr>
        <p:spPr>
          <a:xfrm>
            <a:off x="3529584" y="2852928"/>
            <a:ext cx="2212848" cy="621792"/>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Type, quantite, adresse, creneau + capture GPS automatique.</a:t>
            </a:r>
          </a:p>
        </p:txBody>
      </p:sp>
      <p:sp>
        <p:nvSpPr>
          <p:cNvPr id="16" name="Rounded Rectangle 15"/>
          <p:cNvSpPr/>
          <p:nvPr/>
        </p:nvSpPr>
        <p:spPr>
          <a:xfrm>
            <a:off x="6108192" y="1554480"/>
            <a:ext cx="2615184"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09360" y="175564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755648"/>
            <a:ext cx="502920" cy="502920"/>
          </a:xfrm>
          <a:prstGeom prst="rect">
            <a:avLst/>
          </a:prstGeom>
          <a:noFill/>
        </p:spPr>
        <p:txBody>
          <a:bodyPr wrap="none" lIns="0" rIns="0" tIns="0" bIns="0" anchor="ctr">
            <a:spAutoFit/>
          </a:bodyPr>
          <a:lstStyle/>
          <a:p>
            <a:pPr algn="ctr"/>
            <a:r>
              <a:rPr sz="1800">
                <a:latin typeface="Segoe UI Emoji"/>
              </a:rPr>
              <a:t>📷</a:t>
            </a:r>
          </a:p>
        </p:txBody>
      </p:sp>
      <p:sp>
        <p:nvSpPr>
          <p:cNvPr id="19" name="TextBox 18"/>
          <p:cNvSpPr txBox="1"/>
          <p:nvPr/>
        </p:nvSpPr>
        <p:spPr>
          <a:xfrm>
            <a:off x="6309360" y="2395728"/>
            <a:ext cx="2212848" cy="502920"/>
          </a:xfrm>
          <a:prstGeom prst="rect">
            <a:avLst/>
          </a:prstGeom>
          <a:noFill/>
        </p:spPr>
        <p:txBody>
          <a:bodyPr wrap="square" lIns="0" rIns="0" tIns="0" bIns="0" anchor="t">
            <a:spAutoFit/>
          </a:bodyPr>
          <a:lstStyle/>
          <a:p>
            <a:pPr algn="l">
              <a:lnSpc>
                <a:spcPct val="105000"/>
              </a:lnSpc>
              <a:spcAft>
                <a:spcPts val="0"/>
              </a:spcAft>
            </a:pPr>
            <a:r>
              <a:rPr sz="1250" b="1" i="0">
                <a:solidFill>
                  <a:srgbClr val="1B4332"/>
                </a:solidFill>
                <a:latin typeface="Cambria"/>
              </a:rPr>
              <a:t>Photos jointes</a:t>
            </a:r>
          </a:p>
        </p:txBody>
      </p:sp>
      <p:sp>
        <p:nvSpPr>
          <p:cNvPr id="20" name="TextBox 19"/>
          <p:cNvSpPr txBox="1"/>
          <p:nvPr/>
        </p:nvSpPr>
        <p:spPr>
          <a:xfrm>
            <a:off x="6309360" y="2852928"/>
            <a:ext cx="2212848" cy="621792"/>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Prise ou selection de photo hebergee sur Supabase Storage.</a:t>
            </a:r>
          </a:p>
        </p:txBody>
      </p:sp>
      <p:sp>
        <p:nvSpPr>
          <p:cNvPr id="21" name="Rounded Rectangle 20"/>
          <p:cNvSpPr/>
          <p:nvPr/>
        </p:nvSpPr>
        <p:spPr>
          <a:xfrm>
            <a:off x="8887968" y="1554480"/>
            <a:ext cx="2615184"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089136" y="175564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89136" y="1755648"/>
            <a:ext cx="502920" cy="502920"/>
          </a:xfrm>
          <a:prstGeom prst="rect">
            <a:avLst/>
          </a:prstGeom>
          <a:noFill/>
        </p:spPr>
        <p:txBody>
          <a:bodyPr wrap="none" lIns="0" rIns="0" tIns="0" bIns="0" anchor="ctr">
            <a:spAutoFit/>
          </a:bodyPr>
          <a:lstStyle/>
          <a:p>
            <a:pPr algn="ctr"/>
            <a:r>
              <a:rPr sz="1800">
                <a:latin typeface="Segoe UI Emoji"/>
              </a:rPr>
              <a:t>🗺️</a:t>
            </a:r>
          </a:p>
        </p:txBody>
      </p:sp>
      <p:sp>
        <p:nvSpPr>
          <p:cNvPr id="24" name="TextBox 23"/>
          <p:cNvSpPr txBox="1"/>
          <p:nvPr/>
        </p:nvSpPr>
        <p:spPr>
          <a:xfrm>
            <a:off x="9089136" y="2395728"/>
            <a:ext cx="2212848" cy="502920"/>
          </a:xfrm>
          <a:prstGeom prst="rect">
            <a:avLst/>
          </a:prstGeom>
          <a:noFill/>
        </p:spPr>
        <p:txBody>
          <a:bodyPr wrap="square" lIns="0" rIns="0" tIns="0" bIns="0" anchor="t">
            <a:spAutoFit/>
          </a:bodyPr>
          <a:lstStyle/>
          <a:p>
            <a:pPr algn="l">
              <a:lnSpc>
                <a:spcPct val="105000"/>
              </a:lnSpc>
              <a:spcAft>
                <a:spcPts val="0"/>
              </a:spcAft>
            </a:pPr>
            <a:r>
              <a:rPr sz="1250" b="1" i="0">
                <a:solidFill>
                  <a:srgbClr val="1B4332"/>
                </a:solidFill>
                <a:latin typeface="Cambria"/>
              </a:rPr>
              <a:t>Carte interactive</a:t>
            </a:r>
          </a:p>
        </p:txBody>
      </p:sp>
      <p:sp>
        <p:nvSpPr>
          <p:cNvPr id="25" name="TextBox 24"/>
          <p:cNvSpPr txBox="1"/>
          <p:nvPr/>
        </p:nvSpPr>
        <p:spPr>
          <a:xfrm>
            <a:off x="9089136" y="2852928"/>
            <a:ext cx="2212848" cy="621792"/>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Signalements et missions affiches sur fond de carte Mapbox.</a:t>
            </a:r>
          </a:p>
        </p:txBody>
      </p:sp>
      <p:sp>
        <p:nvSpPr>
          <p:cNvPr id="26" name="Rounded Rectangle 25"/>
          <p:cNvSpPr/>
          <p:nvPr/>
        </p:nvSpPr>
        <p:spPr>
          <a:xfrm>
            <a:off x="548640" y="3703320"/>
            <a:ext cx="2615184"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49808" y="390448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3904488"/>
            <a:ext cx="502920" cy="502920"/>
          </a:xfrm>
          <a:prstGeom prst="rect">
            <a:avLst/>
          </a:prstGeom>
          <a:noFill/>
        </p:spPr>
        <p:txBody>
          <a:bodyPr wrap="none" lIns="0" rIns="0" tIns="0" bIns="0" anchor="ctr">
            <a:spAutoFit/>
          </a:bodyPr>
          <a:lstStyle/>
          <a:p>
            <a:pPr algn="ctr"/>
            <a:r>
              <a:rPr sz="1800">
                <a:latin typeface="Segoe UI Emoji"/>
              </a:rPr>
              <a:t>🤝</a:t>
            </a:r>
          </a:p>
        </p:txBody>
      </p:sp>
      <p:sp>
        <p:nvSpPr>
          <p:cNvPr id="29" name="TextBox 28"/>
          <p:cNvSpPr txBox="1"/>
          <p:nvPr/>
        </p:nvSpPr>
        <p:spPr>
          <a:xfrm>
            <a:off x="749808" y="4544568"/>
            <a:ext cx="2212848" cy="502920"/>
          </a:xfrm>
          <a:prstGeom prst="rect">
            <a:avLst/>
          </a:prstGeom>
          <a:noFill/>
        </p:spPr>
        <p:txBody>
          <a:bodyPr wrap="square" lIns="0" rIns="0" tIns="0" bIns="0" anchor="t">
            <a:spAutoFit/>
          </a:bodyPr>
          <a:lstStyle/>
          <a:p>
            <a:pPr algn="l">
              <a:lnSpc>
                <a:spcPct val="105000"/>
              </a:lnSpc>
              <a:spcAft>
                <a:spcPts val="0"/>
              </a:spcAft>
            </a:pPr>
            <a:r>
              <a:rPr sz="1250" b="1" i="0">
                <a:solidFill>
                  <a:srgbClr val="1B4332"/>
                </a:solidFill>
                <a:latin typeface="Cambria"/>
              </a:rPr>
              <a:t>Prise en charge de mission</a:t>
            </a:r>
          </a:p>
        </p:txBody>
      </p:sp>
      <p:sp>
        <p:nvSpPr>
          <p:cNvPr id="30" name="TextBox 29"/>
          <p:cNvSpPr txBox="1"/>
          <p:nvPr/>
        </p:nvSpPr>
        <p:spPr>
          <a:xfrm>
            <a:off x="749808" y="5001768"/>
            <a:ext cx="2212848" cy="621792"/>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Acceptation par un collecteur avec verrou anti double-affectation.</a:t>
            </a:r>
          </a:p>
        </p:txBody>
      </p:sp>
      <p:sp>
        <p:nvSpPr>
          <p:cNvPr id="31" name="Rounded Rectangle 30"/>
          <p:cNvSpPr/>
          <p:nvPr/>
        </p:nvSpPr>
        <p:spPr>
          <a:xfrm>
            <a:off x="3328416" y="3703320"/>
            <a:ext cx="2615184"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529584" y="390448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29584" y="3904488"/>
            <a:ext cx="502920" cy="502920"/>
          </a:xfrm>
          <a:prstGeom prst="rect">
            <a:avLst/>
          </a:prstGeom>
          <a:noFill/>
        </p:spPr>
        <p:txBody>
          <a:bodyPr wrap="none" lIns="0" rIns="0" tIns="0" bIns="0" anchor="ctr">
            <a:spAutoFit/>
          </a:bodyPr>
          <a:lstStyle/>
          <a:p>
            <a:pPr algn="ctr"/>
            <a:r>
              <a:rPr sz="1800">
                <a:latin typeface="Segoe UI Emoji"/>
              </a:rPr>
              <a:t>⚖️</a:t>
            </a:r>
          </a:p>
        </p:txBody>
      </p:sp>
      <p:sp>
        <p:nvSpPr>
          <p:cNvPr id="34" name="TextBox 33"/>
          <p:cNvSpPr txBox="1"/>
          <p:nvPr/>
        </p:nvSpPr>
        <p:spPr>
          <a:xfrm>
            <a:off x="3529584" y="4544568"/>
            <a:ext cx="2212848" cy="502920"/>
          </a:xfrm>
          <a:prstGeom prst="rect">
            <a:avLst/>
          </a:prstGeom>
          <a:noFill/>
        </p:spPr>
        <p:txBody>
          <a:bodyPr wrap="square" lIns="0" rIns="0" tIns="0" bIns="0" anchor="t">
            <a:spAutoFit/>
          </a:bodyPr>
          <a:lstStyle/>
          <a:p>
            <a:pPr algn="l">
              <a:lnSpc>
                <a:spcPct val="105000"/>
              </a:lnSpc>
              <a:spcAft>
                <a:spcPts val="0"/>
              </a:spcAft>
            </a:pPr>
            <a:r>
              <a:rPr sz="1250" b="1" i="0">
                <a:solidFill>
                  <a:srgbClr val="1B4332"/>
                </a:solidFill>
                <a:latin typeface="Cambria"/>
              </a:rPr>
              <a:t>Reception et pesee</a:t>
            </a:r>
          </a:p>
        </p:txBody>
      </p:sp>
      <p:sp>
        <p:nvSpPr>
          <p:cNvPr id="35" name="TextBox 34"/>
          <p:cNvSpPr txBox="1"/>
          <p:nvPr/>
        </p:nvSpPr>
        <p:spPr>
          <a:xfrm>
            <a:off x="3529584" y="5001768"/>
            <a:ext cx="2212848" cy="621792"/>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Confirmation, poids reel et evenement de traitement au centre de tri.</a:t>
            </a:r>
          </a:p>
        </p:txBody>
      </p:sp>
      <p:sp>
        <p:nvSpPr>
          <p:cNvPr id="36" name="Rounded Rectangle 35"/>
          <p:cNvSpPr/>
          <p:nvPr/>
        </p:nvSpPr>
        <p:spPr>
          <a:xfrm>
            <a:off x="6108192" y="3703320"/>
            <a:ext cx="2615184"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09360" y="390448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3904488"/>
            <a:ext cx="502920" cy="502920"/>
          </a:xfrm>
          <a:prstGeom prst="rect">
            <a:avLst/>
          </a:prstGeom>
          <a:noFill/>
        </p:spPr>
        <p:txBody>
          <a:bodyPr wrap="none" lIns="0" rIns="0" tIns="0" bIns="0" anchor="ctr">
            <a:spAutoFit/>
          </a:bodyPr>
          <a:lstStyle/>
          <a:p>
            <a:pPr algn="ctr"/>
            <a:r>
              <a:rPr sz="1800">
                <a:latin typeface="Segoe UI Emoji"/>
              </a:rPr>
              <a:t>💬</a:t>
            </a:r>
          </a:p>
        </p:txBody>
      </p:sp>
      <p:sp>
        <p:nvSpPr>
          <p:cNvPr id="39" name="TextBox 38"/>
          <p:cNvSpPr txBox="1"/>
          <p:nvPr/>
        </p:nvSpPr>
        <p:spPr>
          <a:xfrm>
            <a:off x="6309360" y="4544568"/>
            <a:ext cx="2212848" cy="502920"/>
          </a:xfrm>
          <a:prstGeom prst="rect">
            <a:avLst/>
          </a:prstGeom>
          <a:noFill/>
        </p:spPr>
        <p:txBody>
          <a:bodyPr wrap="square" lIns="0" rIns="0" tIns="0" bIns="0" anchor="t">
            <a:spAutoFit/>
          </a:bodyPr>
          <a:lstStyle/>
          <a:p>
            <a:pPr algn="l">
              <a:lnSpc>
                <a:spcPct val="105000"/>
              </a:lnSpc>
              <a:spcAft>
                <a:spcPts val="0"/>
              </a:spcAft>
            </a:pPr>
            <a:r>
              <a:rPr sz="1250" b="1" i="0">
                <a:solidFill>
                  <a:srgbClr val="1B4332"/>
                </a:solidFill>
                <a:latin typeface="Cambria"/>
              </a:rPr>
              <a:t>Messagerie instantanee</a:t>
            </a:r>
          </a:p>
        </p:txBody>
      </p:sp>
      <p:sp>
        <p:nvSpPr>
          <p:cNvPr id="40" name="TextBox 39"/>
          <p:cNvSpPr txBox="1"/>
          <p:nvPr/>
        </p:nvSpPr>
        <p:spPr>
          <a:xfrm>
            <a:off x="6309360" y="5001768"/>
            <a:ext cx="2212848" cy="621792"/>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Echange generateur / collecteur lie au signalement ou en direct.</a:t>
            </a:r>
          </a:p>
        </p:txBody>
      </p:sp>
      <p:sp>
        <p:nvSpPr>
          <p:cNvPr id="41" name="Rounded Rectangle 40"/>
          <p:cNvSpPr/>
          <p:nvPr/>
        </p:nvSpPr>
        <p:spPr>
          <a:xfrm>
            <a:off x="8887968" y="3703320"/>
            <a:ext cx="2615184"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089136" y="390448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89136" y="3904488"/>
            <a:ext cx="502920" cy="502920"/>
          </a:xfrm>
          <a:prstGeom prst="rect">
            <a:avLst/>
          </a:prstGeom>
          <a:noFill/>
        </p:spPr>
        <p:txBody>
          <a:bodyPr wrap="none" lIns="0" rIns="0" tIns="0" bIns="0" anchor="ctr">
            <a:spAutoFit/>
          </a:bodyPr>
          <a:lstStyle/>
          <a:p>
            <a:pPr algn="ctr"/>
            <a:r>
              <a:rPr sz="1800">
                <a:latin typeface="Segoe UI Emoji"/>
              </a:rPr>
              <a:t>🔔</a:t>
            </a:r>
          </a:p>
        </p:txBody>
      </p:sp>
      <p:sp>
        <p:nvSpPr>
          <p:cNvPr id="44" name="TextBox 43"/>
          <p:cNvSpPr txBox="1"/>
          <p:nvPr/>
        </p:nvSpPr>
        <p:spPr>
          <a:xfrm>
            <a:off x="9089136" y="4544568"/>
            <a:ext cx="2212848" cy="502920"/>
          </a:xfrm>
          <a:prstGeom prst="rect">
            <a:avLst/>
          </a:prstGeom>
          <a:noFill/>
        </p:spPr>
        <p:txBody>
          <a:bodyPr wrap="square" lIns="0" rIns="0" tIns="0" bIns="0" anchor="t">
            <a:spAutoFit/>
          </a:bodyPr>
          <a:lstStyle/>
          <a:p>
            <a:pPr algn="l">
              <a:lnSpc>
                <a:spcPct val="105000"/>
              </a:lnSpc>
              <a:spcAft>
                <a:spcPts val="0"/>
              </a:spcAft>
            </a:pPr>
            <a:r>
              <a:rPr sz="1250" b="1" i="0">
                <a:solidFill>
                  <a:srgbClr val="1B4332"/>
                </a:solidFill>
                <a:latin typeface="Cambria"/>
              </a:rPr>
              <a:t>Notifications push</a:t>
            </a:r>
          </a:p>
        </p:txBody>
      </p:sp>
      <p:sp>
        <p:nvSpPr>
          <p:cNvPr id="45" name="TextBox 44"/>
          <p:cNvSpPr txBox="1"/>
          <p:nvPr/>
        </p:nvSpPr>
        <p:spPr>
          <a:xfrm>
            <a:off x="9089136" y="5001768"/>
            <a:ext cx="2212848" cy="621792"/>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Alerte a chaque changement d'etat significatif (OneSignal).</a:t>
            </a:r>
          </a:p>
        </p:txBody>
      </p:sp>
      <p:sp>
        <p:nvSpPr>
          <p:cNvPr id="46" name="TextBox 45"/>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47" name="TextBox 46"/>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2 — CONTRAINTES DU CONTEXTE CAMEROUNAIS</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Exigences non fonctionnelles</a:t>
            </a:r>
          </a:p>
        </p:txBody>
      </p:sp>
      <p:sp>
        <p:nvSpPr>
          <p:cNvPr id="6" name="Rounded Rectangle 5"/>
          <p:cNvSpPr/>
          <p:nvPr/>
        </p:nvSpPr>
        <p:spPr>
          <a:xfrm>
            <a:off x="548640" y="1554480"/>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55648"/>
            <a:ext cx="548640" cy="548640"/>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55648"/>
            <a:ext cx="548640" cy="548640"/>
          </a:xfrm>
          <a:prstGeom prst="rect">
            <a:avLst/>
          </a:prstGeom>
          <a:noFill/>
        </p:spPr>
        <p:txBody>
          <a:bodyPr wrap="none" lIns="0" rIns="0" tIns="0" bIns="0" anchor="ctr">
            <a:spAutoFit/>
          </a:bodyPr>
          <a:lstStyle/>
          <a:p>
            <a:pPr algn="ctr"/>
            <a:r>
              <a:rPr sz="1800">
                <a:latin typeface="Segoe UI Emoji"/>
              </a:rPr>
              <a:t>📶</a:t>
            </a:r>
          </a:p>
        </p:txBody>
      </p:sp>
      <p:sp>
        <p:nvSpPr>
          <p:cNvPr id="9" name="TextBox 8"/>
          <p:cNvSpPr txBox="1"/>
          <p:nvPr/>
        </p:nvSpPr>
        <p:spPr>
          <a:xfrm>
            <a:off x="1463040" y="1773936"/>
            <a:ext cx="2468880" cy="502920"/>
          </a:xfrm>
          <a:prstGeom prst="rect">
            <a:avLst/>
          </a:prstGeom>
          <a:noFill/>
        </p:spPr>
        <p:txBody>
          <a:bodyPr wrap="square" lIns="0" rIns="0" tIns="0" bIns="0" anchor="ctr">
            <a:spAutoFit/>
          </a:bodyPr>
          <a:lstStyle/>
          <a:p>
            <a:pPr algn="l">
              <a:lnSpc>
                <a:spcPct val="100000"/>
              </a:lnSpc>
              <a:spcAft>
                <a:spcPts val="0"/>
              </a:spcAft>
            </a:pPr>
            <a:r>
              <a:rPr sz="1350" b="1" i="0">
                <a:solidFill>
                  <a:srgbClr val="1B4332"/>
                </a:solidFill>
                <a:latin typeface="Cambria"/>
              </a:rPr>
              <a:t>Faible connectivite</a:t>
            </a:r>
          </a:p>
        </p:txBody>
      </p:sp>
      <p:sp>
        <p:nvSpPr>
          <p:cNvPr id="10" name="TextBox 9"/>
          <p:cNvSpPr txBox="1"/>
          <p:nvPr/>
        </p:nvSpPr>
        <p:spPr>
          <a:xfrm>
            <a:off x="749808" y="2468880"/>
            <a:ext cx="3163824" cy="960120"/>
          </a:xfrm>
          <a:prstGeom prst="rect">
            <a:avLst/>
          </a:prstGeom>
          <a:noFill/>
        </p:spPr>
        <p:txBody>
          <a:bodyPr wrap="square" lIns="0" rIns="0" tIns="0" bIns="0" anchor="t">
            <a:spAutoFit/>
          </a:bodyPr>
          <a:lstStyle/>
          <a:p>
            <a:pPr algn="l">
              <a:lnSpc>
                <a:spcPct val="120000"/>
              </a:lnSpc>
              <a:spcAft>
                <a:spcPts val="0"/>
              </a:spcAft>
            </a:pPr>
            <a:r>
              <a:rPr sz="1100" b="0" i="0">
                <a:solidFill>
                  <a:srgbClr val="1C2B24"/>
                </a:solidFill>
                <a:latin typeface="Calibri"/>
              </a:rPr>
              <a:t>Interfaces legeres, images optimisees, erreurs reseau gerees explicitement.</a:t>
            </a:r>
          </a:p>
        </p:txBody>
      </p:sp>
      <p:sp>
        <p:nvSpPr>
          <p:cNvPr id="11" name="Rounded Rectangle 10"/>
          <p:cNvSpPr/>
          <p:nvPr/>
        </p:nvSpPr>
        <p:spPr>
          <a:xfrm>
            <a:off x="4297680" y="1554480"/>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98848" y="1755648"/>
            <a:ext cx="548640" cy="548640"/>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755648"/>
            <a:ext cx="548640" cy="548640"/>
          </a:xfrm>
          <a:prstGeom prst="rect">
            <a:avLst/>
          </a:prstGeom>
          <a:noFill/>
        </p:spPr>
        <p:txBody>
          <a:bodyPr wrap="none" lIns="0" rIns="0" tIns="0" bIns="0" anchor="ctr">
            <a:spAutoFit/>
          </a:bodyPr>
          <a:lstStyle/>
          <a:p>
            <a:pPr algn="ctr"/>
            <a:r>
              <a:rPr sz="1800">
                <a:latin typeface="Segoe UI Emoji"/>
              </a:rPr>
              <a:t>🔐</a:t>
            </a:r>
          </a:p>
        </p:txBody>
      </p:sp>
      <p:sp>
        <p:nvSpPr>
          <p:cNvPr id="14" name="TextBox 13"/>
          <p:cNvSpPr txBox="1"/>
          <p:nvPr/>
        </p:nvSpPr>
        <p:spPr>
          <a:xfrm>
            <a:off x="5212080" y="1773936"/>
            <a:ext cx="2468880" cy="502920"/>
          </a:xfrm>
          <a:prstGeom prst="rect">
            <a:avLst/>
          </a:prstGeom>
          <a:noFill/>
        </p:spPr>
        <p:txBody>
          <a:bodyPr wrap="square" lIns="0" rIns="0" tIns="0" bIns="0" anchor="ctr">
            <a:spAutoFit/>
          </a:bodyPr>
          <a:lstStyle/>
          <a:p>
            <a:pPr algn="l">
              <a:lnSpc>
                <a:spcPct val="100000"/>
              </a:lnSpc>
              <a:spcAft>
                <a:spcPts val="0"/>
              </a:spcAft>
            </a:pPr>
            <a:r>
              <a:rPr sz="1350" b="1" i="0">
                <a:solidFill>
                  <a:srgbClr val="1B4332"/>
                </a:solidFill>
                <a:latin typeface="Cambria"/>
              </a:rPr>
              <a:t>Securite des donnees</a:t>
            </a:r>
          </a:p>
        </p:txBody>
      </p:sp>
      <p:sp>
        <p:nvSpPr>
          <p:cNvPr id="15" name="TextBox 14"/>
          <p:cNvSpPr txBox="1"/>
          <p:nvPr/>
        </p:nvSpPr>
        <p:spPr>
          <a:xfrm>
            <a:off x="4498848" y="2468880"/>
            <a:ext cx="3163824" cy="960120"/>
          </a:xfrm>
          <a:prstGeom prst="rect">
            <a:avLst/>
          </a:prstGeom>
          <a:noFill/>
        </p:spPr>
        <p:txBody>
          <a:bodyPr wrap="square" lIns="0" rIns="0" tIns="0" bIns="0" anchor="t">
            <a:spAutoFit/>
          </a:bodyPr>
          <a:lstStyle/>
          <a:p>
            <a:pPr algn="l">
              <a:lnSpc>
                <a:spcPct val="120000"/>
              </a:lnSpc>
              <a:spcAft>
                <a:spcPts val="0"/>
              </a:spcAft>
            </a:pPr>
            <a:r>
              <a:rPr sz="1100" b="0" i="0">
                <a:solidFill>
                  <a:srgbClr val="1C2B24"/>
                </a:solidFill>
                <a:latin typeface="Calibri"/>
              </a:rPr>
              <a:t>Isolation stricte par utilisateur et par role via Row Level Security.</a:t>
            </a:r>
          </a:p>
        </p:txBody>
      </p:sp>
      <p:sp>
        <p:nvSpPr>
          <p:cNvPr id="16" name="Rounded Rectangle 15"/>
          <p:cNvSpPr/>
          <p:nvPr/>
        </p:nvSpPr>
        <p:spPr>
          <a:xfrm>
            <a:off x="8046720" y="1554480"/>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47888" y="1755648"/>
            <a:ext cx="548640" cy="548640"/>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755648"/>
            <a:ext cx="548640" cy="548640"/>
          </a:xfrm>
          <a:prstGeom prst="rect">
            <a:avLst/>
          </a:prstGeom>
          <a:noFill/>
        </p:spPr>
        <p:txBody>
          <a:bodyPr wrap="none" lIns="0" rIns="0" tIns="0" bIns="0" anchor="ctr">
            <a:spAutoFit/>
          </a:bodyPr>
          <a:lstStyle/>
          <a:p>
            <a:pPr algn="ctr"/>
            <a:r>
              <a:rPr sz="1800">
                <a:latin typeface="Segoe UI Emoji"/>
              </a:rPr>
              <a:t>📱</a:t>
            </a:r>
          </a:p>
        </p:txBody>
      </p:sp>
      <p:sp>
        <p:nvSpPr>
          <p:cNvPr id="19" name="TextBox 18"/>
          <p:cNvSpPr txBox="1"/>
          <p:nvPr/>
        </p:nvSpPr>
        <p:spPr>
          <a:xfrm>
            <a:off x="8961120" y="1773936"/>
            <a:ext cx="2468880" cy="502920"/>
          </a:xfrm>
          <a:prstGeom prst="rect">
            <a:avLst/>
          </a:prstGeom>
          <a:noFill/>
        </p:spPr>
        <p:txBody>
          <a:bodyPr wrap="square" lIns="0" rIns="0" tIns="0" bIns="0" anchor="ctr">
            <a:spAutoFit/>
          </a:bodyPr>
          <a:lstStyle/>
          <a:p>
            <a:pPr algn="l">
              <a:lnSpc>
                <a:spcPct val="100000"/>
              </a:lnSpc>
              <a:spcAft>
                <a:spcPts val="0"/>
              </a:spcAft>
            </a:pPr>
            <a:r>
              <a:rPr sz="1350" b="1" i="0">
                <a:solidFill>
                  <a:srgbClr val="1B4332"/>
                </a:solidFill>
                <a:latin typeface="Cambria"/>
              </a:rPr>
              <a:t>Ergonomie mobile</a:t>
            </a:r>
          </a:p>
        </p:txBody>
      </p:sp>
      <p:sp>
        <p:nvSpPr>
          <p:cNvPr id="20" name="TextBox 19"/>
          <p:cNvSpPr txBox="1"/>
          <p:nvPr/>
        </p:nvSpPr>
        <p:spPr>
          <a:xfrm>
            <a:off x="8247888" y="2468880"/>
            <a:ext cx="3163824" cy="960120"/>
          </a:xfrm>
          <a:prstGeom prst="rect">
            <a:avLst/>
          </a:prstGeom>
          <a:noFill/>
        </p:spPr>
        <p:txBody>
          <a:bodyPr wrap="square" lIns="0" rIns="0" tIns="0" bIns="0" anchor="t">
            <a:spAutoFit/>
          </a:bodyPr>
          <a:lstStyle/>
          <a:p>
            <a:pPr algn="l">
              <a:lnSpc>
                <a:spcPct val="120000"/>
              </a:lnSpc>
              <a:spcAft>
                <a:spcPts val="0"/>
              </a:spcAft>
            </a:pPr>
            <a:r>
              <a:rPr sz="1100" b="0" i="0">
                <a:solidFill>
                  <a:srgbClr val="1C2B24"/>
                </a:solidFill>
                <a:latin typeface="Calibri"/>
              </a:rPr>
              <a:t>Parcours simplifies pour un public non necessairement familier du numerique.</a:t>
            </a:r>
          </a:p>
        </p:txBody>
      </p:sp>
      <p:sp>
        <p:nvSpPr>
          <p:cNvPr id="21" name="Rounded Rectangle 20"/>
          <p:cNvSpPr/>
          <p:nvPr/>
        </p:nvSpPr>
        <p:spPr>
          <a:xfrm>
            <a:off x="548640" y="3721608"/>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9808" y="3922776"/>
            <a:ext cx="548640" cy="548640"/>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922776"/>
            <a:ext cx="548640" cy="548640"/>
          </a:xfrm>
          <a:prstGeom prst="rect">
            <a:avLst/>
          </a:prstGeom>
          <a:noFill/>
        </p:spPr>
        <p:txBody>
          <a:bodyPr wrap="none" lIns="0" rIns="0" tIns="0" bIns="0" anchor="ctr">
            <a:spAutoFit/>
          </a:bodyPr>
          <a:lstStyle/>
          <a:p>
            <a:pPr algn="ctr"/>
            <a:r>
              <a:rPr sz="1800">
                <a:latin typeface="Segoe UI Emoji"/>
              </a:rPr>
              <a:t>🌐</a:t>
            </a:r>
          </a:p>
        </p:txBody>
      </p:sp>
      <p:sp>
        <p:nvSpPr>
          <p:cNvPr id="24" name="TextBox 23"/>
          <p:cNvSpPr txBox="1"/>
          <p:nvPr/>
        </p:nvSpPr>
        <p:spPr>
          <a:xfrm>
            <a:off x="1463040" y="3941064"/>
            <a:ext cx="2468880" cy="502920"/>
          </a:xfrm>
          <a:prstGeom prst="rect">
            <a:avLst/>
          </a:prstGeom>
          <a:noFill/>
        </p:spPr>
        <p:txBody>
          <a:bodyPr wrap="square" lIns="0" rIns="0" tIns="0" bIns="0" anchor="ctr">
            <a:spAutoFit/>
          </a:bodyPr>
          <a:lstStyle/>
          <a:p>
            <a:pPr algn="l">
              <a:lnSpc>
                <a:spcPct val="100000"/>
              </a:lnSpc>
              <a:spcAft>
                <a:spcPts val="0"/>
              </a:spcAft>
            </a:pPr>
            <a:r>
              <a:rPr sz="1350" b="1" i="0">
                <a:solidFill>
                  <a:srgbClr val="1B4332"/>
                </a:solidFill>
                <a:latin typeface="Cambria"/>
              </a:rPr>
              <a:t>Multiplateforme</a:t>
            </a:r>
          </a:p>
        </p:txBody>
      </p:sp>
      <p:sp>
        <p:nvSpPr>
          <p:cNvPr id="25" name="TextBox 24"/>
          <p:cNvSpPr txBox="1"/>
          <p:nvPr/>
        </p:nvSpPr>
        <p:spPr>
          <a:xfrm>
            <a:off x="749808" y="4636008"/>
            <a:ext cx="3163824" cy="960120"/>
          </a:xfrm>
          <a:prstGeom prst="rect">
            <a:avLst/>
          </a:prstGeom>
          <a:noFill/>
        </p:spPr>
        <p:txBody>
          <a:bodyPr wrap="square" lIns="0" rIns="0" tIns="0" bIns="0" anchor="t">
            <a:spAutoFit/>
          </a:bodyPr>
          <a:lstStyle/>
          <a:p>
            <a:pPr algn="l">
              <a:lnSpc>
                <a:spcPct val="120000"/>
              </a:lnSpc>
              <a:spcAft>
                <a:spcPts val="0"/>
              </a:spcAft>
            </a:pPr>
            <a:r>
              <a:rPr sz="1100" b="0" i="0">
                <a:solidFill>
                  <a:srgbClr val="1C2B24"/>
                </a:solidFill>
                <a:latin typeface="Calibri"/>
              </a:rPr>
              <a:t>Une seule base de code Flutter deployee sur Android, iOS et Web.</a:t>
            </a:r>
          </a:p>
        </p:txBody>
      </p:sp>
      <p:sp>
        <p:nvSpPr>
          <p:cNvPr id="26" name="Rounded Rectangle 25"/>
          <p:cNvSpPr/>
          <p:nvPr/>
        </p:nvSpPr>
        <p:spPr>
          <a:xfrm>
            <a:off x="4297680" y="3721608"/>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498848" y="3922776"/>
            <a:ext cx="548640" cy="548640"/>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8848" y="3922776"/>
            <a:ext cx="548640" cy="548640"/>
          </a:xfrm>
          <a:prstGeom prst="rect">
            <a:avLst/>
          </a:prstGeom>
          <a:noFill/>
        </p:spPr>
        <p:txBody>
          <a:bodyPr wrap="none" lIns="0" rIns="0" tIns="0" bIns="0" anchor="ctr">
            <a:spAutoFit/>
          </a:bodyPr>
          <a:lstStyle/>
          <a:p>
            <a:pPr algn="ctr"/>
            <a:r>
              <a:rPr sz="1800">
                <a:latin typeface="Segoe UI Emoji"/>
              </a:rPr>
              <a:t>☁️</a:t>
            </a:r>
          </a:p>
        </p:txBody>
      </p:sp>
      <p:sp>
        <p:nvSpPr>
          <p:cNvPr id="29" name="TextBox 28"/>
          <p:cNvSpPr txBox="1"/>
          <p:nvPr/>
        </p:nvSpPr>
        <p:spPr>
          <a:xfrm>
            <a:off x="5212080" y="3941064"/>
            <a:ext cx="2468880" cy="502920"/>
          </a:xfrm>
          <a:prstGeom prst="rect">
            <a:avLst/>
          </a:prstGeom>
          <a:noFill/>
        </p:spPr>
        <p:txBody>
          <a:bodyPr wrap="square" lIns="0" rIns="0" tIns="0" bIns="0" anchor="ctr">
            <a:spAutoFit/>
          </a:bodyPr>
          <a:lstStyle/>
          <a:p>
            <a:pPr algn="l">
              <a:lnSpc>
                <a:spcPct val="100000"/>
              </a:lnSpc>
              <a:spcAft>
                <a:spcPts val="0"/>
              </a:spcAft>
            </a:pPr>
            <a:r>
              <a:rPr sz="1350" b="1" i="0">
                <a:solidFill>
                  <a:srgbClr val="1B4332"/>
                </a:solidFill>
                <a:latin typeface="Cambria"/>
              </a:rPr>
              <a:t>Disponibilite</a:t>
            </a:r>
          </a:p>
        </p:txBody>
      </p:sp>
      <p:sp>
        <p:nvSpPr>
          <p:cNvPr id="30" name="TextBox 29"/>
          <p:cNvSpPr txBox="1"/>
          <p:nvPr/>
        </p:nvSpPr>
        <p:spPr>
          <a:xfrm>
            <a:off x="4498848" y="4636008"/>
            <a:ext cx="3163824" cy="960120"/>
          </a:xfrm>
          <a:prstGeom prst="rect">
            <a:avLst/>
          </a:prstGeom>
          <a:noFill/>
        </p:spPr>
        <p:txBody>
          <a:bodyPr wrap="square" lIns="0" rIns="0" tIns="0" bIns="0" anchor="t">
            <a:spAutoFit/>
          </a:bodyPr>
          <a:lstStyle/>
          <a:p>
            <a:pPr algn="l">
              <a:lnSpc>
                <a:spcPct val="120000"/>
              </a:lnSpc>
              <a:spcAft>
                <a:spcPts val="0"/>
              </a:spcAft>
            </a:pPr>
            <a:r>
              <a:rPr sz="1100" b="0" i="0">
                <a:solidFill>
                  <a:srgbClr val="1C2B24"/>
                </a:solidFill>
                <a:latin typeface="Calibri"/>
              </a:rPr>
              <a:t>Infrastructure cloud managee (Supabase) sans equipe d'exploitation dediee.</a:t>
            </a:r>
          </a:p>
        </p:txBody>
      </p:sp>
      <p:sp>
        <p:nvSpPr>
          <p:cNvPr id="31" name="Rounded Rectangle 30"/>
          <p:cNvSpPr/>
          <p:nvPr/>
        </p:nvSpPr>
        <p:spPr>
          <a:xfrm>
            <a:off x="8046720" y="3721608"/>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47888" y="3922776"/>
            <a:ext cx="548640" cy="548640"/>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47888" y="3922776"/>
            <a:ext cx="548640" cy="548640"/>
          </a:xfrm>
          <a:prstGeom prst="rect">
            <a:avLst/>
          </a:prstGeom>
          <a:noFill/>
        </p:spPr>
        <p:txBody>
          <a:bodyPr wrap="none" lIns="0" rIns="0" tIns="0" bIns="0" anchor="ctr">
            <a:spAutoFit/>
          </a:bodyPr>
          <a:lstStyle/>
          <a:p>
            <a:pPr algn="ctr"/>
            <a:r>
              <a:rPr sz="1800">
                <a:latin typeface="Segoe UI Emoji"/>
              </a:rPr>
              <a:t>🇫🇷</a:t>
            </a:r>
          </a:p>
        </p:txBody>
      </p:sp>
      <p:sp>
        <p:nvSpPr>
          <p:cNvPr id="34" name="TextBox 33"/>
          <p:cNvSpPr txBox="1"/>
          <p:nvPr/>
        </p:nvSpPr>
        <p:spPr>
          <a:xfrm>
            <a:off x="8961120" y="3941064"/>
            <a:ext cx="2468880" cy="502920"/>
          </a:xfrm>
          <a:prstGeom prst="rect">
            <a:avLst/>
          </a:prstGeom>
          <a:noFill/>
        </p:spPr>
        <p:txBody>
          <a:bodyPr wrap="square" lIns="0" rIns="0" tIns="0" bIns="0" anchor="ctr">
            <a:spAutoFit/>
          </a:bodyPr>
          <a:lstStyle/>
          <a:p>
            <a:pPr algn="l">
              <a:lnSpc>
                <a:spcPct val="100000"/>
              </a:lnSpc>
              <a:spcAft>
                <a:spcPts val="0"/>
              </a:spcAft>
            </a:pPr>
            <a:r>
              <a:rPr sz="1350" b="1" i="0">
                <a:solidFill>
                  <a:srgbClr val="1B4332"/>
                </a:solidFill>
                <a:latin typeface="Cambria"/>
              </a:rPr>
              <a:t>Localisation FR</a:t>
            </a:r>
          </a:p>
        </p:txBody>
      </p:sp>
      <p:sp>
        <p:nvSpPr>
          <p:cNvPr id="35" name="TextBox 34"/>
          <p:cNvSpPr txBox="1"/>
          <p:nvPr/>
        </p:nvSpPr>
        <p:spPr>
          <a:xfrm>
            <a:off x="8247888" y="4636008"/>
            <a:ext cx="3163824" cy="960120"/>
          </a:xfrm>
          <a:prstGeom prst="rect">
            <a:avLst/>
          </a:prstGeom>
          <a:noFill/>
        </p:spPr>
        <p:txBody>
          <a:bodyPr wrap="square" lIns="0" rIns="0" tIns="0" bIns="0" anchor="t">
            <a:spAutoFit/>
          </a:bodyPr>
          <a:lstStyle/>
          <a:p>
            <a:pPr algn="l">
              <a:lnSpc>
                <a:spcPct val="120000"/>
              </a:lnSpc>
              <a:spcAft>
                <a:spcPts val="0"/>
              </a:spcAft>
            </a:pPr>
            <a:r>
              <a:rPr sz="1100" b="0" i="0">
                <a:solidFill>
                  <a:srgbClr val="1C2B24"/>
                </a:solidFill>
                <a:latin typeface="Calibri"/>
              </a:rPr>
              <a:t>Interface en francais, avec champ preferred_language extensible.</a:t>
            </a:r>
          </a:p>
        </p:txBody>
      </p:sp>
      <p:sp>
        <p:nvSpPr>
          <p:cNvPr id="36" name="TextBox 35"/>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37" name="TextBox 36"/>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3 — ANALYSE ET CONCEPTION</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Architecture globale (vue C4 - contexte)</a:t>
            </a:r>
          </a:p>
        </p:txBody>
      </p:sp>
      <p:sp>
        <p:nvSpPr>
          <p:cNvPr id="6" name="Rounded Rectangle 5"/>
          <p:cNvSpPr/>
          <p:nvPr/>
        </p:nvSpPr>
        <p:spPr>
          <a:xfrm>
            <a:off x="4480560" y="2880360"/>
            <a:ext cx="3200400" cy="1234440"/>
          </a:xfrm>
          <a:prstGeom prst="roundRect">
            <a:avLst>
              <a:gd name="adj" fmla="val 12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3063240"/>
            <a:ext cx="3200400" cy="411480"/>
          </a:xfrm>
          <a:prstGeom prst="rect">
            <a:avLst/>
          </a:prstGeom>
          <a:noFill/>
        </p:spPr>
        <p:txBody>
          <a:bodyPr wrap="square" lIns="0" rIns="0" tIns="0" bIns="0" anchor="t">
            <a:spAutoFit/>
          </a:bodyPr>
          <a:lstStyle/>
          <a:p>
            <a:pPr algn="ctr">
              <a:lnSpc>
                <a:spcPct val="100000"/>
              </a:lnSpc>
              <a:spcAft>
                <a:spcPts val="0"/>
              </a:spcAft>
            </a:pPr>
            <a:r>
              <a:rPr sz="1800" b="1" i="0">
                <a:solidFill>
                  <a:srgbClr val="FFFFFF"/>
                </a:solidFill>
                <a:latin typeface="Cambria"/>
              </a:rPr>
              <a:t>📱🌐  CLEANCITY</a:t>
            </a:r>
          </a:p>
        </p:txBody>
      </p:sp>
      <p:sp>
        <p:nvSpPr>
          <p:cNvPr id="8" name="TextBox 7"/>
          <p:cNvSpPr txBox="1"/>
          <p:nvPr/>
        </p:nvSpPr>
        <p:spPr>
          <a:xfrm>
            <a:off x="4480560" y="3538728"/>
            <a:ext cx="3200400" cy="457200"/>
          </a:xfrm>
          <a:prstGeom prst="rect">
            <a:avLst/>
          </a:prstGeom>
          <a:noFill/>
        </p:spPr>
        <p:txBody>
          <a:bodyPr wrap="square" lIns="0" rIns="0" tIns="0" bIns="0" anchor="t">
            <a:spAutoFit/>
          </a:bodyPr>
          <a:lstStyle/>
          <a:p>
            <a:pPr algn="ctr">
              <a:lnSpc>
                <a:spcPct val="100000"/>
              </a:lnSpc>
              <a:spcAft>
                <a:spcPts val="0"/>
              </a:spcAft>
            </a:pPr>
            <a:r>
              <a:rPr sz="1150" b="0" i="0">
                <a:solidFill>
                  <a:srgbClr val="74C69D"/>
                </a:solidFill>
                <a:latin typeface="Calibri"/>
              </a:rPr>
              <a:t>Application Flutter — mobile + web</a:t>
            </a:r>
          </a:p>
        </p:txBody>
      </p:sp>
      <p:sp>
        <p:nvSpPr>
          <p:cNvPr id="9" name="Rounded Rectangle 8"/>
          <p:cNvSpPr/>
          <p:nvPr/>
        </p:nvSpPr>
        <p:spPr>
          <a:xfrm>
            <a:off x="548640" y="1600200"/>
            <a:ext cx="2331720" cy="960120"/>
          </a:xfrm>
          <a:prstGeom prst="roundRect">
            <a:avLst>
              <a:gd name="adj" fmla="val 6000"/>
            </a:avLst>
          </a:prstGeom>
          <a:solidFill>
            <a:srgbClr val="F5FAF7"/>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5800" y="17373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7373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12" name="TextBox 11"/>
          <p:cNvSpPr txBox="1"/>
          <p:nvPr/>
        </p:nvSpPr>
        <p:spPr>
          <a:xfrm>
            <a:off x="1463040" y="1600200"/>
            <a:ext cx="1325880" cy="960120"/>
          </a:xfrm>
          <a:prstGeom prst="rect">
            <a:avLst/>
          </a:prstGeom>
          <a:noFill/>
        </p:spPr>
        <p:txBody>
          <a:bodyPr wrap="square" lIns="0" rIns="0" tIns="0" bIns="0" anchor="ctr">
            <a:spAutoFit/>
          </a:bodyPr>
          <a:lstStyle/>
          <a:p>
            <a:pPr algn="l">
              <a:lnSpc>
                <a:spcPct val="100000"/>
              </a:lnSpc>
              <a:spcAft>
                <a:spcPts val="0"/>
              </a:spcAft>
            </a:pPr>
            <a:r>
              <a:rPr sz="1300" b="1" i="0">
                <a:solidFill>
                  <a:srgbClr val="1B4332"/>
                </a:solidFill>
                <a:latin typeface="Cambria"/>
              </a:rPr>
              <a:t>Generateur</a:t>
            </a:r>
          </a:p>
        </p:txBody>
      </p:sp>
      <p:cxnSp>
        <p:nvCxnSpPr>
          <p:cNvPr id="13" name="Connector 12"/>
          <p:cNvCxnSpPr/>
          <p:nvPr/>
        </p:nvCxnSpPr>
        <p:spPr>
          <a:xfrm>
            <a:off x="2880360" y="2080260"/>
            <a:ext cx="1600200" cy="1417320"/>
          </a:xfrm>
          <a:prstGeom prst="line">
            <a:avLst/>
          </a:prstGeom>
          <a:ln w="19050">
            <a:solidFill>
              <a:srgbClr val="D7E6DD"/>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2670048"/>
            <a:ext cx="2331720" cy="960120"/>
          </a:xfrm>
          <a:prstGeom prst="roundRect">
            <a:avLst>
              <a:gd name="adj" fmla="val 6000"/>
            </a:avLst>
          </a:prstGeom>
          <a:solidFill>
            <a:srgbClr val="F5FAF7"/>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85800" y="2807208"/>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07208"/>
            <a:ext cx="658368" cy="658368"/>
          </a:xfrm>
          <a:prstGeom prst="rect">
            <a:avLst/>
          </a:prstGeom>
          <a:noFill/>
        </p:spPr>
        <p:txBody>
          <a:bodyPr wrap="none" lIns="0" rIns="0" tIns="0" bIns="0" anchor="ctr">
            <a:spAutoFit/>
          </a:bodyPr>
          <a:lstStyle/>
          <a:p>
            <a:pPr algn="ctr"/>
            <a:r>
              <a:rPr sz="2200">
                <a:latin typeface="Segoe UI Emoji"/>
              </a:rPr>
              <a:t>🚚</a:t>
            </a:r>
          </a:p>
        </p:txBody>
      </p:sp>
      <p:sp>
        <p:nvSpPr>
          <p:cNvPr id="17" name="TextBox 16"/>
          <p:cNvSpPr txBox="1"/>
          <p:nvPr/>
        </p:nvSpPr>
        <p:spPr>
          <a:xfrm>
            <a:off x="1463040" y="2670048"/>
            <a:ext cx="1325880" cy="960120"/>
          </a:xfrm>
          <a:prstGeom prst="rect">
            <a:avLst/>
          </a:prstGeom>
          <a:noFill/>
        </p:spPr>
        <p:txBody>
          <a:bodyPr wrap="square" lIns="0" rIns="0" tIns="0" bIns="0" anchor="ctr">
            <a:spAutoFit/>
          </a:bodyPr>
          <a:lstStyle/>
          <a:p>
            <a:pPr algn="l">
              <a:lnSpc>
                <a:spcPct val="100000"/>
              </a:lnSpc>
              <a:spcAft>
                <a:spcPts val="0"/>
              </a:spcAft>
            </a:pPr>
            <a:r>
              <a:rPr sz="1300" b="1" i="0">
                <a:solidFill>
                  <a:srgbClr val="1B4332"/>
                </a:solidFill>
                <a:latin typeface="Cambria"/>
              </a:rPr>
              <a:t>Collecteur</a:t>
            </a:r>
          </a:p>
        </p:txBody>
      </p:sp>
      <p:cxnSp>
        <p:nvCxnSpPr>
          <p:cNvPr id="18" name="Connector 17"/>
          <p:cNvCxnSpPr/>
          <p:nvPr/>
        </p:nvCxnSpPr>
        <p:spPr>
          <a:xfrm>
            <a:off x="2880360" y="3150108"/>
            <a:ext cx="1600200" cy="347472"/>
          </a:xfrm>
          <a:prstGeom prst="line">
            <a:avLst/>
          </a:prstGeom>
          <a:ln w="19050">
            <a:solidFill>
              <a:srgbClr val="D7E6D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3739896"/>
            <a:ext cx="2331720" cy="960120"/>
          </a:xfrm>
          <a:prstGeom prst="roundRect">
            <a:avLst>
              <a:gd name="adj" fmla="val 6000"/>
            </a:avLst>
          </a:prstGeom>
          <a:solidFill>
            <a:srgbClr val="F5FAF7"/>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3877056"/>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877056"/>
            <a:ext cx="658368" cy="658368"/>
          </a:xfrm>
          <a:prstGeom prst="rect">
            <a:avLst/>
          </a:prstGeom>
          <a:noFill/>
        </p:spPr>
        <p:txBody>
          <a:bodyPr wrap="none" lIns="0" rIns="0" tIns="0" bIns="0" anchor="ctr">
            <a:spAutoFit/>
          </a:bodyPr>
          <a:lstStyle/>
          <a:p>
            <a:pPr algn="ctr"/>
            <a:r>
              <a:rPr sz="2200">
                <a:latin typeface="Segoe UI Emoji"/>
              </a:rPr>
              <a:t>🏭</a:t>
            </a:r>
          </a:p>
        </p:txBody>
      </p:sp>
      <p:sp>
        <p:nvSpPr>
          <p:cNvPr id="22" name="TextBox 21"/>
          <p:cNvSpPr txBox="1"/>
          <p:nvPr/>
        </p:nvSpPr>
        <p:spPr>
          <a:xfrm>
            <a:off x="1463040" y="3739896"/>
            <a:ext cx="1325880" cy="960120"/>
          </a:xfrm>
          <a:prstGeom prst="rect">
            <a:avLst/>
          </a:prstGeom>
          <a:noFill/>
        </p:spPr>
        <p:txBody>
          <a:bodyPr wrap="square" lIns="0" rIns="0" tIns="0" bIns="0" anchor="ctr">
            <a:spAutoFit/>
          </a:bodyPr>
          <a:lstStyle/>
          <a:p>
            <a:pPr algn="l">
              <a:lnSpc>
                <a:spcPct val="100000"/>
              </a:lnSpc>
              <a:spcAft>
                <a:spcPts val="0"/>
              </a:spcAft>
            </a:pPr>
            <a:r>
              <a:rPr sz="1300" b="1" i="0">
                <a:solidFill>
                  <a:srgbClr val="1B4332"/>
                </a:solidFill>
                <a:latin typeface="Cambria"/>
              </a:rPr>
              <a:t>Centre de tri</a:t>
            </a:r>
          </a:p>
        </p:txBody>
      </p:sp>
      <p:cxnSp>
        <p:nvCxnSpPr>
          <p:cNvPr id="23" name="Connector 22"/>
          <p:cNvCxnSpPr/>
          <p:nvPr/>
        </p:nvCxnSpPr>
        <p:spPr>
          <a:xfrm flipV="1">
            <a:off x="2880360" y="3497580"/>
            <a:ext cx="1600200" cy="722376"/>
          </a:xfrm>
          <a:prstGeom prst="line">
            <a:avLst/>
          </a:prstGeom>
          <a:ln w="19050">
            <a:solidFill>
              <a:srgbClr val="D7E6DD"/>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4809744"/>
            <a:ext cx="2331720" cy="960120"/>
          </a:xfrm>
          <a:prstGeom prst="roundRect">
            <a:avLst>
              <a:gd name="adj" fmla="val 6000"/>
            </a:avLst>
          </a:prstGeom>
          <a:solidFill>
            <a:srgbClr val="F5FAF7"/>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5800" y="4946904"/>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946904"/>
            <a:ext cx="658368" cy="658368"/>
          </a:xfrm>
          <a:prstGeom prst="rect">
            <a:avLst/>
          </a:prstGeom>
          <a:noFill/>
        </p:spPr>
        <p:txBody>
          <a:bodyPr wrap="none" lIns="0" rIns="0" tIns="0" bIns="0" anchor="ctr">
            <a:spAutoFit/>
          </a:bodyPr>
          <a:lstStyle/>
          <a:p>
            <a:pPr algn="ctr"/>
            <a:r>
              <a:rPr sz="2200">
                <a:latin typeface="Segoe UI Emoji"/>
              </a:rPr>
              <a:t>⚙️</a:t>
            </a:r>
          </a:p>
        </p:txBody>
      </p:sp>
      <p:sp>
        <p:nvSpPr>
          <p:cNvPr id="27" name="TextBox 26"/>
          <p:cNvSpPr txBox="1"/>
          <p:nvPr/>
        </p:nvSpPr>
        <p:spPr>
          <a:xfrm>
            <a:off x="1463040" y="4809744"/>
            <a:ext cx="1325880" cy="960120"/>
          </a:xfrm>
          <a:prstGeom prst="rect">
            <a:avLst/>
          </a:prstGeom>
          <a:noFill/>
        </p:spPr>
        <p:txBody>
          <a:bodyPr wrap="square" lIns="0" rIns="0" tIns="0" bIns="0" anchor="ctr">
            <a:spAutoFit/>
          </a:bodyPr>
          <a:lstStyle/>
          <a:p>
            <a:pPr algn="l">
              <a:lnSpc>
                <a:spcPct val="100000"/>
              </a:lnSpc>
              <a:spcAft>
                <a:spcPts val="0"/>
              </a:spcAft>
            </a:pPr>
            <a:r>
              <a:rPr sz="1300" b="1" i="0">
                <a:solidFill>
                  <a:srgbClr val="1B4332"/>
                </a:solidFill>
                <a:latin typeface="Cambria"/>
              </a:rPr>
              <a:t>Admin</a:t>
            </a:r>
          </a:p>
        </p:txBody>
      </p:sp>
      <p:cxnSp>
        <p:nvCxnSpPr>
          <p:cNvPr id="28" name="Connector 27"/>
          <p:cNvCxnSpPr/>
          <p:nvPr/>
        </p:nvCxnSpPr>
        <p:spPr>
          <a:xfrm flipV="1">
            <a:off x="2880360" y="3497580"/>
            <a:ext cx="1600200" cy="1792224"/>
          </a:xfrm>
          <a:prstGeom prst="line">
            <a:avLst/>
          </a:prstGeom>
          <a:ln w="19050">
            <a:solidFill>
              <a:srgbClr val="D7E6DD"/>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092440" y="1600200"/>
            <a:ext cx="3520440" cy="960120"/>
          </a:xfrm>
          <a:prstGeom prst="roundRect">
            <a:avLst>
              <a:gd name="adj" fmla="val 6000"/>
            </a:avLst>
          </a:prstGeom>
          <a:solidFill>
            <a:srgbClr val="F5FAF7"/>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29600" y="1737360"/>
            <a:ext cx="658368" cy="658368"/>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1737360"/>
            <a:ext cx="658368" cy="658368"/>
          </a:xfrm>
          <a:prstGeom prst="rect">
            <a:avLst/>
          </a:prstGeom>
          <a:noFill/>
        </p:spPr>
        <p:txBody>
          <a:bodyPr wrap="none" lIns="0" rIns="0" tIns="0" bIns="0" anchor="ctr">
            <a:spAutoFit/>
          </a:bodyPr>
          <a:lstStyle/>
          <a:p>
            <a:pPr algn="ctr"/>
            <a:r>
              <a:rPr sz="2000">
                <a:latin typeface="Segoe UI Emoji"/>
              </a:rPr>
              <a:t>🗄️</a:t>
            </a:r>
          </a:p>
        </p:txBody>
      </p:sp>
      <p:sp>
        <p:nvSpPr>
          <p:cNvPr id="32" name="TextBox 31"/>
          <p:cNvSpPr txBox="1"/>
          <p:nvPr/>
        </p:nvSpPr>
        <p:spPr>
          <a:xfrm>
            <a:off x="9006840" y="1709928"/>
            <a:ext cx="2468880" cy="320040"/>
          </a:xfrm>
          <a:prstGeom prst="rect">
            <a:avLst/>
          </a:prstGeom>
          <a:noFill/>
        </p:spPr>
        <p:txBody>
          <a:bodyPr wrap="square" lIns="0" rIns="0" tIns="0" bIns="0" anchor="t">
            <a:spAutoFit/>
          </a:bodyPr>
          <a:lstStyle/>
          <a:p>
            <a:pPr algn="l">
              <a:lnSpc>
                <a:spcPct val="100000"/>
              </a:lnSpc>
              <a:spcAft>
                <a:spcPts val="0"/>
              </a:spcAft>
            </a:pPr>
            <a:r>
              <a:rPr sz="1250" b="1" i="0">
                <a:solidFill>
                  <a:srgbClr val="1B4332"/>
                </a:solidFill>
                <a:latin typeface="Cambria"/>
              </a:rPr>
              <a:t>Supabase</a:t>
            </a:r>
          </a:p>
        </p:txBody>
      </p:sp>
      <p:sp>
        <p:nvSpPr>
          <p:cNvPr id="33" name="TextBox 32"/>
          <p:cNvSpPr txBox="1"/>
          <p:nvPr/>
        </p:nvSpPr>
        <p:spPr>
          <a:xfrm>
            <a:off x="9006840" y="2039112"/>
            <a:ext cx="2468880" cy="457200"/>
          </a:xfrm>
          <a:prstGeom prst="rect">
            <a:avLst/>
          </a:prstGeom>
          <a:noFill/>
        </p:spPr>
        <p:txBody>
          <a:bodyPr wrap="square" lIns="0" rIns="0" tIns="0" bIns="0" anchor="t">
            <a:spAutoFit/>
          </a:bodyPr>
          <a:lstStyle/>
          <a:p>
            <a:pPr algn="l">
              <a:lnSpc>
                <a:spcPct val="110000"/>
              </a:lnSpc>
              <a:spcAft>
                <a:spcPts val="0"/>
              </a:spcAft>
            </a:pPr>
            <a:r>
              <a:rPr sz="950" b="0" i="0">
                <a:solidFill>
                  <a:srgbClr val="5C6B65"/>
                </a:solidFill>
                <a:latin typeface="Calibri"/>
              </a:rPr>
              <a:t>PostgreSQL + PostGIS · Auth · Storage · Realtime</a:t>
            </a:r>
          </a:p>
        </p:txBody>
      </p:sp>
      <p:cxnSp>
        <p:nvCxnSpPr>
          <p:cNvPr id="34" name="Connector 33"/>
          <p:cNvCxnSpPr/>
          <p:nvPr/>
        </p:nvCxnSpPr>
        <p:spPr>
          <a:xfrm flipV="1">
            <a:off x="7680960" y="2080260"/>
            <a:ext cx="411480" cy="1417320"/>
          </a:xfrm>
          <a:prstGeom prst="line">
            <a:avLst/>
          </a:prstGeom>
          <a:ln w="19050">
            <a:solidFill>
              <a:srgbClr val="D7E6DD"/>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092440" y="2670048"/>
            <a:ext cx="3520440" cy="960120"/>
          </a:xfrm>
          <a:prstGeom prst="roundRect">
            <a:avLst>
              <a:gd name="adj" fmla="val 6000"/>
            </a:avLst>
          </a:prstGeom>
          <a:solidFill>
            <a:srgbClr val="F5FAF7"/>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29600" y="2807208"/>
            <a:ext cx="658368" cy="658368"/>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0" y="2807208"/>
            <a:ext cx="658368" cy="658368"/>
          </a:xfrm>
          <a:prstGeom prst="rect">
            <a:avLst/>
          </a:prstGeom>
          <a:noFill/>
        </p:spPr>
        <p:txBody>
          <a:bodyPr wrap="none" lIns="0" rIns="0" tIns="0" bIns="0" anchor="ctr">
            <a:spAutoFit/>
          </a:bodyPr>
          <a:lstStyle/>
          <a:p>
            <a:pPr algn="ctr"/>
            <a:r>
              <a:rPr sz="2000">
                <a:latin typeface="Segoe UI Emoji"/>
              </a:rPr>
              <a:t>🗺️</a:t>
            </a:r>
          </a:p>
        </p:txBody>
      </p:sp>
      <p:sp>
        <p:nvSpPr>
          <p:cNvPr id="38" name="TextBox 37"/>
          <p:cNvSpPr txBox="1"/>
          <p:nvPr/>
        </p:nvSpPr>
        <p:spPr>
          <a:xfrm>
            <a:off x="9006840" y="2779776"/>
            <a:ext cx="2468880" cy="320040"/>
          </a:xfrm>
          <a:prstGeom prst="rect">
            <a:avLst/>
          </a:prstGeom>
          <a:noFill/>
        </p:spPr>
        <p:txBody>
          <a:bodyPr wrap="square" lIns="0" rIns="0" tIns="0" bIns="0" anchor="t">
            <a:spAutoFit/>
          </a:bodyPr>
          <a:lstStyle/>
          <a:p>
            <a:pPr algn="l">
              <a:lnSpc>
                <a:spcPct val="100000"/>
              </a:lnSpc>
              <a:spcAft>
                <a:spcPts val="0"/>
              </a:spcAft>
            </a:pPr>
            <a:r>
              <a:rPr sz="1250" b="1" i="0">
                <a:solidFill>
                  <a:srgbClr val="1B4332"/>
                </a:solidFill>
                <a:latin typeface="Cambria"/>
              </a:rPr>
              <a:t>Mapbox</a:t>
            </a:r>
          </a:p>
        </p:txBody>
      </p:sp>
      <p:sp>
        <p:nvSpPr>
          <p:cNvPr id="39" name="TextBox 38"/>
          <p:cNvSpPr txBox="1"/>
          <p:nvPr/>
        </p:nvSpPr>
        <p:spPr>
          <a:xfrm>
            <a:off x="9006840" y="3108960"/>
            <a:ext cx="2468880" cy="457200"/>
          </a:xfrm>
          <a:prstGeom prst="rect">
            <a:avLst/>
          </a:prstGeom>
          <a:noFill/>
        </p:spPr>
        <p:txBody>
          <a:bodyPr wrap="square" lIns="0" rIns="0" tIns="0" bIns="0" anchor="t">
            <a:spAutoFit/>
          </a:bodyPr>
          <a:lstStyle/>
          <a:p>
            <a:pPr algn="l">
              <a:lnSpc>
                <a:spcPct val="110000"/>
              </a:lnSpc>
              <a:spcAft>
                <a:spcPts val="0"/>
              </a:spcAft>
            </a:pPr>
            <a:r>
              <a:rPr sz="950" b="0" i="0">
                <a:solidFill>
                  <a:srgbClr val="5C6B65"/>
                </a:solidFill>
                <a:latin typeface="Calibri"/>
              </a:rPr>
              <a:t>Tuiles cartographiques (fallback OpenStreetMap)</a:t>
            </a:r>
          </a:p>
        </p:txBody>
      </p:sp>
      <p:cxnSp>
        <p:nvCxnSpPr>
          <p:cNvPr id="40" name="Connector 39"/>
          <p:cNvCxnSpPr/>
          <p:nvPr/>
        </p:nvCxnSpPr>
        <p:spPr>
          <a:xfrm flipV="1">
            <a:off x="7680960" y="3150108"/>
            <a:ext cx="411480" cy="347472"/>
          </a:xfrm>
          <a:prstGeom prst="line">
            <a:avLst/>
          </a:prstGeom>
          <a:ln w="19050">
            <a:solidFill>
              <a:srgbClr val="D7E6DD"/>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092440" y="3739896"/>
            <a:ext cx="3520440" cy="960120"/>
          </a:xfrm>
          <a:prstGeom prst="roundRect">
            <a:avLst>
              <a:gd name="adj" fmla="val 6000"/>
            </a:avLst>
          </a:prstGeom>
          <a:solidFill>
            <a:srgbClr val="F5FAF7"/>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229600" y="3877056"/>
            <a:ext cx="658368" cy="658368"/>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3877056"/>
            <a:ext cx="658368" cy="658368"/>
          </a:xfrm>
          <a:prstGeom prst="rect">
            <a:avLst/>
          </a:prstGeom>
          <a:noFill/>
        </p:spPr>
        <p:txBody>
          <a:bodyPr wrap="none" lIns="0" rIns="0" tIns="0" bIns="0" anchor="ctr">
            <a:spAutoFit/>
          </a:bodyPr>
          <a:lstStyle/>
          <a:p>
            <a:pPr algn="ctr"/>
            <a:r>
              <a:rPr sz="2000">
                <a:latin typeface="Segoe UI Emoji"/>
              </a:rPr>
              <a:t>🔔</a:t>
            </a:r>
          </a:p>
        </p:txBody>
      </p:sp>
      <p:sp>
        <p:nvSpPr>
          <p:cNvPr id="44" name="TextBox 43"/>
          <p:cNvSpPr txBox="1"/>
          <p:nvPr/>
        </p:nvSpPr>
        <p:spPr>
          <a:xfrm>
            <a:off x="9006840" y="3849624"/>
            <a:ext cx="2468880" cy="320040"/>
          </a:xfrm>
          <a:prstGeom prst="rect">
            <a:avLst/>
          </a:prstGeom>
          <a:noFill/>
        </p:spPr>
        <p:txBody>
          <a:bodyPr wrap="square" lIns="0" rIns="0" tIns="0" bIns="0" anchor="t">
            <a:spAutoFit/>
          </a:bodyPr>
          <a:lstStyle/>
          <a:p>
            <a:pPr algn="l">
              <a:lnSpc>
                <a:spcPct val="100000"/>
              </a:lnSpc>
              <a:spcAft>
                <a:spcPts val="0"/>
              </a:spcAft>
            </a:pPr>
            <a:r>
              <a:rPr sz="1250" b="1" i="0">
                <a:solidFill>
                  <a:srgbClr val="1B4332"/>
                </a:solidFill>
                <a:latin typeface="Cambria"/>
              </a:rPr>
              <a:t>OneSignal</a:t>
            </a:r>
          </a:p>
        </p:txBody>
      </p:sp>
      <p:sp>
        <p:nvSpPr>
          <p:cNvPr id="45" name="TextBox 44"/>
          <p:cNvSpPr txBox="1"/>
          <p:nvPr/>
        </p:nvSpPr>
        <p:spPr>
          <a:xfrm>
            <a:off x="9006840" y="4178808"/>
            <a:ext cx="2468880" cy="457200"/>
          </a:xfrm>
          <a:prstGeom prst="rect">
            <a:avLst/>
          </a:prstGeom>
          <a:noFill/>
        </p:spPr>
        <p:txBody>
          <a:bodyPr wrap="square" lIns="0" rIns="0" tIns="0" bIns="0" anchor="t">
            <a:spAutoFit/>
          </a:bodyPr>
          <a:lstStyle/>
          <a:p>
            <a:pPr algn="l">
              <a:lnSpc>
                <a:spcPct val="110000"/>
              </a:lnSpc>
              <a:spcAft>
                <a:spcPts val="0"/>
              </a:spcAft>
            </a:pPr>
            <a:r>
              <a:rPr sz="950" b="0" i="0">
                <a:solidFill>
                  <a:srgbClr val="5C6B65"/>
                </a:solidFill>
                <a:latin typeface="Calibri"/>
              </a:rPr>
              <a:t>Notifications push multiplateforme</a:t>
            </a:r>
          </a:p>
        </p:txBody>
      </p:sp>
      <p:cxnSp>
        <p:nvCxnSpPr>
          <p:cNvPr id="46" name="Connector 45"/>
          <p:cNvCxnSpPr/>
          <p:nvPr/>
        </p:nvCxnSpPr>
        <p:spPr>
          <a:xfrm>
            <a:off x="7680960" y="3497580"/>
            <a:ext cx="411480" cy="722376"/>
          </a:xfrm>
          <a:prstGeom prst="line">
            <a:avLst/>
          </a:prstGeom>
          <a:ln w="19050">
            <a:solidFill>
              <a:srgbClr val="D7E6DD"/>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8092440" y="4809744"/>
            <a:ext cx="3520440" cy="960120"/>
          </a:xfrm>
          <a:prstGeom prst="roundRect">
            <a:avLst>
              <a:gd name="adj" fmla="val 6000"/>
            </a:avLst>
          </a:prstGeom>
          <a:solidFill>
            <a:srgbClr val="F5FAF7"/>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229600" y="4946904"/>
            <a:ext cx="658368" cy="658368"/>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0" y="4946904"/>
            <a:ext cx="658368" cy="658368"/>
          </a:xfrm>
          <a:prstGeom prst="rect">
            <a:avLst/>
          </a:prstGeom>
          <a:noFill/>
        </p:spPr>
        <p:txBody>
          <a:bodyPr wrap="none" lIns="0" rIns="0" tIns="0" bIns="0" anchor="ctr">
            <a:spAutoFit/>
          </a:bodyPr>
          <a:lstStyle/>
          <a:p>
            <a:pPr algn="ctr"/>
            <a:r>
              <a:rPr sz="2000">
                <a:latin typeface="Segoe UI Emoji"/>
              </a:rPr>
              <a:t>🔧</a:t>
            </a:r>
          </a:p>
        </p:txBody>
      </p:sp>
      <p:sp>
        <p:nvSpPr>
          <p:cNvPr id="50" name="TextBox 49"/>
          <p:cNvSpPr txBox="1"/>
          <p:nvPr/>
        </p:nvSpPr>
        <p:spPr>
          <a:xfrm>
            <a:off x="9006840" y="4919472"/>
            <a:ext cx="2468880" cy="320040"/>
          </a:xfrm>
          <a:prstGeom prst="rect">
            <a:avLst/>
          </a:prstGeom>
          <a:noFill/>
        </p:spPr>
        <p:txBody>
          <a:bodyPr wrap="square" lIns="0" rIns="0" tIns="0" bIns="0" anchor="t">
            <a:spAutoFit/>
          </a:bodyPr>
          <a:lstStyle/>
          <a:p>
            <a:pPr algn="l">
              <a:lnSpc>
                <a:spcPct val="100000"/>
              </a:lnSpc>
              <a:spcAft>
                <a:spcPts val="0"/>
              </a:spcAft>
            </a:pPr>
            <a:r>
              <a:rPr sz="1250" b="1" i="0">
                <a:solidFill>
                  <a:srgbClr val="1B4332"/>
                </a:solidFill>
                <a:latin typeface="Cambria"/>
              </a:rPr>
              <a:t>GitHub Actions / Codemagic</a:t>
            </a:r>
          </a:p>
        </p:txBody>
      </p:sp>
      <p:sp>
        <p:nvSpPr>
          <p:cNvPr id="51" name="TextBox 50"/>
          <p:cNvSpPr txBox="1"/>
          <p:nvPr/>
        </p:nvSpPr>
        <p:spPr>
          <a:xfrm>
            <a:off x="9006840" y="5248656"/>
            <a:ext cx="2468880" cy="457200"/>
          </a:xfrm>
          <a:prstGeom prst="rect">
            <a:avLst/>
          </a:prstGeom>
          <a:noFill/>
        </p:spPr>
        <p:txBody>
          <a:bodyPr wrap="square" lIns="0" rIns="0" tIns="0" bIns="0" anchor="t">
            <a:spAutoFit/>
          </a:bodyPr>
          <a:lstStyle/>
          <a:p>
            <a:pPr algn="l">
              <a:lnSpc>
                <a:spcPct val="110000"/>
              </a:lnSpc>
              <a:spcAft>
                <a:spcPts val="0"/>
              </a:spcAft>
            </a:pPr>
            <a:r>
              <a:rPr sz="950" b="0" i="0">
                <a:solidFill>
                  <a:srgbClr val="5C6B65"/>
                </a:solidFill>
                <a:latin typeface="Calibri"/>
              </a:rPr>
              <a:t>CI/CD — build Android, iOS, Web</a:t>
            </a:r>
          </a:p>
        </p:txBody>
      </p:sp>
      <p:cxnSp>
        <p:nvCxnSpPr>
          <p:cNvPr id="52" name="Connector 51"/>
          <p:cNvCxnSpPr/>
          <p:nvPr/>
        </p:nvCxnSpPr>
        <p:spPr>
          <a:xfrm>
            <a:off x="7680960" y="3497580"/>
            <a:ext cx="411480" cy="1792224"/>
          </a:xfrm>
          <a:prstGeom prst="line">
            <a:avLst/>
          </a:prstGeom>
          <a:ln w="19050">
            <a:solidFill>
              <a:srgbClr val="D7E6DD"/>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54" name="TextBox 53"/>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4 — TECHNOLOGIES ET REALISATION</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Choix de la stack technique</a:t>
            </a:r>
          </a:p>
        </p:txBody>
      </p:sp>
      <p:sp>
        <p:nvSpPr>
          <p:cNvPr id="6" name="Rounded Rectangle 5"/>
          <p:cNvSpPr/>
          <p:nvPr/>
        </p:nvSpPr>
        <p:spPr>
          <a:xfrm>
            <a:off x="548640" y="1554480"/>
            <a:ext cx="5440680" cy="44805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810512"/>
            <a:ext cx="146304" cy="146304"/>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19072"/>
            <a:ext cx="4617720" cy="365760"/>
          </a:xfrm>
          <a:prstGeom prst="rect">
            <a:avLst/>
          </a:prstGeom>
          <a:noFill/>
        </p:spPr>
        <p:txBody>
          <a:bodyPr wrap="square" lIns="0" rIns="0" tIns="0" bIns="0" anchor="t">
            <a:spAutoFit/>
          </a:bodyPr>
          <a:lstStyle/>
          <a:p>
            <a:pPr algn="l">
              <a:lnSpc>
                <a:spcPct val="100000"/>
              </a:lnSpc>
              <a:spcAft>
                <a:spcPts val="0"/>
              </a:spcAft>
            </a:pPr>
            <a:r>
              <a:rPr sz="1600" b="1" i="0">
                <a:solidFill>
                  <a:srgbClr val="1B4332"/>
                </a:solidFill>
                <a:latin typeface="Cambria"/>
              </a:rPr>
              <a:t>Client Flutter</a:t>
            </a:r>
          </a:p>
        </p:txBody>
      </p:sp>
      <p:sp>
        <p:nvSpPr>
          <p:cNvPr id="9" name="TextBox 8"/>
          <p:cNvSpPr txBox="1"/>
          <p:nvPr/>
        </p:nvSpPr>
        <p:spPr>
          <a:xfrm>
            <a:off x="822960" y="2331720"/>
            <a:ext cx="4892040" cy="292608"/>
          </a:xfrm>
          <a:prstGeom prst="rect">
            <a:avLst/>
          </a:prstGeom>
          <a:noFill/>
        </p:spPr>
        <p:txBody>
          <a:bodyPr wrap="square" lIns="0" rIns="0" tIns="0" bIns="0" anchor="t">
            <a:spAutoFit/>
          </a:bodyPr>
          <a:lstStyle/>
          <a:p>
            <a:pPr algn="l">
              <a:lnSpc>
                <a:spcPct val="100000"/>
              </a:lnSpc>
              <a:spcAft>
                <a:spcPts val="0"/>
              </a:spcAft>
            </a:pPr>
            <a:r>
              <a:rPr sz="1300" b="1" i="0">
                <a:solidFill>
                  <a:srgbClr val="2D6A4F"/>
                </a:solidFill>
                <a:latin typeface="Calibri"/>
              </a:rPr>
              <a:t>supabase_flutter</a:t>
            </a:r>
          </a:p>
        </p:txBody>
      </p:sp>
      <p:sp>
        <p:nvSpPr>
          <p:cNvPr id="10" name="TextBox 9"/>
          <p:cNvSpPr txBox="1"/>
          <p:nvPr/>
        </p:nvSpPr>
        <p:spPr>
          <a:xfrm>
            <a:off x="822960" y="2642616"/>
            <a:ext cx="4892040" cy="502920"/>
          </a:xfrm>
          <a:prstGeom prst="rect">
            <a:avLst/>
          </a:prstGeom>
          <a:noFill/>
        </p:spPr>
        <p:txBody>
          <a:bodyPr wrap="square" lIns="0" rIns="0" tIns="0" bIns="0" anchor="t">
            <a:spAutoFit/>
          </a:bodyPr>
          <a:lstStyle/>
          <a:p>
            <a:pPr algn="l">
              <a:lnSpc>
                <a:spcPct val="115000"/>
              </a:lnSpc>
              <a:spcAft>
                <a:spcPts val="0"/>
              </a:spcAft>
            </a:pPr>
            <a:r>
              <a:rPr sz="1100" b="0" i="0">
                <a:solidFill>
                  <a:srgbClr val="5C6B65"/>
                </a:solidFill>
                <a:latin typeface="Calibri"/>
              </a:rPr>
              <a:t>Authentification, requetes PostgREST, storage, realtime</a:t>
            </a:r>
          </a:p>
        </p:txBody>
      </p:sp>
      <p:sp>
        <p:nvSpPr>
          <p:cNvPr id="11" name="TextBox 10"/>
          <p:cNvSpPr txBox="1"/>
          <p:nvPr/>
        </p:nvSpPr>
        <p:spPr>
          <a:xfrm>
            <a:off x="822960" y="3246120"/>
            <a:ext cx="4892040" cy="292608"/>
          </a:xfrm>
          <a:prstGeom prst="rect">
            <a:avLst/>
          </a:prstGeom>
          <a:noFill/>
        </p:spPr>
        <p:txBody>
          <a:bodyPr wrap="square" lIns="0" rIns="0" tIns="0" bIns="0" anchor="t">
            <a:spAutoFit/>
          </a:bodyPr>
          <a:lstStyle/>
          <a:p>
            <a:pPr algn="l">
              <a:lnSpc>
                <a:spcPct val="100000"/>
              </a:lnSpc>
              <a:spcAft>
                <a:spcPts val="0"/>
              </a:spcAft>
            </a:pPr>
            <a:r>
              <a:rPr sz="1300" b="1" i="0">
                <a:solidFill>
                  <a:srgbClr val="2D6A4F"/>
                </a:solidFill>
                <a:latin typeface="Calibri"/>
              </a:rPr>
              <a:t>go_router</a:t>
            </a:r>
          </a:p>
        </p:txBody>
      </p:sp>
      <p:sp>
        <p:nvSpPr>
          <p:cNvPr id="12" name="TextBox 11"/>
          <p:cNvSpPr txBox="1"/>
          <p:nvPr/>
        </p:nvSpPr>
        <p:spPr>
          <a:xfrm>
            <a:off x="822960" y="3557016"/>
            <a:ext cx="4892040" cy="502920"/>
          </a:xfrm>
          <a:prstGeom prst="rect">
            <a:avLst/>
          </a:prstGeom>
          <a:noFill/>
        </p:spPr>
        <p:txBody>
          <a:bodyPr wrap="square" lIns="0" rIns="0" tIns="0" bIns="0" anchor="t">
            <a:spAutoFit/>
          </a:bodyPr>
          <a:lstStyle/>
          <a:p>
            <a:pPr algn="l">
              <a:lnSpc>
                <a:spcPct val="115000"/>
              </a:lnSpc>
              <a:spcAft>
                <a:spcPts val="0"/>
              </a:spcAft>
            </a:pPr>
            <a:r>
              <a:rPr sz="1100" b="0" i="0">
                <a:solidFill>
                  <a:srgbClr val="5C6B65"/>
                </a:solidFill>
                <a:latin typeface="Calibri"/>
              </a:rPr>
              <a:t>Navigation declarative selon le role utilisateur</a:t>
            </a:r>
          </a:p>
        </p:txBody>
      </p:sp>
      <p:sp>
        <p:nvSpPr>
          <p:cNvPr id="13" name="TextBox 12"/>
          <p:cNvSpPr txBox="1"/>
          <p:nvPr/>
        </p:nvSpPr>
        <p:spPr>
          <a:xfrm>
            <a:off x="822960" y="4160520"/>
            <a:ext cx="4892040" cy="292608"/>
          </a:xfrm>
          <a:prstGeom prst="rect">
            <a:avLst/>
          </a:prstGeom>
          <a:noFill/>
        </p:spPr>
        <p:txBody>
          <a:bodyPr wrap="square" lIns="0" rIns="0" tIns="0" bIns="0" anchor="t">
            <a:spAutoFit/>
          </a:bodyPr>
          <a:lstStyle/>
          <a:p>
            <a:pPr algn="l">
              <a:lnSpc>
                <a:spcPct val="100000"/>
              </a:lnSpc>
              <a:spcAft>
                <a:spcPts val="0"/>
              </a:spcAft>
            </a:pPr>
            <a:r>
              <a:rPr sz="1300" b="1" i="0">
                <a:solidFill>
                  <a:srgbClr val="2D6A4F"/>
                </a:solidFill>
                <a:latin typeface="Calibri"/>
              </a:rPr>
              <a:t>provider</a:t>
            </a:r>
          </a:p>
        </p:txBody>
      </p:sp>
      <p:sp>
        <p:nvSpPr>
          <p:cNvPr id="14" name="TextBox 13"/>
          <p:cNvSpPr txBox="1"/>
          <p:nvPr/>
        </p:nvSpPr>
        <p:spPr>
          <a:xfrm>
            <a:off x="822960" y="4471416"/>
            <a:ext cx="4892040" cy="502920"/>
          </a:xfrm>
          <a:prstGeom prst="rect">
            <a:avLst/>
          </a:prstGeom>
          <a:noFill/>
        </p:spPr>
        <p:txBody>
          <a:bodyPr wrap="square" lIns="0" rIns="0" tIns="0" bIns="0" anchor="t">
            <a:spAutoFit/>
          </a:bodyPr>
          <a:lstStyle/>
          <a:p>
            <a:pPr algn="l">
              <a:lnSpc>
                <a:spcPct val="115000"/>
              </a:lnSpc>
              <a:spcAft>
                <a:spcPts val="0"/>
              </a:spcAft>
            </a:pPr>
            <a:r>
              <a:rPr sz="1100" b="0" i="0">
                <a:solidFill>
                  <a:srgbClr val="5C6B65"/>
                </a:solidFill>
                <a:latin typeface="Calibri"/>
              </a:rPr>
              <a:t>Etat transverse (theme, session)</a:t>
            </a:r>
          </a:p>
        </p:txBody>
      </p:sp>
      <p:sp>
        <p:nvSpPr>
          <p:cNvPr id="15" name="TextBox 14"/>
          <p:cNvSpPr txBox="1"/>
          <p:nvPr/>
        </p:nvSpPr>
        <p:spPr>
          <a:xfrm>
            <a:off x="822960" y="5074920"/>
            <a:ext cx="4892040" cy="292608"/>
          </a:xfrm>
          <a:prstGeom prst="rect">
            <a:avLst/>
          </a:prstGeom>
          <a:noFill/>
        </p:spPr>
        <p:txBody>
          <a:bodyPr wrap="square" lIns="0" rIns="0" tIns="0" bIns="0" anchor="t">
            <a:spAutoFit/>
          </a:bodyPr>
          <a:lstStyle/>
          <a:p>
            <a:pPr algn="l">
              <a:lnSpc>
                <a:spcPct val="100000"/>
              </a:lnSpc>
              <a:spcAft>
                <a:spcPts val="0"/>
              </a:spcAft>
            </a:pPr>
            <a:r>
              <a:rPr sz="1300" b="1" i="0">
                <a:solidFill>
                  <a:srgbClr val="2D6A4F"/>
                </a:solidFill>
                <a:latin typeface="Calibri"/>
              </a:rPr>
              <a:t>flutter_map + latlong2 + geolocator</a:t>
            </a:r>
          </a:p>
        </p:txBody>
      </p:sp>
      <p:sp>
        <p:nvSpPr>
          <p:cNvPr id="16" name="TextBox 15"/>
          <p:cNvSpPr txBox="1"/>
          <p:nvPr/>
        </p:nvSpPr>
        <p:spPr>
          <a:xfrm>
            <a:off x="822960" y="5385816"/>
            <a:ext cx="4892040" cy="502920"/>
          </a:xfrm>
          <a:prstGeom prst="rect">
            <a:avLst/>
          </a:prstGeom>
          <a:noFill/>
        </p:spPr>
        <p:txBody>
          <a:bodyPr wrap="square" lIns="0" rIns="0" tIns="0" bIns="0" anchor="t">
            <a:spAutoFit/>
          </a:bodyPr>
          <a:lstStyle/>
          <a:p>
            <a:pPr algn="l">
              <a:lnSpc>
                <a:spcPct val="115000"/>
              </a:lnSpc>
              <a:spcAft>
                <a:spcPts val="0"/>
              </a:spcAft>
            </a:pPr>
            <a:r>
              <a:rPr sz="1100" b="0" i="0">
                <a:solidFill>
                  <a:srgbClr val="5C6B65"/>
                </a:solidFill>
                <a:latin typeface="Calibri"/>
              </a:rPr>
              <a:t>Carte interactive et geolocalisation</a:t>
            </a:r>
          </a:p>
        </p:txBody>
      </p:sp>
      <p:sp>
        <p:nvSpPr>
          <p:cNvPr id="17" name="Rounded Rectangle 16"/>
          <p:cNvSpPr/>
          <p:nvPr/>
        </p:nvSpPr>
        <p:spPr>
          <a:xfrm>
            <a:off x="6263640" y="1554480"/>
            <a:ext cx="5440680" cy="44805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37960" y="1810512"/>
            <a:ext cx="146304" cy="146304"/>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93992" y="1719072"/>
            <a:ext cx="4617720" cy="365760"/>
          </a:xfrm>
          <a:prstGeom prst="rect">
            <a:avLst/>
          </a:prstGeom>
          <a:noFill/>
        </p:spPr>
        <p:txBody>
          <a:bodyPr wrap="square" lIns="0" rIns="0" tIns="0" bIns="0" anchor="t">
            <a:spAutoFit/>
          </a:bodyPr>
          <a:lstStyle/>
          <a:p>
            <a:pPr algn="l">
              <a:lnSpc>
                <a:spcPct val="100000"/>
              </a:lnSpc>
              <a:spcAft>
                <a:spcPts val="0"/>
              </a:spcAft>
            </a:pPr>
            <a:r>
              <a:rPr sz="1600" b="1" i="0">
                <a:solidFill>
                  <a:srgbClr val="1B4332"/>
                </a:solidFill>
                <a:latin typeface="Cambria"/>
              </a:rPr>
              <a:t>Services &amp; Backend</a:t>
            </a:r>
          </a:p>
        </p:txBody>
      </p:sp>
      <p:sp>
        <p:nvSpPr>
          <p:cNvPr id="20" name="TextBox 19"/>
          <p:cNvSpPr txBox="1"/>
          <p:nvPr/>
        </p:nvSpPr>
        <p:spPr>
          <a:xfrm>
            <a:off x="6537960" y="2331720"/>
            <a:ext cx="4892040" cy="292608"/>
          </a:xfrm>
          <a:prstGeom prst="rect">
            <a:avLst/>
          </a:prstGeom>
          <a:noFill/>
        </p:spPr>
        <p:txBody>
          <a:bodyPr wrap="square" lIns="0" rIns="0" tIns="0" bIns="0" anchor="t">
            <a:spAutoFit/>
          </a:bodyPr>
          <a:lstStyle/>
          <a:p>
            <a:pPr algn="l">
              <a:lnSpc>
                <a:spcPct val="100000"/>
              </a:lnSpc>
              <a:spcAft>
                <a:spcPts val="0"/>
              </a:spcAft>
            </a:pPr>
            <a:r>
              <a:rPr sz="1300" b="1" i="0">
                <a:solidFill>
                  <a:srgbClr val="2D6A4F"/>
                </a:solidFill>
                <a:latin typeface="Calibri"/>
              </a:rPr>
              <a:t>Supabase / PostgreSQL / PostGIS</a:t>
            </a:r>
          </a:p>
        </p:txBody>
      </p:sp>
      <p:sp>
        <p:nvSpPr>
          <p:cNvPr id="21" name="TextBox 20"/>
          <p:cNvSpPr txBox="1"/>
          <p:nvPr/>
        </p:nvSpPr>
        <p:spPr>
          <a:xfrm>
            <a:off x="6537960" y="2642616"/>
            <a:ext cx="4892040" cy="502920"/>
          </a:xfrm>
          <a:prstGeom prst="rect">
            <a:avLst/>
          </a:prstGeom>
          <a:noFill/>
        </p:spPr>
        <p:txBody>
          <a:bodyPr wrap="square" lIns="0" rIns="0" tIns="0" bIns="0" anchor="t">
            <a:spAutoFit/>
          </a:bodyPr>
          <a:lstStyle/>
          <a:p>
            <a:pPr algn="l">
              <a:lnSpc>
                <a:spcPct val="115000"/>
              </a:lnSpc>
              <a:spcAft>
                <a:spcPts val="0"/>
              </a:spcAft>
            </a:pPr>
            <a:r>
              <a:rPr sz="1100" b="0" i="0">
                <a:solidFill>
                  <a:srgbClr val="5C6B65"/>
                </a:solidFill>
                <a:latin typeface="Calibri"/>
              </a:rPr>
              <a:t>BaaS : auth, DB relationnelle, extension geospatiale</a:t>
            </a:r>
          </a:p>
        </p:txBody>
      </p:sp>
      <p:sp>
        <p:nvSpPr>
          <p:cNvPr id="22" name="TextBox 21"/>
          <p:cNvSpPr txBox="1"/>
          <p:nvPr/>
        </p:nvSpPr>
        <p:spPr>
          <a:xfrm>
            <a:off x="6537960" y="3246120"/>
            <a:ext cx="4892040" cy="292608"/>
          </a:xfrm>
          <a:prstGeom prst="rect">
            <a:avLst/>
          </a:prstGeom>
          <a:noFill/>
        </p:spPr>
        <p:txBody>
          <a:bodyPr wrap="square" lIns="0" rIns="0" tIns="0" bIns="0" anchor="t">
            <a:spAutoFit/>
          </a:bodyPr>
          <a:lstStyle/>
          <a:p>
            <a:pPr algn="l">
              <a:lnSpc>
                <a:spcPct val="100000"/>
              </a:lnSpc>
              <a:spcAft>
                <a:spcPts val="0"/>
              </a:spcAft>
            </a:pPr>
            <a:r>
              <a:rPr sz="1300" b="1" i="0">
                <a:solidFill>
                  <a:srgbClr val="2D6A4F"/>
                </a:solidFill>
                <a:latin typeface="Calibri"/>
              </a:rPr>
              <a:t>onesignal_flutter</a:t>
            </a:r>
          </a:p>
        </p:txBody>
      </p:sp>
      <p:sp>
        <p:nvSpPr>
          <p:cNvPr id="23" name="TextBox 22"/>
          <p:cNvSpPr txBox="1"/>
          <p:nvPr/>
        </p:nvSpPr>
        <p:spPr>
          <a:xfrm>
            <a:off x="6537960" y="3557016"/>
            <a:ext cx="4892040" cy="502920"/>
          </a:xfrm>
          <a:prstGeom prst="rect">
            <a:avLst/>
          </a:prstGeom>
          <a:noFill/>
        </p:spPr>
        <p:txBody>
          <a:bodyPr wrap="square" lIns="0" rIns="0" tIns="0" bIns="0" anchor="t">
            <a:spAutoFit/>
          </a:bodyPr>
          <a:lstStyle/>
          <a:p>
            <a:pPr algn="l">
              <a:lnSpc>
                <a:spcPct val="115000"/>
              </a:lnSpc>
              <a:spcAft>
                <a:spcPts val="0"/>
              </a:spcAft>
            </a:pPr>
            <a:r>
              <a:rPr sz="1100" b="0" i="0">
                <a:solidFill>
                  <a:srgbClr val="5C6B65"/>
                </a:solidFill>
                <a:latin typeface="Calibri"/>
              </a:rPr>
              <a:t>Notifications push</a:t>
            </a:r>
          </a:p>
        </p:txBody>
      </p:sp>
      <p:sp>
        <p:nvSpPr>
          <p:cNvPr id="24" name="TextBox 23"/>
          <p:cNvSpPr txBox="1"/>
          <p:nvPr/>
        </p:nvSpPr>
        <p:spPr>
          <a:xfrm>
            <a:off x="6537960" y="4160520"/>
            <a:ext cx="4892040" cy="292608"/>
          </a:xfrm>
          <a:prstGeom prst="rect">
            <a:avLst/>
          </a:prstGeom>
          <a:noFill/>
        </p:spPr>
        <p:txBody>
          <a:bodyPr wrap="square" lIns="0" rIns="0" tIns="0" bIns="0" anchor="t">
            <a:spAutoFit/>
          </a:bodyPr>
          <a:lstStyle/>
          <a:p>
            <a:pPr algn="l">
              <a:lnSpc>
                <a:spcPct val="100000"/>
              </a:lnSpc>
              <a:spcAft>
                <a:spcPts val="0"/>
              </a:spcAft>
            </a:pPr>
            <a:r>
              <a:rPr sz="1300" b="1" i="0">
                <a:solidFill>
                  <a:srgbClr val="2D6A4F"/>
                </a:solidFill>
                <a:latin typeface="Calibri"/>
              </a:rPr>
              <a:t>image_picker + mime</a:t>
            </a:r>
          </a:p>
        </p:txBody>
      </p:sp>
      <p:sp>
        <p:nvSpPr>
          <p:cNvPr id="25" name="TextBox 24"/>
          <p:cNvSpPr txBox="1"/>
          <p:nvPr/>
        </p:nvSpPr>
        <p:spPr>
          <a:xfrm>
            <a:off x="6537960" y="4471416"/>
            <a:ext cx="4892040" cy="502920"/>
          </a:xfrm>
          <a:prstGeom prst="rect">
            <a:avLst/>
          </a:prstGeom>
          <a:noFill/>
        </p:spPr>
        <p:txBody>
          <a:bodyPr wrap="square" lIns="0" rIns="0" tIns="0" bIns="0" anchor="t">
            <a:spAutoFit/>
          </a:bodyPr>
          <a:lstStyle/>
          <a:p>
            <a:pPr algn="l">
              <a:lnSpc>
                <a:spcPct val="115000"/>
              </a:lnSpc>
              <a:spcAft>
                <a:spcPts val="0"/>
              </a:spcAft>
            </a:pPr>
            <a:r>
              <a:rPr sz="1100" b="0" i="0">
                <a:solidFill>
                  <a:srgbClr val="5C6B65"/>
                </a:solidFill>
                <a:latin typeface="Calibri"/>
              </a:rPr>
              <a:t>Capture et validation des photos avant upload</a:t>
            </a:r>
          </a:p>
        </p:txBody>
      </p:sp>
      <p:sp>
        <p:nvSpPr>
          <p:cNvPr id="26" name="TextBox 25"/>
          <p:cNvSpPr txBox="1"/>
          <p:nvPr/>
        </p:nvSpPr>
        <p:spPr>
          <a:xfrm>
            <a:off x="6537960" y="5074920"/>
            <a:ext cx="4892040" cy="292608"/>
          </a:xfrm>
          <a:prstGeom prst="rect">
            <a:avLst/>
          </a:prstGeom>
          <a:noFill/>
        </p:spPr>
        <p:txBody>
          <a:bodyPr wrap="square" lIns="0" rIns="0" tIns="0" bIns="0" anchor="t">
            <a:spAutoFit/>
          </a:bodyPr>
          <a:lstStyle/>
          <a:p>
            <a:pPr algn="l">
              <a:lnSpc>
                <a:spcPct val="100000"/>
              </a:lnSpc>
              <a:spcAft>
                <a:spcPts val="0"/>
              </a:spcAft>
            </a:pPr>
            <a:r>
              <a:rPr sz="1300" b="1" i="0">
                <a:solidFill>
                  <a:srgbClr val="2D6A4F"/>
                </a:solidFill>
                <a:latin typeface="Calibri"/>
              </a:rPr>
              <a:t>google_fonts / http</a:t>
            </a:r>
          </a:p>
        </p:txBody>
      </p:sp>
      <p:sp>
        <p:nvSpPr>
          <p:cNvPr id="27" name="TextBox 26"/>
          <p:cNvSpPr txBox="1"/>
          <p:nvPr/>
        </p:nvSpPr>
        <p:spPr>
          <a:xfrm>
            <a:off x="6537960" y="5385816"/>
            <a:ext cx="4892040" cy="502920"/>
          </a:xfrm>
          <a:prstGeom prst="rect">
            <a:avLst/>
          </a:prstGeom>
          <a:noFill/>
        </p:spPr>
        <p:txBody>
          <a:bodyPr wrap="square" lIns="0" rIns="0" tIns="0" bIns="0" anchor="t">
            <a:spAutoFit/>
          </a:bodyPr>
          <a:lstStyle/>
          <a:p>
            <a:pPr algn="l">
              <a:lnSpc>
                <a:spcPct val="115000"/>
              </a:lnSpc>
              <a:spcAft>
                <a:spcPts val="0"/>
              </a:spcAft>
            </a:pPr>
            <a:r>
              <a:rPr sz="1100" b="0" i="0">
                <a:solidFill>
                  <a:srgbClr val="5C6B65"/>
                </a:solidFill>
                <a:latin typeface="Calibri"/>
              </a:rPr>
              <a:t>Typographie et requetes complementaires</a:t>
            </a:r>
          </a:p>
        </p:txBody>
      </p:sp>
      <p:sp>
        <p:nvSpPr>
          <p:cNvPr id="28" name="TextBox 27"/>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29" name="TextBox 28"/>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3 — STRUCTURE DE LA BASE DE DONNEES</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11 tables PostgreSQL / PostGIS</a:t>
            </a:r>
          </a:p>
        </p:txBody>
      </p:sp>
      <p:sp>
        <p:nvSpPr>
          <p:cNvPr id="6" name="Oval 5"/>
          <p:cNvSpPr/>
          <p:nvPr/>
        </p:nvSpPr>
        <p:spPr>
          <a:xfrm>
            <a:off x="548640" y="1609344"/>
            <a:ext cx="128016" cy="128016"/>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554480"/>
            <a:ext cx="5148072" cy="256032"/>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libri"/>
              </a:rPr>
              <a:t>users</a:t>
            </a:r>
          </a:p>
        </p:txBody>
      </p:sp>
      <p:sp>
        <p:nvSpPr>
          <p:cNvPr id="8" name="TextBox 7"/>
          <p:cNvSpPr txBox="1"/>
          <p:nvPr/>
        </p:nvSpPr>
        <p:spPr>
          <a:xfrm>
            <a:off x="841248" y="1792224"/>
            <a:ext cx="5148072" cy="274320"/>
          </a:xfrm>
          <a:prstGeom prst="rect">
            <a:avLst/>
          </a:prstGeom>
          <a:noFill/>
        </p:spPr>
        <p:txBody>
          <a:bodyPr wrap="square" lIns="0" rIns="0" tIns="0" bIns="0" anchor="t">
            <a:spAutoFit/>
          </a:bodyPr>
          <a:lstStyle/>
          <a:p>
            <a:pPr algn="l">
              <a:lnSpc>
                <a:spcPct val="105000"/>
              </a:lnSpc>
              <a:spcAft>
                <a:spcPts val="0"/>
              </a:spcAft>
            </a:pPr>
            <a:r>
              <a:rPr sz="1050" b="0" i="0">
                <a:solidFill>
                  <a:srgbClr val="5C6B65"/>
                </a:solidFill>
                <a:latin typeface="Calibri"/>
              </a:rPr>
              <a:t>Profil applicatif (role, telephone, nom) lie a auth.users.</a:t>
            </a:r>
          </a:p>
        </p:txBody>
      </p:sp>
      <p:sp>
        <p:nvSpPr>
          <p:cNvPr id="9" name="Oval 8"/>
          <p:cNvSpPr/>
          <p:nvPr/>
        </p:nvSpPr>
        <p:spPr>
          <a:xfrm>
            <a:off x="548640" y="2212848"/>
            <a:ext cx="128016" cy="128016"/>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157984"/>
            <a:ext cx="5148072" cy="256032"/>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libri"/>
              </a:rPr>
              <a:t>addresses</a:t>
            </a:r>
          </a:p>
        </p:txBody>
      </p:sp>
      <p:sp>
        <p:nvSpPr>
          <p:cNvPr id="11" name="TextBox 10"/>
          <p:cNvSpPr txBox="1"/>
          <p:nvPr/>
        </p:nvSpPr>
        <p:spPr>
          <a:xfrm>
            <a:off x="841248" y="2395728"/>
            <a:ext cx="5148072" cy="274320"/>
          </a:xfrm>
          <a:prstGeom prst="rect">
            <a:avLst/>
          </a:prstGeom>
          <a:noFill/>
        </p:spPr>
        <p:txBody>
          <a:bodyPr wrap="square" lIns="0" rIns="0" tIns="0" bIns="0" anchor="t">
            <a:spAutoFit/>
          </a:bodyPr>
          <a:lstStyle/>
          <a:p>
            <a:pPr algn="l">
              <a:lnSpc>
                <a:spcPct val="105000"/>
              </a:lnSpc>
              <a:spcAft>
                <a:spcPts val="0"/>
              </a:spcAft>
            </a:pPr>
            <a:r>
              <a:rPr sz="1050" b="0" i="0">
                <a:solidFill>
                  <a:srgbClr val="5C6B65"/>
                </a:solidFill>
                <a:latin typeface="Calibri"/>
              </a:rPr>
              <a:t>Adresses geolocalisees ; colonne location generee via PostGIS.</a:t>
            </a:r>
          </a:p>
        </p:txBody>
      </p:sp>
      <p:sp>
        <p:nvSpPr>
          <p:cNvPr id="12" name="Oval 11"/>
          <p:cNvSpPr/>
          <p:nvPr/>
        </p:nvSpPr>
        <p:spPr>
          <a:xfrm>
            <a:off x="548640" y="2816352"/>
            <a:ext cx="128016" cy="128016"/>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761488"/>
            <a:ext cx="5148072" cy="256032"/>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libri"/>
              </a:rPr>
              <a:t>waste_requests</a:t>
            </a:r>
          </a:p>
        </p:txBody>
      </p:sp>
      <p:sp>
        <p:nvSpPr>
          <p:cNvPr id="14" name="TextBox 13"/>
          <p:cNvSpPr txBox="1"/>
          <p:nvPr/>
        </p:nvSpPr>
        <p:spPr>
          <a:xfrm>
            <a:off x="841248" y="2999232"/>
            <a:ext cx="5148072" cy="274320"/>
          </a:xfrm>
          <a:prstGeom prst="rect">
            <a:avLst/>
          </a:prstGeom>
          <a:noFill/>
        </p:spPr>
        <p:txBody>
          <a:bodyPr wrap="square" lIns="0" rIns="0" tIns="0" bIns="0" anchor="t">
            <a:spAutoFit/>
          </a:bodyPr>
          <a:lstStyle/>
          <a:p>
            <a:pPr algn="l">
              <a:lnSpc>
                <a:spcPct val="105000"/>
              </a:lnSpc>
              <a:spcAft>
                <a:spcPts val="0"/>
              </a:spcAft>
            </a:pPr>
            <a:r>
              <a:rPr sz="1050" b="0" i="0">
                <a:solidFill>
                  <a:srgbClr val="5C6B65"/>
                </a:solidFill>
                <a:latin typeface="Calibri"/>
              </a:rPr>
              <a:t>Signalement : entite centrale, statut pending -&gt; delivered.</a:t>
            </a:r>
          </a:p>
        </p:txBody>
      </p:sp>
      <p:sp>
        <p:nvSpPr>
          <p:cNvPr id="15" name="Oval 14"/>
          <p:cNvSpPr/>
          <p:nvPr/>
        </p:nvSpPr>
        <p:spPr>
          <a:xfrm>
            <a:off x="548640" y="3419856"/>
            <a:ext cx="128016" cy="128016"/>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364992"/>
            <a:ext cx="5148072" cy="256032"/>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libri"/>
              </a:rPr>
              <a:t>pickups</a:t>
            </a:r>
          </a:p>
        </p:txBody>
      </p:sp>
      <p:sp>
        <p:nvSpPr>
          <p:cNvPr id="17" name="TextBox 16"/>
          <p:cNvSpPr txBox="1"/>
          <p:nvPr/>
        </p:nvSpPr>
        <p:spPr>
          <a:xfrm>
            <a:off x="841248" y="3602736"/>
            <a:ext cx="5148072" cy="274320"/>
          </a:xfrm>
          <a:prstGeom prst="rect">
            <a:avLst/>
          </a:prstGeom>
          <a:noFill/>
        </p:spPr>
        <p:txBody>
          <a:bodyPr wrap="square" lIns="0" rIns="0" tIns="0" bIns="0" anchor="t">
            <a:spAutoFit/>
          </a:bodyPr>
          <a:lstStyle/>
          <a:p>
            <a:pPr algn="l">
              <a:lnSpc>
                <a:spcPct val="105000"/>
              </a:lnSpc>
              <a:spcAft>
                <a:spcPts val="0"/>
              </a:spcAft>
            </a:pPr>
            <a:r>
              <a:rPr sz="1050" b="0" i="0">
                <a:solidFill>
                  <a:srgbClr val="5C6B65"/>
                </a:solidFill>
                <a:latin typeface="Calibri"/>
              </a:rPr>
              <a:t>Mission de collecte associee a un signalement.</a:t>
            </a:r>
          </a:p>
        </p:txBody>
      </p:sp>
      <p:sp>
        <p:nvSpPr>
          <p:cNvPr id="18" name="Oval 17"/>
          <p:cNvSpPr/>
          <p:nvPr/>
        </p:nvSpPr>
        <p:spPr>
          <a:xfrm>
            <a:off x="548640" y="4023360"/>
            <a:ext cx="128016" cy="128016"/>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3968496"/>
            <a:ext cx="5148072" cy="256032"/>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libri"/>
              </a:rPr>
              <a:t>waste_request_photos</a:t>
            </a:r>
          </a:p>
        </p:txBody>
      </p:sp>
      <p:sp>
        <p:nvSpPr>
          <p:cNvPr id="20" name="TextBox 19"/>
          <p:cNvSpPr txBox="1"/>
          <p:nvPr/>
        </p:nvSpPr>
        <p:spPr>
          <a:xfrm>
            <a:off x="841248" y="4206240"/>
            <a:ext cx="5148072" cy="274320"/>
          </a:xfrm>
          <a:prstGeom prst="rect">
            <a:avLst/>
          </a:prstGeom>
          <a:noFill/>
        </p:spPr>
        <p:txBody>
          <a:bodyPr wrap="square" lIns="0" rIns="0" tIns="0" bIns="0" anchor="t">
            <a:spAutoFit/>
          </a:bodyPr>
          <a:lstStyle/>
          <a:p>
            <a:pPr algn="l">
              <a:lnSpc>
                <a:spcPct val="105000"/>
              </a:lnSpc>
              <a:spcAft>
                <a:spcPts val="0"/>
              </a:spcAft>
            </a:pPr>
            <a:r>
              <a:rPr sz="1050" b="0" i="0">
                <a:solidFill>
                  <a:srgbClr val="5C6B65"/>
                </a:solidFill>
                <a:latin typeface="Calibri"/>
              </a:rPr>
              <a:t>Photographies stockees dans Supabase Storage.</a:t>
            </a:r>
          </a:p>
        </p:txBody>
      </p:sp>
      <p:sp>
        <p:nvSpPr>
          <p:cNvPr id="21" name="Oval 20"/>
          <p:cNvSpPr/>
          <p:nvPr/>
        </p:nvSpPr>
        <p:spPr>
          <a:xfrm>
            <a:off x="6263640" y="1609344"/>
            <a:ext cx="128016" cy="128016"/>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6248" y="1554480"/>
            <a:ext cx="5148072" cy="256032"/>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libri"/>
              </a:rPr>
              <a:t>processing_events</a:t>
            </a:r>
          </a:p>
        </p:txBody>
      </p:sp>
      <p:sp>
        <p:nvSpPr>
          <p:cNvPr id="23" name="TextBox 22"/>
          <p:cNvSpPr txBox="1"/>
          <p:nvPr/>
        </p:nvSpPr>
        <p:spPr>
          <a:xfrm>
            <a:off x="6556248" y="1792224"/>
            <a:ext cx="5148072" cy="274320"/>
          </a:xfrm>
          <a:prstGeom prst="rect">
            <a:avLst/>
          </a:prstGeom>
          <a:noFill/>
        </p:spPr>
        <p:txBody>
          <a:bodyPr wrap="square" lIns="0" rIns="0" tIns="0" bIns="0" anchor="t">
            <a:spAutoFit/>
          </a:bodyPr>
          <a:lstStyle/>
          <a:p>
            <a:pPr algn="l">
              <a:lnSpc>
                <a:spcPct val="105000"/>
              </a:lnSpc>
              <a:spcAft>
                <a:spcPts val="0"/>
              </a:spcAft>
            </a:pPr>
            <a:r>
              <a:rPr sz="1050" b="0" i="0">
                <a:solidFill>
                  <a:srgbClr val="5C6B65"/>
                </a:solidFill>
                <a:latin typeface="Calibri"/>
              </a:rPr>
              <a:t>Pesee et validation par un centre de tri.</a:t>
            </a:r>
          </a:p>
        </p:txBody>
      </p:sp>
      <p:sp>
        <p:nvSpPr>
          <p:cNvPr id="24" name="Oval 23"/>
          <p:cNvSpPr/>
          <p:nvPr/>
        </p:nvSpPr>
        <p:spPr>
          <a:xfrm>
            <a:off x="6263640" y="2212848"/>
            <a:ext cx="128016" cy="128016"/>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56248" y="2157984"/>
            <a:ext cx="5148072" cy="256032"/>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libri"/>
              </a:rPr>
              <a:t>eco_transactions</a:t>
            </a:r>
          </a:p>
        </p:txBody>
      </p:sp>
      <p:sp>
        <p:nvSpPr>
          <p:cNvPr id="26" name="TextBox 25"/>
          <p:cNvSpPr txBox="1"/>
          <p:nvPr/>
        </p:nvSpPr>
        <p:spPr>
          <a:xfrm>
            <a:off x="6556248" y="2395728"/>
            <a:ext cx="5148072" cy="274320"/>
          </a:xfrm>
          <a:prstGeom prst="rect">
            <a:avLst/>
          </a:prstGeom>
          <a:noFill/>
        </p:spPr>
        <p:txBody>
          <a:bodyPr wrap="square" lIns="0" rIns="0" tIns="0" bIns="0" anchor="t">
            <a:spAutoFit/>
          </a:bodyPr>
          <a:lstStyle/>
          <a:p>
            <a:pPr algn="l">
              <a:lnSpc>
                <a:spcPct val="105000"/>
              </a:lnSpc>
              <a:spcAft>
                <a:spcPts val="0"/>
              </a:spcAft>
            </a:pPr>
            <a:r>
              <a:rPr sz="1050" b="0" i="0">
                <a:solidFill>
                  <a:srgbClr val="5C6B65"/>
                </a:solidFill>
                <a:latin typeface="Calibri"/>
              </a:rPr>
              <a:t>Historique des points ecologiques credites.</a:t>
            </a:r>
          </a:p>
        </p:txBody>
      </p:sp>
      <p:sp>
        <p:nvSpPr>
          <p:cNvPr id="27" name="Oval 26"/>
          <p:cNvSpPr/>
          <p:nvPr/>
        </p:nvSpPr>
        <p:spPr>
          <a:xfrm>
            <a:off x="6263640" y="2816352"/>
            <a:ext cx="128016" cy="128016"/>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56248" y="2761488"/>
            <a:ext cx="5148072" cy="256032"/>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libri"/>
              </a:rPr>
              <a:t>payout_requests</a:t>
            </a:r>
          </a:p>
        </p:txBody>
      </p:sp>
      <p:sp>
        <p:nvSpPr>
          <p:cNvPr id="29" name="TextBox 28"/>
          <p:cNvSpPr txBox="1"/>
          <p:nvPr/>
        </p:nvSpPr>
        <p:spPr>
          <a:xfrm>
            <a:off x="6556248" y="2999232"/>
            <a:ext cx="5148072" cy="274320"/>
          </a:xfrm>
          <a:prstGeom prst="rect">
            <a:avLst/>
          </a:prstGeom>
          <a:noFill/>
        </p:spPr>
        <p:txBody>
          <a:bodyPr wrap="square" lIns="0" rIns="0" tIns="0" bIns="0" anchor="t">
            <a:spAutoFit/>
          </a:bodyPr>
          <a:lstStyle/>
          <a:p>
            <a:pPr algn="l">
              <a:lnSpc>
                <a:spcPct val="105000"/>
              </a:lnSpc>
              <a:spcAft>
                <a:spcPts val="0"/>
              </a:spcAft>
            </a:pPr>
            <a:r>
              <a:rPr sz="1050" b="0" i="0">
                <a:solidFill>
                  <a:srgbClr val="5C6B65"/>
                </a:solidFill>
                <a:latin typeface="Calibri"/>
              </a:rPr>
              <a:t>Demande de retrait mobile money (XAF).</a:t>
            </a:r>
          </a:p>
        </p:txBody>
      </p:sp>
      <p:sp>
        <p:nvSpPr>
          <p:cNvPr id="30" name="Oval 29"/>
          <p:cNvSpPr/>
          <p:nvPr/>
        </p:nvSpPr>
        <p:spPr>
          <a:xfrm>
            <a:off x="6263640" y="3419856"/>
            <a:ext cx="128016" cy="128016"/>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56248" y="3364992"/>
            <a:ext cx="5148072" cy="256032"/>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libri"/>
              </a:rPr>
              <a:t>chat_threads / messages / members</a:t>
            </a:r>
          </a:p>
        </p:txBody>
      </p:sp>
      <p:sp>
        <p:nvSpPr>
          <p:cNvPr id="32" name="TextBox 31"/>
          <p:cNvSpPr txBox="1"/>
          <p:nvPr/>
        </p:nvSpPr>
        <p:spPr>
          <a:xfrm>
            <a:off x="6556248" y="3602736"/>
            <a:ext cx="5148072" cy="274320"/>
          </a:xfrm>
          <a:prstGeom prst="rect">
            <a:avLst/>
          </a:prstGeom>
          <a:noFill/>
        </p:spPr>
        <p:txBody>
          <a:bodyPr wrap="square" lIns="0" rIns="0" tIns="0" bIns="0" anchor="t">
            <a:spAutoFit/>
          </a:bodyPr>
          <a:lstStyle/>
          <a:p>
            <a:pPr algn="l">
              <a:lnSpc>
                <a:spcPct val="105000"/>
              </a:lnSpc>
              <a:spcAft>
                <a:spcPts val="0"/>
              </a:spcAft>
            </a:pPr>
            <a:r>
              <a:rPr sz="1050" b="0" i="0">
                <a:solidFill>
                  <a:srgbClr val="5C6B65"/>
                </a:solidFill>
                <a:latin typeface="Calibri"/>
              </a:rPr>
              <a:t>Messagerie liee a un signalement ou en direct.</a:t>
            </a:r>
          </a:p>
        </p:txBody>
      </p:sp>
      <p:sp>
        <p:nvSpPr>
          <p:cNvPr id="33" name="TextBox 32"/>
          <p:cNvSpPr txBox="1"/>
          <p:nvPr/>
        </p:nvSpPr>
        <p:spPr>
          <a:xfrm>
            <a:off x="548640" y="5440680"/>
            <a:ext cx="11094415" cy="822960"/>
          </a:xfrm>
          <a:prstGeom prst="rect">
            <a:avLst/>
          </a:prstGeom>
          <a:noFill/>
        </p:spPr>
        <p:txBody>
          <a:bodyPr wrap="square" lIns="0" rIns="0" tIns="0" bIns="0" anchor="t">
            <a:spAutoFit/>
          </a:bodyPr>
          <a:lstStyle/>
          <a:p>
            <a:pPr algn="l">
              <a:lnSpc>
                <a:spcPct val="125000"/>
              </a:lnSpc>
              <a:spcAft>
                <a:spcPts val="0"/>
              </a:spcAft>
            </a:pPr>
            <a:r>
              <a:rPr sz="1200" b="0" i="1">
                <a:solidFill>
                  <a:srgbClr val="1C2B24"/>
                </a:solidFill>
                <a:latin typeface="Calibri"/>
              </a:rPr>
              <a:t>La colonne addresses.location (geography) est calculee automatiquement et indexee par un index spatial GiST, permettant la fonction nearby_waste_requests(lat, lng, radius) : recherche de proximite executee cote base de donnees (ST_DWithin, tri par distance).</a:t>
            </a:r>
          </a:p>
        </p:txBody>
      </p:sp>
      <p:sp>
        <p:nvSpPr>
          <p:cNvPr id="34" name="TextBox 33"/>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35" name="TextBox 34"/>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3 — SECURITE DES DONNEES</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Defense en profondeur avec Row Level Security</a:t>
            </a:r>
          </a:p>
        </p:txBody>
      </p:sp>
      <p:sp>
        <p:nvSpPr>
          <p:cNvPr id="6" name="TextBox 5"/>
          <p:cNvSpPr txBox="1"/>
          <p:nvPr/>
        </p:nvSpPr>
        <p:spPr>
          <a:xfrm>
            <a:off x="548640" y="1508760"/>
            <a:ext cx="11094415" cy="594360"/>
          </a:xfrm>
          <a:prstGeom prst="rect">
            <a:avLst/>
          </a:prstGeom>
          <a:noFill/>
        </p:spPr>
        <p:txBody>
          <a:bodyPr wrap="square" lIns="0" rIns="0" tIns="0" bIns="0" anchor="t">
            <a:spAutoFit/>
          </a:bodyPr>
          <a:lstStyle/>
          <a:p>
            <a:pPr algn="l">
              <a:lnSpc>
                <a:spcPct val="120000"/>
              </a:lnSpc>
              <a:spcAft>
                <a:spcPts val="0"/>
              </a:spcAft>
            </a:pPr>
            <a:r>
              <a:rPr sz="1350" b="0" i="0">
                <a:solidFill>
                  <a:srgbClr val="1C2B24"/>
                </a:solidFill>
                <a:latin typeface="Calibri"/>
              </a:rPr>
              <a:t>Chaque requete, y compris via l'API REST auto-generee, est filtree au niveau du moteur PostgreSQL selon l'identite de l'utilisateur authentifie (auth.uid()) — independamment de toute logique cote client.</a:t>
            </a:r>
          </a:p>
        </p:txBody>
      </p:sp>
      <p:graphicFrame>
        <p:nvGraphicFramePr>
          <p:cNvPr id="7" name="Table 6"/>
          <p:cNvGraphicFramePr>
            <a:graphicFrameLocks noGrp="1"/>
          </p:cNvGraphicFramePr>
          <p:nvPr/>
        </p:nvGraphicFramePr>
        <p:xfrm>
          <a:off x="548640" y="2240280"/>
          <a:ext cx="11091672" cy="3566160"/>
        </p:xfrm>
        <a:graphic>
          <a:graphicData uri="http://schemas.openxmlformats.org/drawingml/2006/table">
            <a:tbl>
              <a:tblPr firstRow="1" bandRow="1">
                <a:tableStyleId>{5C22544A-7EE6-4342-B048-85BDC9FD1C3A}</a:tableStyleId>
              </a:tblPr>
              <a:tblGrid>
                <a:gridCol w="2286000"/>
                <a:gridCol w="3017520"/>
                <a:gridCol w="5788152"/>
              </a:tblGrid>
              <a:tr h="594360">
                <a:tc>
                  <a:txBody>
                    <a:bodyPr/>
                    <a:lstStyle/>
                    <a:p>
                      <a:r>
                        <a:rPr b="1" sz="1300">
                          <a:solidFill>
                            <a:srgbClr val="FFFFFF"/>
                          </a:solidFill>
                          <a:latin typeface="Calibri"/>
                        </a:rPr>
                        <a:t>Table</a:t>
                      </a:r>
                    </a:p>
                  </a:txBody>
                  <a:tcPr marL="128016" marR="128016" marT="54864" marB="54864" anchor="ctr">
                    <a:solidFill>
                      <a:srgbClr val="1B4332"/>
                    </a:solidFill>
                  </a:tcPr>
                </a:tc>
                <a:tc>
                  <a:txBody>
                    <a:bodyPr/>
                    <a:lstStyle/>
                    <a:p>
                      <a:r>
                        <a:rPr b="1" sz="1300">
                          <a:solidFill>
                            <a:srgbClr val="FFFFFF"/>
                          </a:solidFill>
                          <a:latin typeface="Calibri"/>
                        </a:rPr>
                        <a:t>Politique</a:t>
                      </a:r>
                    </a:p>
                  </a:txBody>
                  <a:tcPr marL="128016" marR="128016" marT="54864" marB="54864" anchor="ctr">
                    <a:solidFill>
                      <a:srgbClr val="1B4332"/>
                    </a:solidFill>
                  </a:tcPr>
                </a:tc>
                <a:tc>
                  <a:txBody>
                    <a:bodyPr/>
                    <a:lstStyle/>
                    <a:p>
                      <a:r>
                        <a:rPr b="1" sz="1300">
                          <a:solidFill>
                            <a:srgbClr val="FFFFFF"/>
                          </a:solidFill>
                          <a:latin typeface="Calibri"/>
                        </a:rPr>
                        <a:t>Regle appliquee</a:t>
                      </a:r>
                    </a:p>
                  </a:txBody>
                  <a:tcPr marL="128016" marR="128016" marT="54864" marB="54864" anchor="ctr">
                    <a:solidFill>
                      <a:srgbClr val="1B4332"/>
                    </a:solidFill>
                  </a:tcPr>
                </a:tc>
              </a:tr>
              <a:tr h="594360">
                <a:tc>
                  <a:txBody>
                    <a:bodyPr/>
                    <a:lstStyle/>
                    <a:p>
                      <a:r>
                        <a:rPr sz="1150">
                          <a:solidFill>
                            <a:srgbClr val="1C2B24"/>
                          </a:solidFill>
                          <a:latin typeface="Calibri"/>
                        </a:rPr>
                        <a:t>users</a:t>
                      </a:r>
                    </a:p>
                  </a:txBody>
                  <a:tcPr marL="128016" marR="128016" marT="54864" marB="54864" anchor="ctr">
                    <a:solidFill>
                      <a:srgbClr val="FFFFFF"/>
                    </a:solidFill>
                  </a:tcPr>
                </a:tc>
                <a:tc>
                  <a:txBody>
                    <a:bodyPr/>
                    <a:lstStyle/>
                    <a:p>
                      <a:r>
                        <a:rPr sz="1150" b="1">
                          <a:solidFill>
                            <a:srgbClr val="2D6A4F"/>
                          </a:solidFill>
                          <a:latin typeface="Calibri"/>
                        </a:rPr>
                        <a:t>users_update_self_or_admin</a:t>
                      </a:r>
                    </a:p>
                  </a:txBody>
                  <a:tcPr marL="128016" marR="128016" marT="54864" marB="54864" anchor="ctr">
                    <a:solidFill>
                      <a:srgbClr val="FFFFFF"/>
                    </a:solidFill>
                  </a:tcPr>
                </a:tc>
                <a:tc>
                  <a:txBody>
                    <a:bodyPr/>
                    <a:lstStyle/>
                    <a:p>
                      <a:r>
                        <a:rPr sz="1150">
                          <a:solidFill>
                            <a:srgbClr val="1C2B24"/>
                          </a:solidFill>
                          <a:latin typeface="Calibri"/>
                        </a:rPr>
                        <a:t>Un utilisateur ne modifie que son propre profil, sauf admin.</a:t>
                      </a:r>
                    </a:p>
                  </a:txBody>
                  <a:tcPr marL="128016" marR="128016" marT="54864" marB="54864" anchor="ctr">
                    <a:solidFill>
                      <a:srgbClr val="FFFFFF"/>
                    </a:solidFill>
                  </a:tcPr>
                </a:tc>
              </a:tr>
              <a:tr h="594360">
                <a:tc>
                  <a:txBody>
                    <a:bodyPr/>
                    <a:lstStyle/>
                    <a:p>
                      <a:r>
                        <a:rPr sz="1150">
                          <a:solidFill>
                            <a:srgbClr val="1C2B24"/>
                          </a:solidFill>
                          <a:latin typeface="Calibri"/>
                        </a:rPr>
                        <a:t>waste_requests</a:t>
                      </a:r>
                    </a:p>
                  </a:txBody>
                  <a:tcPr marL="128016" marR="128016" marT="54864" marB="54864" anchor="ctr">
                    <a:solidFill>
                      <a:srgbClr val="F5FAF7"/>
                    </a:solidFill>
                  </a:tcPr>
                </a:tc>
                <a:tc>
                  <a:txBody>
                    <a:bodyPr/>
                    <a:lstStyle/>
                    <a:p>
                      <a:r>
                        <a:rPr sz="1150" b="1">
                          <a:solidFill>
                            <a:srgbClr val="2D6A4F"/>
                          </a:solidFill>
                          <a:latin typeface="Calibri"/>
                        </a:rPr>
                        <a:t>update_owner_or_agent</a:t>
                      </a:r>
                    </a:p>
                  </a:txBody>
                  <a:tcPr marL="128016" marR="128016" marT="54864" marB="54864" anchor="ctr">
                    <a:solidFill>
                      <a:srgbClr val="F5FAF7"/>
                    </a:solidFill>
                  </a:tcPr>
                </a:tc>
                <a:tc>
                  <a:txBody>
                    <a:bodyPr/>
                    <a:lstStyle/>
                    <a:p>
                      <a:r>
                        <a:rPr sz="1150">
                          <a:solidFill>
                            <a:srgbClr val="1C2B24"/>
                          </a:solidFill>
                          <a:latin typeface="Calibri"/>
                        </a:rPr>
                        <a:t>Modification reservee au generateur, au collecteur assigne ou au centre/admin.</a:t>
                      </a:r>
                    </a:p>
                  </a:txBody>
                  <a:tcPr marL="128016" marR="128016" marT="54864" marB="54864" anchor="ctr">
                    <a:solidFill>
                      <a:srgbClr val="F5FAF7"/>
                    </a:solidFill>
                  </a:tcPr>
                </a:tc>
              </a:tr>
              <a:tr h="594360">
                <a:tc>
                  <a:txBody>
                    <a:bodyPr/>
                    <a:lstStyle/>
                    <a:p>
                      <a:r>
                        <a:rPr sz="1150">
                          <a:solidFill>
                            <a:srgbClr val="1C2B24"/>
                          </a:solidFill>
                          <a:latin typeface="Calibri"/>
                        </a:rPr>
                        <a:t>eco_transactions</a:t>
                      </a:r>
                    </a:p>
                  </a:txBody>
                  <a:tcPr marL="128016" marR="128016" marT="54864" marB="54864" anchor="ctr">
                    <a:solidFill>
                      <a:srgbClr val="FFFFFF"/>
                    </a:solidFill>
                  </a:tcPr>
                </a:tc>
                <a:tc>
                  <a:txBody>
                    <a:bodyPr/>
                    <a:lstStyle/>
                    <a:p>
                      <a:r>
                        <a:rPr sz="1150" b="1">
                          <a:solidFill>
                            <a:srgbClr val="2D6A4F"/>
                          </a:solidFill>
                          <a:latin typeface="Calibri"/>
                        </a:rPr>
                        <a:t>eco_transactions_insert_agent</a:t>
                      </a:r>
                    </a:p>
                  </a:txBody>
                  <a:tcPr marL="128016" marR="128016" marT="54864" marB="54864" anchor="ctr">
                    <a:solidFill>
                      <a:srgbClr val="FFFFFF"/>
                    </a:solidFill>
                  </a:tcPr>
                </a:tc>
                <a:tc>
                  <a:txBody>
                    <a:bodyPr/>
                    <a:lstStyle/>
                    <a:p>
                      <a:r>
                        <a:rPr sz="1150">
                          <a:solidFill>
                            <a:srgbClr val="1C2B24"/>
                          </a:solidFill>
                          <a:latin typeface="Calibri"/>
                        </a:rPr>
                        <a:t>Seul un centre de tri ou un admin peut crediter des points.</a:t>
                      </a:r>
                    </a:p>
                  </a:txBody>
                  <a:tcPr marL="128016" marR="128016" marT="54864" marB="54864" anchor="ctr">
                    <a:solidFill>
                      <a:srgbClr val="FFFFFF"/>
                    </a:solidFill>
                  </a:tcPr>
                </a:tc>
              </a:tr>
              <a:tr h="594360">
                <a:tc>
                  <a:txBody>
                    <a:bodyPr/>
                    <a:lstStyle/>
                    <a:p>
                      <a:r>
                        <a:rPr sz="1150">
                          <a:solidFill>
                            <a:srgbClr val="1C2B24"/>
                          </a:solidFill>
                          <a:latin typeface="Calibri"/>
                        </a:rPr>
                        <a:t>payout_requests</a:t>
                      </a:r>
                    </a:p>
                  </a:txBody>
                  <a:tcPr marL="128016" marR="128016" marT="54864" marB="54864" anchor="ctr">
                    <a:solidFill>
                      <a:srgbClr val="F5FAF7"/>
                    </a:solidFill>
                  </a:tcPr>
                </a:tc>
                <a:tc>
                  <a:txBody>
                    <a:bodyPr/>
                    <a:lstStyle/>
                    <a:p>
                      <a:r>
                        <a:rPr sz="1150" b="1">
                          <a:solidFill>
                            <a:srgbClr val="2D6A4F"/>
                          </a:solidFill>
                          <a:latin typeface="Calibri"/>
                        </a:rPr>
                        <a:t>payout_requests_update_admin</a:t>
                      </a:r>
                    </a:p>
                  </a:txBody>
                  <a:tcPr marL="128016" marR="128016" marT="54864" marB="54864" anchor="ctr">
                    <a:solidFill>
                      <a:srgbClr val="F5FAF7"/>
                    </a:solidFill>
                  </a:tcPr>
                </a:tc>
                <a:tc>
                  <a:txBody>
                    <a:bodyPr/>
                    <a:lstStyle/>
                    <a:p>
                      <a:r>
                        <a:rPr sz="1150">
                          <a:solidFill>
                            <a:srgbClr val="1C2B24"/>
                          </a:solidFill>
                          <a:latin typeface="Calibri"/>
                        </a:rPr>
                        <a:t>Seul un administrateur fait evoluer le statut d'un retrait.</a:t>
                      </a:r>
                    </a:p>
                  </a:txBody>
                  <a:tcPr marL="128016" marR="128016" marT="54864" marB="54864" anchor="ctr">
                    <a:solidFill>
                      <a:srgbClr val="F5FAF7"/>
                    </a:solidFill>
                  </a:tcPr>
                </a:tc>
              </a:tr>
              <a:tr h="594360">
                <a:tc>
                  <a:txBody>
                    <a:bodyPr/>
                    <a:lstStyle/>
                    <a:p>
                      <a:r>
                        <a:rPr sz="1150">
                          <a:solidFill>
                            <a:srgbClr val="1C2B24"/>
                          </a:solidFill>
                          <a:latin typeface="Calibri"/>
                        </a:rPr>
                        <a:t>chat_messages</a:t>
                      </a:r>
                    </a:p>
                  </a:txBody>
                  <a:tcPr marL="128016" marR="128016" marT="54864" marB="54864" anchor="ctr">
                    <a:solidFill>
                      <a:srgbClr val="FFFFFF"/>
                    </a:solidFill>
                  </a:tcPr>
                </a:tc>
                <a:tc>
                  <a:txBody>
                    <a:bodyPr/>
                    <a:lstStyle/>
                    <a:p>
                      <a:r>
                        <a:rPr sz="1150" b="1">
                          <a:solidFill>
                            <a:srgbClr val="2D6A4F"/>
                          </a:solidFill>
                          <a:latin typeface="Calibri"/>
                        </a:rPr>
                        <a:t>insert_member</a:t>
                      </a:r>
                    </a:p>
                  </a:txBody>
                  <a:tcPr marL="128016" marR="128016" marT="54864" marB="54864" anchor="ctr">
                    <a:solidFill>
                      <a:srgbClr val="FFFFFF"/>
                    </a:solidFill>
                  </a:tcPr>
                </a:tc>
                <a:tc>
                  <a:txBody>
                    <a:bodyPr/>
                    <a:lstStyle/>
                    <a:p>
                      <a:r>
                        <a:rPr sz="1150">
                          <a:solidFill>
                            <a:srgbClr val="1C2B24"/>
                          </a:solidFill>
                          <a:latin typeface="Calibri"/>
                        </a:rPr>
                        <a:t>Un message ne peut etre envoye que par un membre du fil concerne.</a:t>
                      </a:r>
                    </a:p>
                  </a:txBody>
                  <a:tcPr marL="128016" marR="128016" marT="54864" marB="54864" anchor="ctr">
                    <a:solidFill>
                      <a:srgbClr val="FFFFFF"/>
                    </a:solidFill>
                  </a:tcPr>
                </a:tc>
              </a:tr>
            </a:tbl>
          </a:graphicData>
        </a:graphic>
      </p:graphicFrame>
      <p:sp>
        <p:nvSpPr>
          <p:cNvPr id="8" name="TextBox 7"/>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9" name="TextBox 8"/>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3 — DIAGRAMME DE SEQUENCE</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Cycle de vie complet d'un signalement</a:t>
            </a:r>
          </a:p>
        </p:txBody>
      </p:sp>
      <p:cxnSp>
        <p:nvCxnSpPr>
          <p:cNvPr id="6" name="Connector 5"/>
          <p:cNvCxnSpPr/>
          <p:nvPr/>
        </p:nvCxnSpPr>
        <p:spPr>
          <a:xfrm>
            <a:off x="2561691" y="3429000"/>
            <a:ext cx="292608" cy="0"/>
          </a:xfrm>
          <a:prstGeom prst="line">
            <a:avLst/>
          </a:prstGeom>
          <a:ln w="31750">
            <a:solidFill>
              <a:srgbClr val="FFB70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95731" y="2194560"/>
            <a:ext cx="1965960" cy="246888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04391" y="1901952"/>
            <a:ext cx="548640" cy="548640"/>
          </a:xfrm>
          <a:prstGeom prst="ellipse">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04391" y="1901952"/>
            <a:ext cx="548640" cy="548640"/>
          </a:xfrm>
          <a:prstGeom prst="rect">
            <a:avLst/>
          </a:prstGeom>
          <a:noFill/>
        </p:spPr>
        <p:txBody>
          <a:bodyPr wrap="square" lIns="0" rIns="0" tIns="0" bIns="0" anchor="ctr">
            <a:spAutoFit/>
          </a:bodyPr>
          <a:lstStyle/>
          <a:p>
            <a:pPr algn="ctr">
              <a:lnSpc>
                <a:spcPct val="100000"/>
              </a:lnSpc>
              <a:spcAft>
                <a:spcPts val="0"/>
              </a:spcAft>
            </a:pPr>
            <a:r>
              <a:rPr sz="1600" b="1" i="0">
                <a:solidFill>
                  <a:srgbClr val="FFFFFF"/>
                </a:solidFill>
                <a:latin typeface="Cambria"/>
              </a:rPr>
              <a:t>1</a:t>
            </a:r>
          </a:p>
        </p:txBody>
      </p:sp>
      <p:sp>
        <p:nvSpPr>
          <p:cNvPr id="10" name="Oval 9"/>
          <p:cNvSpPr/>
          <p:nvPr/>
        </p:nvSpPr>
        <p:spPr>
          <a:xfrm>
            <a:off x="1327251" y="2578608"/>
            <a:ext cx="502920" cy="502920"/>
          </a:xfrm>
          <a:prstGeom prst="ellipse">
            <a:avLst/>
          </a:prstGeom>
          <a:solidFill>
            <a:srgbClr val="F5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7251" y="2578608"/>
            <a:ext cx="502920" cy="502920"/>
          </a:xfrm>
          <a:prstGeom prst="rect">
            <a:avLst/>
          </a:prstGeom>
          <a:noFill/>
        </p:spPr>
        <p:txBody>
          <a:bodyPr wrap="none" lIns="0" rIns="0" tIns="0" bIns="0" anchor="ctr">
            <a:spAutoFit/>
          </a:bodyPr>
          <a:lstStyle/>
          <a:p>
            <a:pPr algn="ctr"/>
            <a:r>
              <a:rPr sz="2000">
                <a:latin typeface="Segoe UI Emoji"/>
              </a:rPr>
              <a:t>📍</a:t>
            </a:r>
          </a:p>
        </p:txBody>
      </p:sp>
      <p:sp>
        <p:nvSpPr>
          <p:cNvPr id="12" name="TextBox 11"/>
          <p:cNvSpPr txBox="1"/>
          <p:nvPr/>
        </p:nvSpPr>
        <p:spPr>
          <a:xfrm>
            <a:off x="687171" y="3246120"/>
            <a:ext cx="1783080" cy="365760"/>
          </a:xfrm>
          <a:prstGeom prst="rect">
            <a:avLst/>
          </a:prstGeom>
          <a:noFill/>
        </p:spPr>
        <p:txBody>
          <a:bodyPr wrap="square" lIns="0" rIns="0" tIns="0" bIns="0" anchor="t">
            <a:spAutoFit/>
          </a:bodyPr>
          <a:lstStyle/>
          <a:p>
            <a:pPr algn="ctr">
              <a:lnSpc>
                <a:spcPct val="100000"/>
              </a:lnSpc>
              <a:spcAft>
                <a:spcPts val="0"/>
              </a:spcAft>
            </a:pPr>
            <a:r>
              <a:rPr sz="1350" b="1" i="0">
                <a:solidFill>
                  <a:srgbClr val="1B4332"/>
                </a:solidFill>
                <a:latin typeface="Cambria"/>
              </a:rPr>
              <a:t>Signalement</a:t>
            </a:r>
          </a:p>
        </p:txBody>
      </p:sp>
      <p:sp>
        <p:nvSpPr>
          <p:cNvPr id="13" name="TextBox 12"/>
          <p:cNvSpPr txBox="1"/>
          <p:nvPr/>
        </p:nvSpPr>
        <p:spPr>
          <a:xfrm>
            <a:off x="687171" y="3611880"/>
            <a:ext cx="1783080"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FB703"/>
                </a:solidFill>
                <a:latin typeface="Calibri"/>
              </a:rPr>
              <a:t>Generateur</a:t>
            </a:r>
          </a:p>
        </p:txBody>
      </p:sp>
      <p:sp>
        <p:nvSpPr>
          <p:cNvPr id="14" name="TextBox 13"/>
          <p:cNvSpPr txBox="1"/>
          <p:nvPr/>
        </p:nvSpPr>
        <p:spPr>
          <a:xfrm>
            <a:off x="732891" y="3931920"/>
            <a:ext cx="1691640" cy="640080"/>
          </a:xfrm>
          <a:prstGeom prst="rect">
            <a:avLst/>
          </a:prstGeom>
          <a:noFill/>
        </p:spPr>
        <p:txBody>
          <a:bodyPr wrap="square" lIns="0" rIns="0" tIns="0" bIns="0" anchor="t">
            <a:spAutoFit/>
          </a:bodyPr>
          <a:lstStyle/>
          <a:p>
            <a:pPr algn="ctr">
              <a:lnSpc>
                <a:spcPct val="115000"/>
              </a:lnSpc>
              <a:spcAft>
                <a:spcPts val="0"/>
              </a:spcAft>
            </a:pPr>
            <a:r>
              <a:rPr sz="950" b="0" i="0">
                <a:solidFill>
                  <a:srgbClr val="5C6B65"/>
                </a:solidFill>
                <a:latin typeface="Calibri"/>
              </a:rPr>
              <a:t>Photo + GPS, statut pending</a:t>
            </a:r>
          </a:p>
        </p:txBody>
      </p:sp>
      <p:cxnSp>
        <p:nvCxnSpPr>
          <p:cNvPr id="15" name="Connector 14"/>
          <p:cNvCxnSpPr/>
          <p:nvPr/>
        </p:nvCxnSpPr>
        <p:spPr>
          <a:xfrm>
            <a:off x="4820259" y="3429000"/>
            <a:ext cx="292608" cy="0"/>
          </a:xfrm>
          <a:prstGeom prst="line">
            <a:avLst/>
          </a:prstGeom>
          <a:ln w="31750">
            <a:solidFill>
              <a:srgbClr val="FFB70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54299" y="2194560"/>
            <a:ext cx="1965960" cy="246888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62959" y="1901952"/>
            <a:ext cx="548640" cy="548640"/>
          </a:xfrm>
          <a:prstGeom prst="ellipse">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2959" y="1901952"/>
            <a:ext cx="548640" cy="548640"/>
          </a:xfrm>
          <a:prstGeom prst="rect">
            <a:avLst/>
          </a:prstGeom>
          <a:noFill/>
        </p:spPr>
        <p:txBody>
          <a:bodyPr wrap="square" lIns="0" rIns="0" tIns="0" bIns="0" anchor="ctr">
            <a:spAutoFit/>
          </a:bodyPr>
          <a:lstStyle/>
          <a:p>
            <a:pPr algn="ctr">
              <a:lnSpc>
                <a:spcPct val="100000"/>
              </a:lnSpc>
              <a:spcAft>
                <a:spcPts val="0"/>
              </a:spcAft>
            </a:pPr>
            <a:r>
              <a:rPr sz="1600" b="1" i="0">
                <a:solidFill>
                  <a:srgbClr val="FFFFFF"/>
                </a:solidFill>
                <a:latin typeface="Cambria"/>
              </a:rPr>
              <a:t>2</a:t>
            </a:r>
          </a:p>
        </p:txBody>
      </p:sp>
      <p:sp>
        <p:nvSpPr>
          <p:cNvPr id="19" name="Oval 18"/>
          <p:cNvSpPr/>
          <p:nvPr/>
        </p:nvSpPr>
        <p:spPr>
          <a:xfrm>
            <a:off x="3585819" y="2578608"/>
            <a:ext cx="502920" cy="502920"/>
          </a:xfrm>
          <a:prstGeom prst="ellipse">
            <a:avLst/>
          </a:prstGeom>
          <a:solidFill>
            <a:srgbClr val="F5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5819" y="2578608"/>
            <a:ext cx="502920" cy="502920"/>
          </a:xfrm>
          <a:prstGeom prst="rect">
            <a:avLst/>
          </a:prstGeom>
          <a:noFill/>
        </p:spPr>
        <p:txBody>
          <a:bodyPr wrap="none" lIns="0" rIns="0" tIns="0" bIns="0" anchor="ctr">
            <a:spAutoFit/>
          </a:bodyPr>
          <a:lstStyle/>
          <a:p>
            <a:pPr algn="ctr"/>
            <a:r>
              <a:rPr sz="2000">
                <a:latin typeface="Segoe UI Emoji"/>
              </a:rPr>
              <a:t>🤝</a:t>
            </a:r>
          </a:p>
        </p:txBody>
      </p:sp>
      <p:sp>
        <p:nvSpPr>
          <p:cNvPr id="21" name="TextBox 20"/>
          <p:cNvSpPr txBox="1"/>
          <p:nvPr/>
        </p:nvSpPr>
        <p:spPr>
          <a:xfrm>
            <a:off x="2945739" y="3246120"/>
            <a:ext cx="1783080" cy="365760"/>
          </a:xfrm>
          <a:prstGeom prst="rect">
            <a:avLst/>
          </a:prstGeom>
          <a:noFill/>
        </p:spPr>
        <p:txBody>
          <a:bodyPr wrap="square" lIns="0" rIns="0" tIns="0" bIns="0" anchor="t">
            <a:spAutoFit/>
          </a:bodyPr>
          <a:lstStyle/>
          <a:p>
            <a:pPr algn="ctr">
              <a:lnSpc>
                <a:spcPct val="100000"/>
              </a:lnSpc>
              <a:spcAft>
                <a:spcPts val="0"/>
              </a:spcAft>
            </a:pPr>
            <a:r>
              <a:rPr sz="1350" b="1" i="0">
                <a:solidFill>
                  <a:srgbClr val="1B4332"/>
                </a:solidFill>
                <a:latin typeface="Cambria"/>
              </a:rPr>
              <a:t>Acceptation</a:t>
            </a:r>
          </a:p>
        </p:txBody>
      </p:sp>
      <p:sp>
        <p:nvSpPr>
          <p:cNvPr id="22" name="TextBox 21"/>
          <p:cNvSpPr txBox="1"/>
          <p:nvPr/>
        </p:nvSpPr>
        <p:spPr>
          <a:xfrm>
            <a:off x="2945739" y="3611880"/>
            <a:ext cx="1783080"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FB703"/>
                </a:solidFill>
                <a:latin typeface="Calibri"/>
              </a:rPr>
              <a:t>Collecteur</a:t>
            </a:r>
          </a:p>
        </p:txBody>
      </p:sp>
      <p:sp>
        <p:nvSpPr>
          <p:cNvPr id="23" name="TextBox 22"/>
          <p:cNvSpPr txBox="1"/>
          <p:nvPr/>
        </p:nvSpPr>
        <p:spPr>
          <a:xfrm>
            <a:off x="2991459" y="3931920"/>
            <a:ext cx="1691640" cy="640080"/>
          </a:xfrm>
          <a:prstGeom prst="rect">
            <a:avLst/>
          </a:prstGeom>
          <a:noFill/>
        </p:spPr>
        <p:txBody>
          <a:bodyPr wrap="square" lIns="0" rIns="0" tIns="0" bIns="0" anchor="t">
            <a:spAutoFit/>
          </a:bodyPr>
          <a:lstStyle/>
          <a:p>
            <a:pPr algn="ctr">
              <a:lnSpc>
                <a:spcPct val="115000"/>
              </a:lnSpc>
              <a:spcAft>
                <a:spcPts val="0"/>
              </a:spcAft>
            </a:pPr>
            <a:r>
              <a:rPr sz="950" b="0" i="0">
                <a:solidFill>
                  <a:srgbClr val="5C6B65"/>
                </a:solidFill>
                <a:latin typeface="Calibri"/>
              </a:rPr>
              <a:t>Mission verrouillee, statut accepted</a:t>
            </a:r>
          </a:p>
        </p:txBody>
      </p:sp>
      <p:cxnSp>
        <p:nvCxnSpPr>
          <p:cNvPr id="24" name="Connector 23"/>
          <p:cNvCxnSpPr/>
          <p:nvPr/>
        </p:nvCxnSpPr>
        <p:spPr>
          <a:xfrm>
            <a:off x="7078827" y="3429000"/>
            <a:ext cx="292608" cy="0"/>
          </a:xfrm>
          <a:prstGeom prst="line">
            <a:avLst/>
          </a:prstGeom>
          <a:ln w="31750">
            <a:solidFill>
              <a:srgbClr val="FFB703"/>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12867" y="2194560"/>
            <a:ext cx="1965960" cy="246888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21527" y="1901952"/>
            <a:ext cx="548640" cy="548640"/>
          </a:xfrm>
          <a:prstGeom prst="ellipse">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21527" y="1901952"/>
            <a:ext cx="548640" cy="548640"/>
          </a:xfrm>
          <a:prstGeom prst="rect">
            <a:avLst/>
          </a:prstGeom>
          <a:noFill/>
        </p:spPr>
        <p:txBody>
          <a:bodyPr wrap="square" lIns="0" rIns="0" tIns="0" bIns="0" anchor="ctr">
            <a:spAutoFit/>
          </a:bodyPr>
          <a:lstStyle/>
          <a:p>
            <a:pPr algn="ctr">
              <a:lnSpc>
                <a:spcPct val="100000"/>
              </a:lnSpc>
              <a:spcAft>
                <a:spcPts val="0"/>
              </a:spcAft>
            </a:pPr>
            <a:r>
              <a:rPr sz="1600" b="1" i="0">
                <a:solidFill>
                  <a:srgbClr val="FFFFFF"/>
                </a:solidFill>
                <a:latin typeface="Cambria"/>
              </a:rPr>
              <a:t>3</a:t>
            </a:r>
          </a:p>
        </p:txBody>
      </p:sp>
      <p:sp>
        <p:nvSpPr>
          <p:cNvPr id="28" name="Oval 27"/>
          <p:cNvSpPr/>
          <p:nvPr/>
        </p:nvSpPr>
        <p:spPr>
          <a:xfrm>
            <a:off x="5844387" y="2578608"/>
            <a:ext cx="502920" cy="502920"/>
          </a:xfrm>
          <a:prstGeom prst="ellipse">
            <a:avLst/>
          </a:prstGeom>
          <a:solidFill>
            <a:srgbClr val="F5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44387" y="2578608"/>
            <a:ext cx="502920" cy="502920"/>
          </a:xfrm>
          <a:prstGeom prst="rect">
            <a:avLst/>
          </a:prstGeom>
          <a:noFill/>
        </p:spPr>
        <p:txBody>
          <a:bodyPr wrap="none" lIns="0" rIns="0" tIns="0" bIns="0" anchor="ctr">
            <a:spAutoFit/>
          </a:bodyPr>
          <a:lstStyle/>
          <a:p>
            <a:pPr algn="ctr"/>
            <a:r>
              <a:rPr sz="2000">
                <a:latin typeface="Segoe UI Emoji"/>
              </a:rPr>
              <a:t>🚚</a:t>
            </a:r>
          </a:p>
        </p:txBody>
      </p:sp>
      <p:sp>
        <p:nvSpPr>
          <p:cNvPr id="30" name="TextBox 29"/>
          <p:cNvSpPr txBox="1"/>
          <p:nvPr/>
        </p:nvSpPr>
        <p:spPr>
          <a:xfrm>
            <a:off x="5204307" y="3246120"/>
            <a:ext cx="1783080" cy="365760"/>
          </a:xfrm>
          <a:prstGeom prst="rect">
            <a:avLst/>
          </a:prstGeom>
          <a:noFill/>
        </p:spPr>
        <p:txBody>
          <a:bodyPr wrap="square" lIns="0" rIns="0" tIns="0" bIns="0" anchor="t">
            <a:spAutoFit/>
          </a:bodyPr>
          <a:lstStyle/>
          <a:p>
            <a:pPr algn="ctr">
              <a:lnSpc>
                <a:spcPct val="100000"/>
              </a:lnSpc>
              <a:spcAft>
                <a:spcPts val="0"/>
              </a:spcAft>
            </a:pPr>
            <a:r>
              <a:rPr sz="1350" b="1" i="0">
                <a:solidFill>
                  <a:srgbClr val="1B4332"/>
                </a:solidFill>
                <a:latin typeface="Cambria"/>
              </a:rPr>
              <a:t>Collecte</a:t>
            </a:r>
          </a:p>
        </p:txBody>
      </p:sp>
      <p:sp>
        <p:nvSpPr>
          <p:cNvPr id="31" name="TextBox 30"/>
          <p:cNvSpPr txBox="1"/>
          <p:nvPr/>
        </p:nvSpPr>
        <p:spPr>
          <a:xfrm>
            <a:off x="5204307" y="3611880"/>
            <a:ext cx="1783080"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FB703"/>
                </a:solidFill>
                <a:latin typeface="Calibri"/>
              </a:rPr>
              <a:t>Collecteur</a:t>
            </a:r>
          </a:p>
        </p:txBody>
      </p:sp>
      <p:sp>
        <p:nvSpPr>
          <p:cNvPr id="32" name="TextBox 31"/>
          <p:cNvSpPr txBox="1"/>
          <p:nvPr/>
        </p:nvSpPr>
        <p:spPr>
          <a:xfrm>
            <a:off x="5250027" y="3931920"/>
            <a:ext cx="1691640" cy="640080"/>
          </a:xfrm>
          <a:prstGeom prst="rect">
            <a:avLst/>
          </a:prstGeom>
          <a:noFill/>
        </p:spPr>
        <p:txBody>
          <a:bodyPr wrap="square" lIns="0" rIns="0" tIns="0" bIns="0" anchor="t">
            <a:spAutoFit/>
          </a:bodyPr>
          <a:lstStyle/>
          <a:p>
            <a:pPr algn="ctr">
              <a:lnSpc>
                <a:spcPct val="115000"/>
              </a:lnSpc>
              <a:spcAft>
                <a:spcPts val="0"/>
              </a:spcAft>
            </a:pPr>
            <a:r>
              <a:rPr sz="950" b="0" i="0">
                <a:solidFill>
                  <a:srgbClr val="5C6B65"/>
                </a:solidFill>
                <a:latin typeface="Calibri"/>
              </a:rPr>
              <a:t>Marque collecte, statut collected</a:t>
            </a:r>
          </a:p>
        </p:txBody>
      </p:sp>
      <p:cxnSp>
        <p:nvCxnSpPr>
          <p:cNvPr id="33" name="Connector 32"/>
          <p:cNvCxnSpPr/>
          <p:nvPr/>
        </p:nvCxnSpPr>
        <p:spPr>
          <a:xfrm>
            <a:off x="9337395" y="3429000"/>
            <a:ext cx="292608" cy="0"/>
          </a:xfrm>
          <a:prstGeom prst="line">
            <a:avLst/>
          </a:prstGeom>
          <a:ln w="31750">
            <a:solidFill>
              <a:srgbClr val="FFB703"/>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371435" y="2194560"/>
            <a:ext cx="1965960" cy="246888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080095" y="1901952"/>
            <a:ext cx="548640" cy="548640"/>
          </a:xfrm>
          <a:prstGeom prst="ellipse">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80095" y="1901952"/>
            <a:ext cx="548640" cy="548640"/>
          </a:xfrm>
          <a:prstGeom prst="rect">
            <a:avLst/>
          </a:prstGeom>
          <a:noFill/>
        </p:spPr>
        <p:txBody>
          <a:bodyPr wrap="square" lIns="0" rIns="0" tIns="0" bIns="0" anchor="ctr">
            <a:spAutoFit/>
          </a:bodyPr>
          <a:lstStyle/>
          <a:p>
            <a:pPr algn="ctr">
              <a:lnSpc>
                <a:spcPct val="100000"/>
              </a:lnSpc>
              <a:spcAft>
                <a:spcPts val="0"/>
              </a:spcAft>
            </a:pPr>
            <a:r>
              <a:rPr sz="1600" b="1" i="0">
                <a:solidFill>
                  <a:srgbClr val="FFFFFF"/>
                </a:solidFill>
                <a:latin typeface="Cambria"/>
              </a:rPr>
              <a:t>4</a:t>
            </a:r>
          </a:p>
        </p:txBody>
      </p:sp>
      <p:sp>
        <p:nvSpPr>
          <p:cNvPr id="37" name="Oval 36"/>
          <p:cNvSpPr/>
          <p:nvPr/>
        </p:nvSpPr>
        <p:spPr>
          <a:xfrm>
            <a:off x="8102955" y="2578608"/>
            <a:ext cx="502920" cy="502920"/>
          </a:xfrm>
          <a:prstGeom prst="ellipse">
            <a:avLst/>
          </a:prstGeom>
          <a:solidFill>
            <a:srgbClr val="F5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02955" y="2578608"/>
            <a:ext cx="502920" cy="502920"/>
          </a:xfrm>
          <a:prstGeom prst="rect">
            <a:avLst/>
          </a:prstGeom>
          <a:noFill/>
        </p:spPr>
        <p:txBody>
          <a:bodyPr wrap="none" lIns="0" rIns="0" tIns="0" bIns="0" anchor="ctr">
            <a:spAutoFit/>
          </a:bodyPr>
          <a:lstStyle/>
          <a:p>
            <a:pPr algn="ctr"/>
            <a:r>
              <a:rPr sz="2000">
                <a:latin typeface="Segoe UI Emoji"/>
              </a:rPr>
              <a:t>🏭</a:t>
            </a:r>
          </a:p>
        </p:txBody>
      </p:sp>
      <p:sp>
        <p:nvSpPr>
          <p:cNvPr id="39" name="TextBox 38"/>
          <p:cNvSpPr txBox="1"/>
          <p:nvPr/>
        </p:nvSpPr>
        <p:spPr>
          <a:xfrm>
            <a:off x="7462875" y="3246120"/>
            <a:ext cx="1783080" cy="365760"/>
          </a:xfrm>
          <a:prstGeom prst="rect">
            <a:avLst/>
          </a:prstGeom>
          <a:noFill/>
        </p:spPr>
        <p:txBody>
          <a:bodyPr wrap="square" lIns="0" rIns="0" tIns="0" bIns="0" anchor="t">
            <a:spAutoFit/>
          </a:bodyPr>
          <a:lstStyle/>
          <a:p>
            <a:pPr algn="ctr">
              <a:lnSpc>
                <a:spcPct val="100000"/>
              </a:lnSpc>
              <a:spcAft>
                <a:spcPts val="0"/>
              </a:spcAft>
            </a:pPr>
            <a:r>
              <a:rPr sz="1350" b="1" i="0">
                <a:solidFill>
                  <a:srgbClr val="1B4332"/>
                </a:solidFill>
                <a:latin typeface="Cambria"/>
              </a:rPr>
              <a:t>Livraison &amp; pesee</a:t>
            </a:r>
          </a:p>
        </p:txBody>
      </p:sp>
      <p:sp>
        <p:nvSpPr>
          <p:cNvPr id="40" name="TextBox 39"/>
          <p:cNvSpPr txBox="1"/>
          <p:nvPr/>
        </p:nvSpPr>
        <p:spPr>
          <a:xfrm>
            <a:off x="7462875" y="3611880"/>
            <a:ext cx="1783080"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FB703"/>
                </a:solidFill>
                <a:latin typeface="Calibri"/>
              </a:rPr>
              <a:t>Centre de tri</a:t>
            </a:r>
          </a:p>
        </p:txBody>
      </p:sp>
      <p:sp>
        <p:nvSpPr>
          <p:cNvPr id="41" name="TextBox 40"/>
          <p:cNvSpPr txBox="1"/>
          <p:nvPr/>
        </p:nvSpPr>
        <p:spPr>
          <a:xfrm>
            <a:off x="7508595" y="3931920"/>
            <a:ext cx="1691640" cy="640080"/>
          </a:xfrm>
          <a:prstGeom prst="rect">
            <a:avLst/>
          </a:prstGeom>
          <a:noFill/>
        </p:spPr>
        <p:txBody>
          <a:bodyPr wrap="square" lIns="0" rIns="0" tIns="0" bIns="0" anchor="t">
            <a:spAutoFit/>
          </a:bodyPr>
          <a:lstStyle/>
          <a:p>
            <a:pPr algn="ctr">
              <a:lnSpc>
                <a:spcPct val="115000"/>
              </a:lnSpc>
              <a:spcAft>
                <a:spcPts val="0"/>
              </a:spcAft>
            </a:pPr>
            <a:r>
              <a:rPr sz="950" b="0" i="0">
                <a:solidFill>
                  <a:srgbClr val="5C6B65"/>
                </a:solidFill>
                <a:latin typeface="Calibri"/>
              </a:rPr>
              <a:t>Poids reel, statut delivered</a:t>
            </a:r>
          </a:p>
        </p:txBody>
      </p:sp>
      <p:sp>
        <p:nvSpPr>
          <p:cNvPr id="42" name="Rounded Rectangle 41"/>
          <p:cNvSpPr/>
          <p:nvPr/>
        </p:nvSpPr>
        <p:spPr>
          <a:xfrm>
            <a:off x="9630003" y="2194560"/>
            <a:ext cx="1965960" cy="246888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338663" y="1901952"/>
            <a:ext cx="548640" cy="548640"/>
          </a:xfrm>
          <a:prstGeom prst="ellipse">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38663" y="1901952"/>
            <a:ext cx="548640" cy="548640"/>
          </a:xfrm>
          <a:prstGeom prst="rect">
            <a:avLst/>
          </a:prstGeom>
          <a:noFill/>
        </p:spPr>
        <p:txBody>
          <a:bodyPr wrap="square" lIns="0" rIns="0" tIns="0" bIns="0" anchor="ctr">
            <a:spAutoFit/>
          </a:bodyPr>
          <a:lstStyle/>
          <a:p>
            <a:pPr algn="ctr">
              <a:lnSpc>
                <a:spcPct val="100000"/>
              </a:lnSpc>
              <a:spcAft>
                <a:spcPts val="0"/>
              </a:spcAft>
            </a:pPr>
            <a:r>
              <a:rPr sz="1600" b="1" i="0">
                <a:solidFill>
                  <a:srgbClr val="FFFFFF"/>
                </a:solidFill>
                <a:latin typeface="Cambria"/>
              </a:rPr>
              <a:t>5</a:t>
            </a:r>
          </a:p>
        </p:txBody>
      </p:sp>
      <p:sp>
        <p:nvSpPr>
          <p:cNvPr id="45" name="Oval 44"/>
          <p:cNvSpPr/>
          <p:nvPr/>
        </p:nvSpPr>
        <p:spPr>
          <a:xfrm>
            <a:off x="10361523" y="2578608"/>
            <a:ext cx="502920" cy="502920"/>
          </a:xfrm>
          <a:prstGeom prst="ellipse">
            <a:avLst/>
          </a:prstGeom>
          <a:solidFill>
            <a:srgbClr val="F5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61523" y="2578608"/>
            <a:ext cx="502920" cy="502920"/>
          </a:xfrm>
          <a:prstGeom prst="rect">
            <a:avLst/>
          </a:prstGeom>
          <a:noFill/>
        </p:spPr>
        <p:txBody>
          <a:bodyPr wrap="none" lIns="0" rIns="0" tIns="0" bIns="0" anchor="ctr">
            <a:spAutoFit/>
          </a:bodyPr>
          <a:lstStyle/>
          <a:p>
            <a:pPr algn="ctr"/>
            <a:r>
              <a:rPr sz="2000">
                <a:latin typeface="Segoe UI Emoji"/>
              </a:rPr>
              <a:t>💰</a:t>
            </a:r>
          </a:p>
        </p:txBody>
      </p:sp>
      <p:sp>
        <p:nvSpPr>
          <p:cNvPr id="47" name="TextBox 46"/>
          <p:cNvSpPr txBox="1"/>
          <p:nvPr/>
        </p:nvSpPr>
        <p:spPr>
          <a:xfrm>
            <a:off x="9721443" y="3246120"/>
            <a:ext cx="1783080" cy="365760"/>
          </a:xfrm>
          <a:prstGeom prst="rect">
            <a:avLst/>
          </a:prstGeom>
          <a:noFill/>
        </p:spPr>
        <p:txBody>
          <a:bodyPr wrap="square" lIns="0" rIns="0" tIns="0" bIns="0" anchor="t">
            <a:spAutoFit/>
          </a:bodyPr>
          <a:lstStyle/>
          <a:p>
            <a:pPr algn="ctr">
              <a:lnSpc>
                <a:spcPct val="100000"/>
              </a:lnSpc>
              <a:spcAft>
                <a:spcPts val="0"/>
              </a:spcAft>
            </a:pPr>
            <a:r>
              <a:rPr sz="1350" b="1" i="0">
                <a:solidFill>
                  <a:srgbClr val="1B4332"/>
                </a:solidFill>
                <a:latin typeface="Cambria"/>
              </a:rPr>
              <a:t>Paiement</a:t>
            </a:r>
          </a:p>
        </p:txBody>
      </p:sp>
      <p:sp>
        <p:nvSpPr>
          <p:cNvPr id="48" name="TextBox 47"/>
          <p:cNvSpPr txBox="1"/>
          <p:nvPr/>
        </p:nvSpPr>
        <p:spPr>
          <a:xfrm>
            <a:off x="9721443" y="3611880"/>
            <a:ext cx="1783080" cy="274320"/>
          </a:xfrm>
          <a:prstGeom prst="rect">
            <a:avLst/>
          </a:prstGeom>
          <a:noFill/>
        </p:spPr>
        <p:txBody>
          <a:bodyPr wrap="square" lIns="0" rIns="0" tIns="0" bIns="0" anchor="t">
            <a:spAutoFit/>
          </a:bodyPr>
          <a:lstStyle/>
          <a:p>
            <a:pPr algn="ctr">
              <a:lnSpc>
                <a:spcPct val="100000"/>
              </a:lnSpc>
              <a:spcAft>
                <a:spcPts val="0"/>
              </a:spcAft>
            </a:pPr>
            <a:r>
              <a:rPr sz="1050" b="1" i="0">
                <a:solidFill>
                  <a:srgbClr val="FFB703"/>
                </a:solidFill>
                <a:latin typeface="Calibri"/>
              </a:rPr>
              <a:t>Admin</a:t>
            </a:r>
          </a:p>
        </p:txBody>
      </p:sp>
      <p:sp>
        <p:nvSpPr>
          <p:cNvPr id="49" name="TextBox 48"/>
          <p:cNvSpPr txBox="1"/>
          <p:nvPr/>
        </p:nvSpPr>
        <p:spPr>
          <a:xfrm>
            <a:off x="9767163" y="3931920"/>
            <a:ext cx="1691640" cy="640080"/>
          </a:xfrm>
          <a:prstGeom prst="rect">
            <a:avLst/>
          </a:prstGeom>
          <a:noFill/>
        </p:spPr>
        <p:txBody>
          <a:bodyPr wrap="square" lIns="0" rIns="0" tIns="0" bIns="0" anchor="t">
            <a:spAutoFit/>
          </a:bodyPr>
          <a:lstStyle/>
          <a:p>
            <a:pPr algn="ctr">
              <a:lnSpc>
                <a:spcPct val="115000"/>
              </a:lnSpc>
              <a:spcAft>
                <a:spcPts val="0"/>
              </a:spcAft>
            </a:pPr>
            <a:r>
              <a:rPr sz="950" b="0" i="0">
                <a:solidFill>
                  <a:srgbClr val="5C6B65"/>
                </a:solidFill>
                <a:latin typeface="Calibri"/>
              </a:rPr>
              <a:t>Points credites, retrait mobile money</a:t>
            </a:r>
          </a:p>
        </p:txBody>
      </p:sp>
      <p:sp>
        <p:nvSpPr>
          <p:cNvPr id="50" name="TextBox 49"/>
          <p:cNvSpPr txBox="1"/>
          <p:nvPr/>
        </p:nvSpPr>
        <p:spPr>
          <a:xfrm>
            <a:off x="548640" y="5166360"/>
            <a:ext cx="11094415" cy="822960"/>
          </a:xfrm>
          <a:prstGeom prst="rect">
            <a:avLst/>
          </a:prstGeom>
          <a:noFill/>
        </p:spPr>
        <p:txBody>
          <a:bodyPr wrap="square" lIns="0" rIns="0" tIns="0" bIns="0" anchor="t">
            <a:spAutoFit/>
          </a:bodyPr>
          <a:lstStyle/>
          <a:p>
            <a:pPr algn="ctr">
              <a:lnSpc>
                <a:spcPct val="120000"/>
              </a:lnSpc>
              <a:spcAft>
                <a:spcPts val="0"/>
              </a:spcAft>
            </a:pPr>
            <a:r>
              <a:rPr sz="1250" b="0" i="1">
                <a:solidFill>
                  <a:srgbClr val="1C2B24"/>
                </a:solidFill>
                <a:latin typeface="Calibri"/>
              </a:rPr>
              <a:t>Chaque transition d'etat est controlee a la fois par la logique applicative Flutter et par les politiques Row Level Security : aucune transition ne peut etre declenchee par un acteur non habilite.</a:t>
            </a:r>
          </a:p>
        </p:txBody>
      </p:sp>
      <p:sp>
        <p:nvSpPr>
          <p:cNvPr id="51" name="TextBox 50"/>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52" name="TextBox 51"/>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3 — INCITATION ECONOMIQUE</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Points ecologiques et retrait Mobile Money</a:t>
            </a:r>
          </a:p>
        </p:txBody>
      </p:sp>
      <p:sp>
        <p:nvSpPr>
          <p:cNvPr id="6" name="TextBox 5"/>
          <p:cNvSpPr txBox="1"/>
          <p:nvPr/>
        </p:nvSpPr>
        <p:spPr>
          <a:xfrm>
            <a:off x="548640" y="1508760"/>
            <a:ext cx="5486400" cy="274320"/>
          </a:xfrm>
          <a:prstGeom prst="rect">
            <a:avLst/>
          </a:prstGeom>
          <a:noFill/>
        </p:spPr>
        <p:txBody>
          <a:bodyPr wrap="square" lIns="0" rIns="0" tIns="0" bIns="0" anchor="t">
            <a:spAutoFit/>
          </a:bodyPr>
          <a:lstStyle/>
          <a:p>
            <a:pPr algn="l">
              <a:lnSpc>
                <a:spcPct val="100000"/>
              </a:lnSpc>
              <a:spcAft>
                <a:spcPts val="0"/>
              </a:spcAft>
            </a:pPr>
            <a:r>
              <a:rPr sz="1200" b="1" i="0">
                <a:solidFill>
                  <a:srgbClr val="2D6A4F"/>
                </a:solidFill>
                <a:latin typeface="Calibri"/>
              </a:rPr>
              <a:t>TAUX APPLIQUES PAR TYPE DE DECHET (XAF / kg)</a:t>
            </a:r>
          </a:p>
        </p:txBody>
      </p:sp>
      <p:sp>
        <p:nvSpPr>
          <p:cNvPr id="7" name="TextBox 6"/>
          <p:cNvSpPr txBox="1"/>
          <p:nvPr/>
        </p:nvSpPr>
        <p:spPr>
          <a:xfrm>
            <a:off x="548640" y="1965960"/>
            <a:ext cx="1371600" cy="457200"/>
          </a:xfrm>
          <a:prstGeom prst="rect">
            <a:avLst/>
          </a:prstGeom>
          <a:noFill/>
        </p:spPr>
        <p:txBody>
          <a:bodyPr wrap="square" lIns="0" rIns="0" tIns="0" bIns="0" anchor="ctr">
            <a:spAutoFit/>
          </a:bodyPr>
          <a:lstStyle/>
          <a:p>
            <a:pPr algn="l">
              <a:lnSpc>
                <a:spcPct val="100000"/>
              </a:lnSpc>
              <a:spcAft>
                <a:spcPts val="0"/>
              </a:spcAft>
            </a:pPr>
            <a:r>
              <a:rPr sz="1250" b="0" i="0">
                <a:solidFill>
                  <a:srgbClr val="1C2B24"/>
                </a:solidFill>
                <a:latin typeface="Calibri"/>
              </a:rPr>
              <a:t>E-waste</a:t>
            </a:r>
          </a:p>
        </p:txBody>
      </p:sp>
      <p:sp>
        <p:nvSpPr>
          <p:cNvPr id="8" name="Rounded Rectangle 7"/>
          <p:cNvSpPr/>
          <p:nvPr/>
        </p:nvSpPr>
        <p:spPr>
          <a:xfrm>
            <a:off x="1920240" y="2020824"/>
            <a:ext cx="4023360" cy="347472"/>
          </a:xfrm>
          <a:prstGeom prst="roundRect">
            <a:avLst>
              <a:gd name="adj" fmla="val 35000"/>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0" y="1965960"/>
            <a:ext cx="548640" cy="457200"/>
          </a:xfrm>
          <a:prstGeom prst="rect">
            <a:avLst/>
          </a:prstGeom>
          <a:noFill/>
        </p:spPr>
        <p:txBody>
          <a:bodyPr wrap="square" lIns="0" rIns="0" tIns="0" bIns="0" anchor="ctr">
            <a:spAutoFit/>
          </a:bodyPr>
          <a:lstStyle/>
          <a:p>
            <a:pPr algn="l">
              <a:lnSpc>
                <a:spcPct val="100000"/>
              </a:lnSpc>
              <a:spcAft>
                <a:spcPts val="0"/>
              </a:spcAft>
            </a:pPr>
            <a:r>
              <a:rPr sz="1200" b="1" i="0">
                <a:solidFill>
                  <a:srgbClr val="1B4332"/>
                </a:solidFill>
                <a:latin typeface="Calibri"/>
              </a:rPr>
              <a:t>300</a:t>
            </a:r>
          </a:p>
        </p:txBody>
      </p:sp>
      <p:sp>
        <p:nvSpPr>
          <p:cNvPr id="10" name="TextBox 9"/>
          <p:cNvSpPr txBox="1"/>
          <p:nvPr/>
        </p:nvSpPr>
        <p:spPr>
          <a:xfrm>
            <a:off x="548640" y="2587752"/>
            <a:ext cx="1371600" cy="457200"/>
          </a:xfrm>
          <a:prstGeom prst="rect">
            <a:avLst/>
          </a:prstGeom>
          <a:noFill/>
        </p:spPr>
        <p:txBody>
          <a:bodyPr wrap="square" lIns="0" rIns="0" tIns="0" bIns="0" anchor="ctr">
            <a:spAutoFit/>
          </a:bodyPr>
          <a:lstStyle/>
          <a:p>
            <a:pPr algn="l">
              <a:lnSpc>
                <a:spcPct val="100000"/>
              </a:lnSpc>
              <a:spcAft>
                <a:spcPts val="0"/>
              </a:spcAft>
            </a:pPr>
            <a:r>
              <a:rPr sz="1250" b="0" i="0">
                <a:solidFill>
                  <a:srgbClr val="1C2B24"/>
                </a:solidFill>
                <a:latin typeface="Calibri"/>
              </a:rPr>
              <a:t>Metal</a:t>
            </a:r>
          </a:p>
        </p:txBody>
      </p:sp>
      <p:sp>
        <p:nvSpPr>
          <p:cNvPr id="11" name="Rounded Rectangle 10"/>
          <p:cNvSpPr/>
          <p:nvPr/>
        </p:nvSpPr>
        <p:spPr>
          <a:xfrm>
            <a:off x="1920240" y="2642616"/>
            <a:ext cx="2682240" cy="347472"/>
          </a:xfrm>
          <a:prstGeom prst="roundRect">
            <a:avLst>
              <a:gd name="adj" fmla="val 35000"/>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3920" y="2587752"/>
            <a:ext cx="548640" cy="457200"/>
          </a:xfrm>
          <a:prstGeom prst="rect">
            <a:avLst/>
          </a:prstGeom>
          <a:noFill/>
        </p:spPr>
        <p:txBody>
          <a:bodyPr wrap="square" lIns="0" rIns="0" tIns="0" bIns="0" anchor="ctr">
            <a:spAutoFit/>
          </a:bodyPr>
          <a:lstStyle/>
          <a:p>
            <a:pPr algn="l">
              <a:lnSpc>
                <a:spcPct val="100000"/>
              </a:lnSpc>
              <a:spcAft>
                <a:spcPts val="0"/>
              </a:spcAft>
            </a:pPr>
            <a:r>
              <a:rPr sz="1200" b="1" i="0">
                <a:solidFill>
                  <a:srgbClr val="1B4332"/>
                </a:solidFill>
                <a:latin typeface="Calibri"/>
              </a:rPr>
              <a:t>200</a:t>
            </a:r>
          </a:p>
        </p:txBody>
      </p:sp>
      <p:sp>
        <p:nvSpPr>
          <p:cNvPr id="13" name="TextBox 12"/>
          <p:cNvSpPr txBox="1"/>
          <p:nvPr/>
        </p:nvSpPr>
        <p:spPr>
          <a:xfrm>
            <a:off x="548640" y="3209544"/>
            <a:ext cx="1371600" cy="457200"/>
          </a:xfrm>
          <a:prstGeom prst="rect">
            <a:avLst/>
          </a:prstGeom>
          <a:noFill/>
        </p:spPr>
        <p:txBody>
          <a:bodyPr wrap="square" lIns="0" rIns="0" tIns="0" bIns="0" anchor="ctr">
            <a:spAutoFit/>
          </a:bodyPr>
          <a:lstStyle/>
          <a:p>
            <a:pPr algn="l">
              <a:lnSpc>
                <a:spcPct val="100000"/>
              </a:lnSpc>
              <a:spcAft>
                <a:spcPts val="0"/>
              </a:spcAft>
            </a:pPr>
            <a:r>
              <a:rPr sz="1250" b="0" i="0">
                <a:solidFill>
                  <a:srgbClr val="1C2B24"/>
                </a:solidFill>
                <a:latin typeface="Calibri"/>
              </a:rPr>
              <a:t>Plastique</a:t>
            </a:r>
          </a:p>
        </p:txBody>
      </p:sp>
      <p:sp>
        <p:nvSpPr>
          <p:cNvPr id="14" name="Rounded Rectangle 13"/>
          <p:cNvSpPr/>
          <p:nvPr/>
        </p:nvSpPr>
        <p:spPr>
          <a:xfrm>
            <a:off x="1920240" y="3264408"/>
            <a:ext cx="2011680" cy="347472"/>
          </a:xfrm>
          <a:prstGeom prst="roundRect">
            <a:avLst>
              <a:gd name="adj" fmla="val 35000"/>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0" y="3209544"/>
            <a:ext cx="548640" cy="457200"/>
          </a:xfrm>
          <a:prstGeom prst="rect">
            <a:avLst/>
          </a:prstGeom>
          <a:noFill/>
        </p:spPr>
        <p:txBody>
          <a:bodyPr wrap="square" lIns="0" rIns="0" tIns="0" bIns="0" anchor="ctr">
            <a:spAutoFit/>
          </a:bodyPr>
          <a:lstStyle/>
          <a:p>
            <a:pPr algn="l">
              <a:lnSpc>
                <a:spcPct val="100000"/>
              </a:lnSpc>
              <a:spcAft>
                <a:spcPts val="0"/>
              </a:spcAft>
            </a:pPr>
            <a:r>
              <a:rPr sz="1200" b="1" i="0">
                <a:solidFill>
                  <a:srgbClr val="1B4332"/>
                </a:solidFill>
                <a:latin typeface="Calibri"/>
              </a:rPr>
              <a:t>150</a:t>
            </a:r>
          </a:p>
        </p:txBody>
      </p:sp>
      <p:sp>
        <p:nvSpPr>
          <p:cNvPr id="16" name="TextBox 15"/>
          <p:cNvSpPr txBox="1"/>
          <p:nvPr/>
        </p:nvSpPr>
        <p:spPr>
          <a:xfrm>
            <a:off x="548640" y="3831336"/>
            <a:ext cx="1371600" cy="457200"/>
          </a:xfrm>
          <a:prstGeom prst="rect">
            <a:avLst/>
          </a:prstGeom>
          <a:noFill/>
        </p:spPr>
        <p:txBody>
          <a:bodyPr wrap="square" lIns="0" rIns="0" tIns="0" bIns="0" anchor="ctr">
            <a:spAutoFit/>
          </a:bodyPr>
          <a:lstStyle/>
          <a:p>
            <a:pPr algn="l">
              <a:lnSpc>
                <a:spcPct val="100000"/>
              </a:lnSpc>
              <a:spcAft>
                <a:spcPts val="0"/>
              </a:spcAft>
            </a:pPr>
            <a:r>
              <a:rPr sz="1250" b="0" i="0">
                <a:solidFill>
                  <a:srgbClr val="1C2B24"/>
                </a:solidFill>
                <a:latin typeface="Calibri"/>
              </a:rPr>
              <a:t>Mixte</a:t>
            </a:r>
          </a:p>
        </p:txBody>
      </p:sp>
      <p:sp>
        <p:nvSpPr>
          <p:cNvPr id="17" name="Rounded Rectangle 16"/>
          <p:cNvSpPr/>
          <p:nvPr/>
        </p:nvSpPr>
        <p:spPr>
          <a:xfrm>
            <a:off x="1920240" y="3886200"/>
            <a:ext cx="1005840" cy="347472"/>
          </a:xfrm>
          <a:prstGeom prst="roundRect">
            <a:avLst>
              <a:gd name="adj" fmla="val 35000"/>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3831336"/>
            <a:ext cx="548640" cy="457200"/>
          </a:xfrm>
          <a:prstGeom prst="rect">
            <a:avLst/>
          </a:prstGeom>
          <a:noFill/>
        </p:spPr>
        <p:txBody>
          <a:bodyPr wrap="square" lIns="0" rIns="0" tIns="0" bIns="0" anchor="ctr">
            <a:spAutoFit/>
          </a:bodyPr>
          <a:lstStyle/>
          <a:p>
            <a:pPr algn="l">
              <a:lnSpc>
                <a:spcPct val="100000"/>
              </a:lnSpc>
              <a:spcAft>
                <a:spcPts val="0"/>
              </a:spcAft>
            </a:pPr>
            <a:r>
              <a:rPr sz="1200" b="1" i="0">
                <a:solidFill>
                  <a:srgbClr val="1B4332"/>
                </a:solidFill>
                <a:latin typeface="Calibri"/>
              </a:rPr>
              <a:t>75</a:t>
            </a:r>
          </a:p>
        </p:txBody>
      </p:sp>
      <p:sp>
        <p:nvSpPr>
          <p:cNvPr id="19" name="TextBox 18"/>
          <p:cNvSpPr txBox="1"/>
          <p:nvPr/>
        </p:nvSpPr>
        <p:spPr>
          <a:xfrm>
            <a:off x="548640" y="4453128"/>
            <a:ext cx="1371600" cy="457200"/>
          </a:xfrm>
          <a:prstGeom prst="rect">
            <a:avLst/>
          </a:prstGeom>
          <a:noFill/>
        </p:spPr>
        <p:txBody>
          <a:bodyPr wrap="square" lIns="0" rIns="0" tIns="0" bIns="0" anchor="ctr">
            <a:spAutoFit/>
          </a:bodyPr>
          <a:lstStyle/>
          <a:p>
            <a:pPr algn="l">
              <a:lnSpc>
                <a:spcPct val="100000"/>
              </a:lnSpc>
              <a:spcAft>
                <a:spcPts val="0"/>
              </a:spcAft>
            </a:pPr>
            <a:r>
              <a:rPr sz="1250" b="0" i="0">
                <a:solidFill>
                  <a:srgbClr val="1C2B24"/>
                </a:solidFill>
                <a:latin typeface="Calibri"/>
              </a:rPr>
              <a:t>Organique</a:t>
            </a:r>
          </a:p>
        </p:txBody>
      </p:sp>
      <p:sp>
        <p:nvSpPr>
          <p:cNvPr id="20" name="Rounded Rectangle 19"/>
          <p:cNvSpPr/>
          <p:nvPr/>
        </p:nvSpPr>
        <p:spPr>
          <a:xfrm>
            <a:off x="1920240" y="4507992"/>
            <a:ext cx="670560" cy="347472"/>
          </a:xfrm>
          <a:prstGeom prst="roundRect">
            <a:avLst>
              <a:gd name="adj" fmla="val 35000"/>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82240" y="4453128"/>
            <a:ext cx="548640" cy="457200"/>
          </a:xfrm>
          <a:prstGeom prst="rect">
            <a:avLst/>
          </a:prstGeom>
          <a:noFill/>
        </p:spPr>
        <p:txBody>
          <a:bodyPr wrap="square" lIns="0" rIns="0" tIns="0" bIns="0" anchor="ctr">
            <a:spAutoFit/>
          </a:bodyPr>
          <a:lstStyle/>
          <a:p>
            <a:pPr algn="l">
              <a:lnSpc>
                <a:spcPct val="100000"/>
              </a:lnSpc>
              <a:spcAft>
                <a:spcPts val="0"/>
              </a:spcAft>
            </a:pPr>
            <a:r>
              <a:rPr sz="1200" b="1" i="0">
                <a:solidFill>
                  <a:srgbClr val="1B4332"/>
                </a:solidFill>
                <a:latin typeface="Calibri"/>
              </a:rPr>
              <a:t>50</a:t>
            </a:r>
          </a:p>
        </p:txBody>
      </p:sp>
      <p:sp>
        <p:nvSpPr>
          <p:cNvPr id="22" name="Rounded Rectangle 21"/>
          <p:cNvSpPr/>
          <p:nvPr/>
        </p:nvSpPr>
        <p:spPr>
          <a:xfrm>
            <a:off x="6903720" y="1508760"/>
            <a:ext cx="4709160" cy="452628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1737360"/>
            <a:ext cx="4114800" cy="274320"/>
          </a:xfrm>
          <a:prstGeom prst="rect">
            <a:avLst/>
          </a:prstGeom>
          <a:noFill/>
        </p:spPr>
        <p:txBody>
          <a:bodyPr wrap="square" lIns="0" rIns="0" tIns="0" bIns="0" anchor="t">
            <a:spAutoFit/>
          </a:bodyPr>
          <a:lstStyle/>
          <a:p>
            <a:pPr algn="l">
              <a:lnSpc>
                <a:spcPct val="100000"/>
              </a:lnSpc>
              <a:spcAft>
                <a:spcPts val="0"/>
              </a:spcAft>
            </a:pPr>
            <a:r>
              <a:rPr sz="1200" b="1" i="0">
                <a:solidFill>
                  <a:srgbClr val="2D6A4F"/>
                </a:solidFill>
                <a:latin typeface="Calibri"/>
              </a:rPr>
              <a:t>PARCOURS DE PAIEMENT</a:t>
            </a:r>
          </a:p>
        </p:txBody>
      </p:sp>
      <p:sp>
        <p:nvSpPr>
          <p:cNvPr id="24" name="TextBox 23"/>
          <p:cNvSpPr txBox="1"/>
          <p:nvPr/>
        </p:nvSpPr>
        <p:spPr>
          <a:xfrm>
            <a:off x="7178040" y="2148840"/>
            <a:ext cx="4160520" cy="3566160"/>
          </a:xfrm>
          <a:prstGeom prst="rect">
            <a:avLst/>
          </a:prstGeom>
          <a:noFill/>
        </p:spPr>
        <p:txBody>
          <a:bodyPr wrap="square" lIns="0" rIns="0" tIns="0" bIns="0">
            <a:spAutoFit/>
          </a:bodyPr>
          <a:lstStyle/>
          <a:p>
            <a:pPr algn="l" marL="228600" indent="-228600">
              <a:lnSpc>
                <a:spcPct val="120000"/>
              </a:lnSpc>
              <a:spcAft>
                <a:spcPts val="1400"/>
              </a:spcAft>
              <a:buClr>
                <a:srgbClr val="2D6A4F"/>
              </a:buClr>
              <a:buFont typeface="Arial"/>
              <a:buChar char="•"/>
            </a:pPr>
            <a:r>
              <a:rPr sz="1250" b="1">
                <a:solidFill>
                  <a:srgbClr val="1C2B24"/>
                </a:solidFill>
                <a:latin typeface="Calibri"/>
              </a:rPr>
              <a:t>1.  </a:t>
            </a:r>
            <a:r>
              <a:rPr sz="1250" b="0">
                <a:solidFill>
                  <a:srgbClr val="1C2B24"/>
                </a:solidFill>
                <a:latin typeface="Calibri"/>
              </a:rPr>
              <a:t>Le centre de tri pese le dechet et valide la reception.</a:t>
            </a:r>
          </a:p>
          <a:p>
            <a:pPr algn="l" marL="228600" indent="-228600">
              <a:lnSpc>
                <a:spcPct val="120000"/>
              </a:lnSpc>
              <a:spcAft>
                <a:spcPts val="1400"/>
              </a:spcAft>
              <a:buClr>
                <a:srgbClr val="2D6A4F"/>
              </a:buClr>
              <a:buFont typeface="Arial"/>
              <a:buChar char="•"/>
            </a:pPr>
            <a:r>
              <a:rPr sz="1250" b="1">
                <a:solidFill>
                  <a:srgbClr val="1C2B24"/>
                </a:solidFill>
                <a:latin typeface="Calibri"/>
              </a:rPr>
              <a:t>2.  </a:t>
            </a:r>
            <a:r>
              <a:rPr sz="1250" b="0">
                <a:solidFill>
                  <a:srgbClr val="1C2B24"/>
                </a:solidFill>
                <a:latin typeface="Calibri"/>
              </a:rPr>
              <a:t>Le systeme credite des points au collecteur (eco_transactions), une seule fois par signalement.</a:t>
            </a:r>
          </a:p>
          <a:p>
            <a:pPr algn="l" marL="228600" indent="-228600">
              <a:lnSpc>
                <a:spcPct val="120000"/>
              </a:lnSpc>
              <a:spcAft>
                <a:spcPts val="1400"/>
              </a:spcAft>
              <a:buClr>
                <a:srgbClr val="2D6A4F"/>
              </a:buClr>
              <a:buFont typeface="Arial"/>
              <a:buChar char="•"/>
            </a:pPr>
            <a:r>
              <a:rPr sz="1250" b="1">
                <a:solidFill>
                  <a:srgbClr val="1C2B24"/>
                </a:solidFill>
                <a:latin typeface="Calibri"/>
              </a:rPr>
              <a:t>3.  </a:t>
            </a:r>
            <a:r>
              <a:rPr sz="1250" b="0">
                <a:solidFill>
                  <a:srgbClr val="1C2B24"/>
                </a:solidFill>
                <a:latin typeface="Calibri"/>
              </a:rPr>
              <a:t>Le collecteur convertit ses points en montant XAF et demande un retrait via un operateur (Orange Money / MTN).</a:t>
            </a:r>
          </a:p>
          <a:p>
            <a:pPr algn="l" marL="228600" indent="-228600">
              <a:lnSpc>
                <a:spcPct val="120000"/>
              </a:lnSpc>
              <a:spcAft>
                <a:spcPts val="1400"/>
              </a:spcAft>
              <a:buClr>
                <a:srgbClr val="2D6A4F"/>
              </a:buClr>
              <a:buFont typeface="Arial"/>
              <a:buChar char="•"/>
            </a:pPr>
            <a:r>
              <a:rPr sz="1250" b="1">
                <a:solidFill>
                  <a:srgbClr val="1C2B24"/>
                </a:solidFill>
                <a:latin typeface="Calibri"/>
              </a:rPr>
              <a:t>4.  </a:t>
            </a:r>
            <a:r>
              <a:rPr sz="1250" b="0">
                <a:solidFill>
                  <a:srgbClr val="1C2B24"/>
                </a:solidFill>
                <a:latin typeface="Calibri"/>
              </a:rPr>
              <a:t>L'administrateur valide ou rejette manuellement la demande de retrait.</a:t>
            </a:r>
          </a:p>
        </p:txBody>
      </p:sp>
      <p:sp>
        <p:nvSpPr>
          <p:cNvPr id="25" name="TextBox 24"/>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26" name="TextBox 25"/>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5 — PHASE DE TESTS</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Strategie et resultats de validation</a:t>
            </a:r>
          </a:p>
        </p:txBody>
      </p:sp>
      <p:sp>
        <p:nvSpPr>
          <p:cNvPr id="6" name="Rounded Rectangle 5"/>
          <p:cNvSpPr/>
          <p:nvPr/>
        </p:nvSpPr>
        <p:spPr>
          <a:xfrm>
            <a:off x="548640" y="1554480"/>
            <a:ext cx="2148840" cy="1234440"/>
          </a:xfrm>
          <a:prstGeom prst="roundRect">
            <a:avLst>
              <a:gd name="adj" fmla="val 6000"/>
            </a:avLst>
          </a:prstGeom>
          <a:solidFill>
            <a:srgbClr val="1B4332"/>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2148840" cy="640080"/>
          </a:xfrm>
          <a:prstGeom prst="rect">
            <a:avLst/>
          </a:prstGeom>
          <a:noFill/>
        </p:spPr>
        <p:txBody>
          <a:bodyPr wrap="square" lIns="0" rIns="0" tIns="0" bIns="0" anchor="t">
            <a:spAutoFit/>
          </a:bodyPr>
          <a:lstStyle/>
          <a:p>
            <a:pPr algn="ctr">
              <a:lnSpc>
                <a:spcPct val="100000"/>
              </a:lnSpc>
              <a:spcAft>
                <a:spcPts val="0"/>
              </a:spcAft>
            </a:pPr>
            <a:r>
              <a:rPr sz="3400" b="1" i="0">
                <a:solidFill>
                  <a:srgbClr val="FFB703"/>
                </a:solidFill>
                <a:latin typeface="Cambria"/>
              </a:rPr>
              <a:t>13</a:t>
            </a:r>
          </a:p>
        </p:txBody>
      </p:sp>
      <p:sp>
        <p:nvSpPr>
          <p:cNvPr id="8" name="TextBox 7"/>
          <p:cNvSpPr txBox="1"/>
          <p:nvPr/>
        </p:nvSpPr>
        <p:spPr>
          <a:xfrm>
            <a:off x="685800" y="2395728"/>
            <a:ext cx="1874520" cy="365760"/>
          </a:xfrm>
          <a:prstGeom prst="rect">
            <a:avLst/>
          </a:prstGeom>
          <a:noFill/>
        </p:spPr>
        <p:txBody>
          <a:bodyPr wrap="square" lIns="0" rIns="0" tIns="0" bIns="0" anchor="t">
            <a:spAutoFit/>
          </a:bodyPr>
          <a:lstStyle/>
          <a:p>
            <a:pPr algn="ctr">
              <a:lnSpc>
                <a:spcPct val="100000"/>
              </a:lnSpc>
              <a:spcAft>
                <a:spcPts val="0"/>
              </a:spcAft>
            </a:pPr>
            <a:r>
              <a:rPr sz="1050" b="0" i="0">
                <a:solidFill>
                  <a:srgbClr val="FFFFFF"/>
                </a:solidFill>
                <a:latin typeface="Calibri"/>
              </a:rPr>
              <a:t>scenarios de test</a:t>
            </a:r>
          </a:p>
        </p:txBody>
      </p:sp>
      <p:sp>
        <p:nvSpPr>
          <p:cNvPr id="9" name="Rounded Rectangle 8"/>
          <p:cNvSpPr/>
          <p:nvPr/>
        </p:nvSpPr>
        <p:spPr>
          <a:xfrm>
            <a:off x="2880360" y="1554480"/>
            <a:ext cx="2148840" cy="1234440"/>
          </a:xfrm>
          <a:prstGeom prst="roundRect">
            <a:avLst>
              <a:gd name="adj" fmla="val 6000"/>
            </a:avLst>
          </a:prstGeom>
          <a:solidFill>
            <a:srgbClr val="1B4332"/>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1645920"/>
            <a:ext cx="2148840" cy="640080"/>
          </a:xfrm>
          <a:prstGeom prst="rect">
            <a:avLst/>
          </a:prstGeom>
          <a:noFill/>
        </p:spPr>
        <p:txBody>
          <a:bodyPr wrap="square" lIns="0" rIns="0" tIns="0" bIns="0" anchor="t">
            <a:spAutoFit/>
          </a:bodyPr>
          <a:lstStyle/>
          <a:p>
            <a:pPr algn="ctr">
              <a:lnSpc>
                <a:spcPct val="100000"/>
              </a:lnSpc>
              <a:spcAft>
                <a:spcPts val="0"/>
              </a:spcAft>
            </a:pPr>
            <a:r>
              <a:rPr sz="3400" b="1" i="0">
                <a:solidFill>
                  <a:srgbClr val="FFB703"/>
                </a:solidFill>
                <a:latin typeface="Cambria"/>
              </a:rPr>
              <a:t>11</a:t>
            </a:r>
          </a:p>
        </p:txBody>
      </p:sp>
      <p:sp>
        <p:nvSpPr>
          <p:cNvPr id="11" name="TextBox 10"/>
          <p:cNvSpPr txBox="1"/>
          <p:nvPr/>
        </p:nvSpPr>
        <p:spPr>
          <a:xfrm>
            <a:off x="3017520" y="2395728"/>
            <a:ext cx="1874520" cy="365760"/>
          </a:xfrm>
          <a:prstGeom prst="rect">
            <a:avLst/>
          </a:prstGeom>
          <a:noFill/>
        </p:spPr>
        <p:txBody>
          <a:bodyPr wrap="square" lIns="0" rIns="0" tIns="0" bIns="0" anchor="t">
            <a:spAutoFit/>
          </a:bodyPr>
          <a:lstStyle/>
          <a:p>
            <a:pPr algn="ctr">
              <a:lnSpc>
                <a:spcPct val="100000"/>
              </a:lnSpc>
              <a:spcAft>
                <a:spcPts val="0"/>
              </a:spcAft>
            </a:pPr>
            <a:r>
              <a:rPr sz="1050" b="0" i="0">
                <a:solidFill>
                  <a:srgbClr val="FFFFFF"/>
                </a:solidFill>
                <a:latin typeface="Calibri"/>
              </a:rPr>
              <a:t>reussis sans reserve</a:t>
            </a:r>
          </a:p>
        </p:txBody>
      </p:sp>
      <p:sp>
        <p:nvSpPr>
          <p:cNvPr id="12" name="Rounded Rectangle 11"/>
          <p:cNvSpPr/>
          <p:nvPr/>
        </p:nvSpPr>
        <p:spPr>
          <a:xfrm>
            <a:off x="5212080" y="1554480"/>
            <a:ext cx="2148840" cy="1234440"/>
          </a:xfrm>
          <a:prstGeom prst="roundRect">
            <a:avLst>
              <a:gd name="adj" fmla="val 6000"/>
            </a:avLst>
          </a:prstGeom>
          <a:solidFill>
            <a:srgbClr val="1B4332"/>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1645920"/>
            <a:ext cx="2148840" cy="640080"/>
          </a:xfrm>
          <a:prstGeom prst="rect">
            <a:avLst/>
          </a:prstGeom>
          <a:noFill/>
        </p:spPr>
        <p:txBody>
          <a:bodyPr wrap="square" lIns="0" rIns="0" tIns="0" bIns="0" anchor="t">
            <a:spAutoFit/>
          </a:bodyPr>
          <a:lstStyle/>
          <a:p>
            <a:pPr algn="ctr">
              <a:lnSpc>
                <a:spcPct val="100000"/>
              </a:lnSpc>
              <a:spcAft>
                <a:spcPts val="0"/>
              </a:spcAft>
            </a:pPr>
            <a:r>
              <a:rPr sz="3400" b="1" i="0">
                <a:solidFill>
                  <a:srgbClr val="FFB703"/>
                </a:solidFill>
                <a:latin typeface="Cambria"/>
              </a:rPr>
              <a:t>3</a:t>
            </a:r>
          </a:p>
        </p:txBody>
      </p:sp>
      <p:sp>
        <p:nvSpPr>
          <p:cNvPr id="14" name="TextBox 13"/>
          <p:cNvSpPr txBox="1"/>
          <p:nvPr/>
        </p:nvSpPr>
        <p:spPr>
          <a:xfrm>
            <a:off x="5349240" y="2395728"/>
            <a:ext cx="1874520" cy="365760"/>
          </a:xfrm>
          <a:prstGeom prst="rect">
            <a:avLst/>
          </a:prstGeom>
          <a:noFill/>
        </p:spPr>
        <p:txBody>
          <a:bodyPr wrap="square" lIns="0" rIns="0" tIns="0" bIns="0" anchor="t">
            <a:spAutoFit/>
          </a:bodyPr>
          <a:lstStyle/>
          <a:p>
            <a:pPr algn="ctr">
              <a:lnSpc>
                <a:spcPct val="100000"/>
              </a:lnSpc>
              <a:spcAft>
                <a:spcPts val="0"/>
              </a:spcAft>
            </a:pPr>
            <a:r>
              <a:rPr sz="1050" b="0" i="0">
                <a:solidFill>
                  <a:srgbClr val="FFFFFF"/>
                </a:solidFill>
                <a:latin typeface="Calibri"/>
              </a:rPr>
              <a:t>niveaux : unitaire, integration, UI</a:t>
            </a:r>
          </a:p>
        </p:txBody>
      </p:sp>
      <p:graphicFrame>
        <p:nvGraphicFramePr>
          <p:cNvPr id="15" name="Table 14"/>
          <p:cNvGraphicFramePr>
            <a:graphicFrameLocks noGrp="1"/>
          </p:cNvGraphicFramePr>
          <p:nvPr/>
        </p:nvGraphicFramePr>
        <p:xfrm>
          <a:off x="548640" y="3063240"/>
          <a:ext cx="11091672" cy="2880360"/>
        </p:xfrm>
        <a:graphic>
          <a:graphicData uri="http://schemas.openxmlformats.org/drawingml/2006/table">
            <a:tbl>
              <a:tblPr firstRow="1" bandRow="1">
                <a:tableStyleId>{5C22544A-7EE6-4342-B048-85BDC9FD1C3A}</a:tableStyleId>
              </a:tblPr>
              <a:tblGrid>
                <a:gridCol w="1005840"/>
                <a:gridCol w="8074152"/>
                <a:gridCol w="2011680"/>
              </a:tblGrid>
              <a:tr h="480060">
                <a:tc>
                  <a:txBody>
                    <a:bodyPr/>
                    <a:lstStyle/>
                    <a:p>
                      <a:r>
                        <a:rPr b="1" sz="1300">
                          <a:solidFill>
                            <a:srgbClr val="FFFFFF"/>
                          </a:solidFill>
                          <a:latin typeface="Calibri"/>
                        </a:rPr>
                        <a:t>ID</a:t>
                      </a:r>
                    </a:p>
                  </a:txBody>
                  <a:tcPr marL="128016" marR="128016" marT="54864" marB="54864" anchor="ctr">
                    <a:solidFill>
                      <a:srgbClr val="1B4332"/>
                    </a:solidFill>
                  </a:tcPr>
                </a:tc>
                <a:tc>
                  <a:txBody>
                    <a:bodyPr/>
                    <a:lstStyle/>
                    <a:p>
                      <a:r>
                        <a:rPr b="1" sz="1300">
                          <a:solidFill>
                            <a:srgbClr val="FFFFFF"/>
                          </a:solidFill>
                          <a:latin typeface="Calibri"/>
                        </a:rPr>
                        <a:t>Scenario</a:t>
                      </a:r>
                    </a:p>
                  </a:txBody>
                  <a:tcPr marL="128016" marR="128016" marT="54864" marB="54864" anchor="ctr">
                    <a:solidFill>
                      <a:srgbClr val="1B4332"/>
                    </a:solidFill>
                  </a:tcPr>
                </a:tc>
                <a:tc>
                  <a:txBody>
                    <a:bodyPr/>
                    <a:lstStyle/>
                    <a:p>
                      <a:r>
                        <a:rPr b="1" sz="1300">
                          <a:solidFill>
                            <a:srgbClr val="FFFFFF"/>
                          </a:solidFill>
                          <a:latin typeface="Calibri"/>
                        </a:rPr>
                        <a:t>Statut</a:t>
                      </a:r>
                    </a:p>
                  </a:txBody>
                  <a:tcPr marL="128016" marR="128016" marT="54864" marB="54864" anchor="ctr">
                    <a:solidFill>
                      <a:srgbClr val="1B4332"/>
                    </a:solidFill>
                  </a:tcPr>
                </a:tc>
              </a:tr>
              <a:tr h="480060">
                <a:tc>
                  <a:txBody>
                    <a:bodyPr/>
                    <a:lstStyle/>
                    <a:p>
                      <a:r>
                        <a:rPr sz="1150">
                          <a:solidFill>
                            <a:srgbClr val="1C2B24"/>
                          </a:solidFill>
                          <a:latin typeface="Calibri"/>
                        </a:rPr>
                        <a:t>T-04</a:t>
                      </a:r>
                    </a:p>
                  </a:txBody>
                  <a:tcPr marL="128016" marR="128016" marT="54864" marB="54864" anchor="ctr">
                    <a:solidFill>
                      <a:srgbClr val="FFFFFF"/>
                    </a:solidFill>
                  </a:tcPr>
                </a:tc>
                <a:tc>
                  <a:txBody>
                    <a:bodyPr/>
                    <a:lstStyle/>
                    <a:p>
                      <a:r>
                        <a:rPr sz="1150">
                          <a:solidFill>
                            <a:srgbClr val="1C2B24"/>
                          </a:solidFill>
                          <a:latin typeface="Calibri"/>
                        </a:rPr>
                        <a:t>Recherche de signalements a proximite (rayon 5 km, tri par distance)</a:t>
                      </a:r>
                    </a:p>
                  </a:txBody>
                  <a:tcPr marL="128016" marR="128016" marT="54864" marB="54864" anchor="ctr">
                    <a:solidFill>
                      <a:srgbClr val="FFFFFF"/>
                    </a:solidFill>
                  </a:tcPr>
                </a:tc>
                <a:tc>
                  <a:txBody>
                    <a:bodyPr/>
                    <a:lstStyle/>
                    <a:p>
                      <a:r>
                        <a:rPr sz="1050" b="1">
                          <a:solidFill>
                            <a:srgbClr val="2D6A4F"/>
                          </a:solidFill>
                          <a:latin typeface="Calibri"/>
                        </a:rPr>
                        <a:t>Reussi</a:t>
                      </a:r>
                    </a:p>
                  </a:txBody>
                  <a:tcPr marL="128016" marR="128016" marT="54864" marB="54864" anchor="ctr">
                    <a:solidFill>
                      <a:srgbClr val="FFFFFF"/>
                    </a:solidFill>
                  </a:tcPr>
                </a:tc>
              </a:tr>
              <a:tr h="480060">
                <a:tc>
                  <a:txBody>
                    <a:bodyPr/>
                    <a:lstStyle/>
                    <a:p>
                      <a:r>
                        <a:rPr sz="1150">
                          <a:solidFill>
                            <a:srgbClr val="1C2B24"/>
                          </a:solidFill>
                          <a:latin typeface="Calibri"/>
                        </a:rPr>
                        <a:t>T-05</a:t>
                      </a:r>
                    </a:p>
                  </a:txBody>
                  <a:tcPr marL="128016" marR="128016" marT="54864" marB="54864" anchor="ctr">
                    <a:solidFill>
                      <a:srgbClr val="F5FAF7"/>
                    </a:solidFill>
                  </a:tcPr>
                </a:tc>
                <a:tc>
                  <a:txBody>
                    <a:bodyPr/>
                    <a:lstStyle/>
                    <a:p>
                      <a:r>
                        <a:rPr sz="1150">
                          <a:solidFill>
                            <a:srgbClr val="1C2B24"/>
                          </a:solidFill>
                          <a:latin typeface="Calibri"/>
                        </a:rPr>
                        <a:t>Acceptation simultanee d'une mission par deux collecteurs</a:t>
                      </a:r>
                    </a:p>
                  </a:txBody>
                  <a:tcPr marL="128016" marR="128016" marT="54864" marB="54864" anchor="ctr">
                    <a:solidFill>
                      <a:srgbClr val="F5FAF7"/>
                    </a:solidFill>
                  </a:tcPr>
                </a:tc>
                <a:tc>
                  <a:txBody>
                    <a:bodyPr/>
                    <a:lstStyle/>
                    <a:p>
                      <a:r>
                        <a:rPr sz="1050" b="1">
                          <a:solidFill>
                            <a:srgbClr val="2D6A4F"/>
                          </a:solidFill>
                          <a:latin typeface="Calibri"/>
                        </a:rPr>
                        <a:t>Reussi</a:t>
                      </a:r>
                    </a:p>
                  </a:txBody>
                  <a:tcPr marL="128016" marR="128016" marT="54864" marB="54864" anchor="ctr">
                    <a:solidFill>
                      <a:srgbClr val="F5FAF7"/>
                    </a:solidFill>
                  </a:tcPr>
                </a:tc>
              </a:tr>
              <a:tr h="480060">
                <a:tc>
                  <a:txBody>
                    <a:bodyPr/>
                    <a:lstStyle/>
                    <a:p>
                      <a:r>
                        <a:rPr sz="1150">
                          <a:solidFill>
                            <a:srgbClr val="1C2B24"/>
                          </a:solidFill>
                          <a:latin typeface="Calibri"/>
                        </a:rPr>
                        <a:t>T-07</a:t>
                      </a:r>
                    </a:p>
                  </a:txBody>
                  <a:tcPr marL="128016" marR="128016" marT="54864" marB="54864" anchor="ctr">
                    <a:solidFill>
                      <a:srgbClr val="FFFFFF"/>
                    </a:solidFill>
                  </a:tcPr>
                </a:tc>
                <a:tc>
                  <a:txBody>
                    <a:bodyPr/>
                    <a:lstStyle/>
                    <a:p>
                      <a:r>
                        <a:rPr sz="1150">
                          <a:solidFill>
                            <a:srgbClr val="1C2B24"/>
                          </a:solidFill>
                          <a:latin typeface="Calibri"/>
                        </a:rPr>
                        <a:t>Lecture d'un signalement par un utilisateur non participant</a:t>
                      </a:r>
                    </a:p>
                  </a:txBody>
                  <a:tcPr marL="128016" marR="128016" marT="54864" marB="54864" anchor="ctr">
                    <a:solidFill>
                      <a:srgbClr val="FFFFFF"/>
                    </a:solidFill>
                  </a:tcPr>
                </a:tc>
                <a:tc>
                  <a:txBody>
                    <a:bodyPr/>
                    <a:lstStyle/>
                    <a:p>
                      <a:r>
                        <a:rPr sz="1050" b="1">
                          <a:solidFill>
                            <a:srgbClr val="2D6A4F"/>
                          </a:solidFill>
                          <a:latin typeface="Calibri"/>
                        </a:rPr>
                        <a:t>Reussi (bloque)</a:t>
                      </a:r>
                    </a:p>
                  </a:txBody>
                  <a:tcPr marL="128016" marR="128016" marT="54864" marB="54864" anchor="ctr">
                    <a:solidFill>
                      <a:srgbClr val="FFFFFF"/>
                    </a:solidFill>
                  </a:tcPr>
                </a:tc>
              </a:tr>
              <a:tr h="480060">
                <a:tc>
                  <a:txBody>
                    <a:bodyPr/>
                    <a:lstStyle/>
                    <a:p>
                      <a:r>
                        <a:rPr sz="1150">
                          <a:solidFill>
                            <a:srgbClr val="1C2B24"/>
                          </a:solidFill>
                          <a:latin typeface="Calibri"/>
                        </a:rPr>
                        <a:t>T-09</a:t>
                      </a:r>
                    </a:p>
                  </a:txBody>
                  <a:tcPr marL="128016" marR="128016" marT="54864" marB="54864" anchor="ctr">
                    <a:solidFill>
                      <a:srgbClr val="F5FAF7"/>
                    </a:solidFill>
                  </a:tcPr>
                </a:tc>
                <a:tc>
                  <a:txBody>
                    <a:bodyPr/>
                    <a:lstStyle/>
                    <a:p>
                      <a:r>
                        <a:rPr sz="1150">
                          <a:solidFill>
                            <a:srgbClr val="1C2B24"/>
                          </a:solidFill>
                          <a:latin typeface="Calibri"/>
                        </a:rPr>
                        <a:t>Credit de points en double pour un meme signalement</a:t>
                      </a:r>
                    </a:p>
                  </a:txBody>
                  <a:tcPr marL="128016" marR="128016" marT="54864" marB="54864" anchor="ctr">
                    <a:solidFill>
                      <a:srgbClr val="F5FAF7"/>
                    </a:solidFill>
                  </a:tcPr>
                </a:tc>
                <a:tc>
                  <a:txBody>
                    <a:bodyPr/>
                    <a:lstStyle/>
                    <a:p>
                      <a:r>
                        <a:rPr sz="1050" b="1">
                          <a:solidFill>
                            <a:srgbClr val="2D6A4F"/>
                          </a:solidFill>
                          <a:latin typeface="Calibri"/>
                        </a:rPr>
                        <a:t>Reussi (bloque)</a:t>
                      </a:r>
                    </a:p>
                  </a:txBody>
                  <a:tcPr marL="128016" marR="128016" marT="54864" marB="54864" anchor="ctr">
                    <a:solidFill>
                      <a:srgbClr val="F5FAF7"/>
                    </a:solidFill>
                  </a:tcPr>
                </a:tc>
              </a:tr>
              <a:tr h="480060">
                <a:tc>
                  <a:txBody>
                    <a:bodyPr/>
                    <a:lstStyle/>
                    <a:p>
                      <a:r>
                        <a:rPr sz="1150">
                          <a:solidFill>
                            <a:srgbClr val="1C2B24"/>
                          </a:solidFill>
                          <a:latin typeface="Calibri"/>
                        </a:rPr>
                        <a:t>T-12</a:t>
                      </a:r>
                    </a:p>
                  </a:txBody>
                  <a:tcPr marL="128016" marR="128016" marT="54864" marB="54864" anchor="ctr">
                    <a:solidFill>
                      <a:srgbClr val="FFFFFF"/>
                    </a:solidFill>
                  </a:tcPr>
                </a:tc>
                <a:tc>
                  <a:txBody>
                    <a:bodyPr/>
                    <a:lstStyle/>
                    <a:p>
                      <a:r>
                        <a:rPr sz="1150">
                          <a:solidFill>
                            <a:srgbClr val="1C2B24"/>
                          </a:solidFill>
                          <a:latin typeface="Calibri"/>
                        </a:rPr>
                        <a:t>Chargement de carte en connexion mobile degradee</a:t>
                      </a:r>
                    </a:p>
                  </a:txBody>
                  <a:tcPr marL="128016" marR="128016" marT="54864" marB="54864" anchor="ctr">
                    <a:solidFill>
                      <a:srgbClr val="FFFFFF"/>
                    </a:solidFill>
                  </a:tcPr>
                </a:tc>
                <a:tc>
                  <a:txBody>
                    <a:bodyPr/>
                    <a:lstStyle/>
                    <a:p>
                      <a:r>
                        <a:rPr sz="1050" b="1">
                          <a:solidFill>
                            <a:srgbClr val="2D6A4F"/>
                          </a:solidFill>
                          <a:latin typeface="Calibri"/>
                        </a:rPr>
                        <a:t>Reussi (latence)</a:t>
                      </a:r>
                    </a:p>
                  </a:txBody>
                  <a:tcPr marL="128016" marR="128016" marT="54864" marB="54864" anchor="ctr">
                    <a:solidFill>
                      <a:srgbClr val="FFFFFF"/>
                    </a:solidFill>
                  </a:tcPr>
                </a:tc>
              </a:tr>
            </a:tbl>
          </a:graphicData>
        </a:graphic>
      </p:graphicFrame>
      <p:sp>
        <p:nvSpPr>
          <p:cNvPr id="16" name="TextBox 15"/>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17" name="TextBox 16"/>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6 — DEPLOIEMENT ET MAINTENANCE</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Pipeline d'integration et de deploiement continu</a:t>
            </a:r>
          </a:p>
        </p:txBody>
      </p:sp>
      <p:cxnSp>
        <p:nvCxnSpPr>
          <p:cNvPr id="6" name="Connector 5"/>
          <p:cNvCxnSpPr/>
          <p:nvPr/>
        </p:nvCxnSpPr>
        <p:spPr>
          <a:xfrm>
            <a:off x="2529687" y="2263140"/>
            <a:ext cx="274320" cy="0"/>
          </a:xfrm>
          <a:prstGeom prst="line">
            <a:avLst/>
          </a:prstGeom>
          <a:ln w="31750">
            <a:solidFill>
              <a:srgbClr val="FFB70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18007" y="1737360"/>
            <a:ext cx="2011680" cy="1051560"/>
          </a:xfrm>
          <a:prstGeom prst="roundRect">
            <a:avLst>
              <a:gd name="adj" fmla="val 15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447" y="1737360"/>
            <a:ext cx="1828800" cy="1051560"/>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Checkout</a:t>
            </a:r>
          </a:p>
        </p:txBody>
      </p:sp>
      <p:cxnSp>
        <p:nvCxnSpPr>
          <p:cNvPr id="9" name="Connector 8"/>
          <p:cNvCxnSpPr/>
          <p:nvPr/>
        </p:nvCxnSpPr>
        <p:spPr>
          <a:xfrm>
            <a:off x="4815687" y="2263140"/>
            <a:ext cx="274320" cy="0"/>
          </a:xfrm>
          <a:prstGeom prst="line">
            <a:avLst/>
          </a:prstGeom>
          <a:ln w="31750">
            <a:solidFill>
              <a:srgbClr val="FFB70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04007" y="1737360"/>
            <a:ext cx="2011680" cy="1051560"/>
          </a:xfrm>
          <a:prstGeom prst="roundRect">
            <a:avLst>
              <a:gd name="adj" fmla="val 15000"/>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5447" y="1737360"/>
            <a:ext cx="1828800" cy="1051560"/>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Java 17 +
Flutter SDK</a:t>
            </a:r>
          </a:p>
        </p:txBody>
      </p:sp>
      <p:cxnSp>
        <p:nvCxnSpPr>
          <p:cNvPr id="12" name="Connector 11"/>
          <p:cNvCxnSpPr/>
          <p:nvPr/>
        </p:nvCxnSpPr>
        <p:spPr>
          <a:xfrm>
            <a:off x="7101687" y="2263140"/>
            <a:ext cx="274320" cy="0"/>
          </a:xfrm>
          <a:prstGeom prst="line">
            <a:avLst/>
          </a:prstGeom>
          <a:ln w="31750">
            <a:solidFill>
              <a:srgbClr val="FFB703"/>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90007" y="1737360"/>
            <a:ext cx="2011680" cy="1051560"/>
          </a:xfrm>
          <a:prstGeom prst="roundRect">
            <a:avLst>
              <a:gd name="adj" fmla="val 15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81447" y="1737360"/>
            <a:ext cx="1828800" cy="1051560"/>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flutter pub get</a:t>
            </a:r>
          </a:p>
        </p:txBody>
      </p:sp>
      <p:cxnSp>
        <p:nvCxnSpPr>
          <p:cNvPr id="15" name="Connector 14"/>
          <p:cNvCxnSpPr/>
          <p:nvPr/>
        </p:nvCxnSpPr>
        <p:spPr>
          <a:xfrm>
            <a:off x="9387687" y="2263140"/>
            <a:ext cx="274320" cy="0"/>
          </a:xfrm>
          <a:prstGeom prst="line">
            <a:avLst/>
          </a:prstGeom>
          <a:ln w="31750">
            <a:solidFill>
              <a:srgbClr val="FFB70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76007" y="1737360"/>
            <a:ext cx="2011680" cy="1051560"/>
          </a:xfrm>
          <a:prstGeom prst="roundRect">
            <a:avLst>
              <a:gd name="adj" fmla="val 15000"/>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7447" y="1737360"/>
            <a:ext cx="1828800" cy="1051560"/>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Build
Android / iOS / Web</a:t>
            </a:r>
          </a:p>
        </p:txBody>
      </p:sp>
      <p:sp>
        <p:nvSpPr>
          <p:cNvPr id="18" name="Rounded Rectangle 17"/>
          <p:cNvSpPr/>
          <p:nvPr/>
        </p:nvSpPr>
        <p:spPr>
          <a:xfrm>
            <a:off x="9662007" y="1737360"/>
            <a:ext cx="2011680" cy="1051560"/>
          </a:xfrm>
          <a:prstGeom prst="roundRect">
            <a:avLst>
              <a:gd name="adj" fmla="val 15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53447" y="1737360"/>
            <a:ext cx="1828800" cy="1051560"/>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Artefacts
GitHub (7 jours)</a:t>
            </a:r>
          </a:p>
        </p:txBody>
      </p:sp>
      <p:sp>
        <p:nvSpPr>
          <p:cNvPr id="20" name="TextBox 19"/>
          <p:cNvSpPr txBox="1"/>
          <p:nvPr/>
        </p:nvSpPr>
        <p:spPr>
          <a:xfrm>
            <a:off x="548640" y="3108960"/>
            <a:ext cx="11094415" cy="640080"/>
          </a:xfrm>
          <a:prstGeom prst="rect">
            <a:avLst/>
          </a:prstGeom>
          <a:noFill/>
        </p:spPr>
        <p:txBody>
          <a:bodyPr wrap="square" lIns="0" rIns="0" tIns="0" bIns="0" anchor="t">
            <a:spAutoFit/>
          </a:bodyPr>
          <a:lstStyle/>
          <a:p>
            <a:pPr algn="l">
              <a:lnSpc>
                <a:spcPct val="120000"/>
              </a:lnSpc>
              <a:spcAft>
                <a:spcPts val="0"/>
              </a:spcAft>
            </a:pPr>
            <a:r>
              <a:rPr sz="1250" b="0" i="1">
                <a:solidFill>
                  <a:srgbClr val="1C2B24"/>
                </a:solidFill>
                <a:latin typeface="Calibri"/>
              </a:rPr>
              <a:t>Runner macOS (subosito/flutter-action, canal stable) — declenche a chaque push / pull request sur main. Un second pipeline (codemagic.yaml, mac_mini_m1) offre une redondance de build.</a:t>
            </a:r>
          </a:p>
        </p:txBody>
      </p:sp>
      <p:sp>
        <p:nvSpPr>
          <p:cNvPr id="21" name="Rounded Rectangle 20"/>
          <p:cNvSpPr/>
          <p:nvPr/>
        </p:nvSpPr>
        <p:spPr>
          <a:xfrm>
            <a:off x="548640" y="4114800"/>
            <a:ext cx="2615184" cy="214884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4297680"/>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297680"/>
            <a:ext cx="502920" cy="502920"/>
          </a:xfrm>
          <a:prstGeom prst="rect">
            <a:avLst/>
          </a:prstGeom>
          <a:noFill/>
        </p:spPr>
        <p:txBody>
          <a:bodyPr wrap="none" lIns="0" rIns="0" tIns="0" bIns="0" anchor="ctr">
            <a:spAutoFit/>
          </a:bodyPr>
          <a:lstStyle/>
          <a:p>
            <a:pPr algn="ctr"/>
            <a:r>
              <a:rPr sz="1800">
                <a:latin typeface="Segoe UI Emoji"/>
              </a:rPr>
              <a:t>🗄️</a:t>
            </a:r>
          </a:p>
        </p:txBody>
      </p:sp>
      <p:sp>
        <p:nvSpPr>
          <p:cNvPr id="24" name="TextBox 23"/>
          <p:cNvSpPr txBox="1"/>
          <p:nvPr/>
        </p:nvSpPr>
        <p:spPr>
          <a:xfrm>
            <a:off x="731520" y="4937760"/>
            <a:ext cx="2249424" cy="320040"/>
          </a:xfrm>
          <a:prstGeom prst="rect">
            <a:avLst/>
          </a:prstGeom>
          <a:noFill/>
        </p:spPr>
        <p:txBody>
          <a:bodyPr wrap="square" lIns="0" rIns="0" tIns="0" bIns="0" anchor="t">
            <a:spAutoFit/>
          </a:bodyPr>
          <a:lstStyle/>
          <a:p>
            <a:pPr algn="l">
              <a:lnSpc>
                <a:spcPct val="100000"/>
              </a:lnSpc>
              <a:spcAft>
                <a:spcPts val="0"/>
              </a:spcAft>
            </a:pPr>
            <a:r>
              <a:rPr sz="1250" b="1" i="0">
                <a:solidFill>
                  <a:srgbClr val="1B4332"/>
                </a:solidFill>
                <a:latin typeface="Cambria"/>
              </a:rPr>
              <a:t>Supabase</a:t>
            </a:r>
          </a:p>
        </p:txBody>
      </p:sp>
      <p:sp>
        <p:nvSpPr>
          <p:cNvPr id="25" name="TextBox 24"/>
          <p:cNvSpPr txBox="1"/>
          <p:nvPr/>
        </p:nvSpPr>
        <p:spPr>
          <a:xfrm>
            <a:off x="731520" y="5285232"/>
            <a:ext cx="2249424" cy="914400"/>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PostgreSQL, Auth, Storage et API REST heberges et geres par le fournisseur cloud.</a:t>
            </a:r>
          </a:p>
        </p:txBody>
      </p:sp>
      <p:sp>
        <p:nvSpPr>
          <p:cNvPr id="26" name="Rounded Rectangle 25"/>
          <p:cNvSpPr/>
          <p:nvPr/>
        </p:nvSpPr>
        <p:spPr>
          <a:xfrm>
            <a:off x="3328416" y="4114800"/>
            <a:ext cx="2615184" cy="214884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511296" y="4297680"/>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11296" y="4297680"/>
            <a:ext cx="502920" cy="502920"/>
          </a:xfrm>
          <a:prstGeom prst="rect">
            <a:avLst/>
          </a:prstGeom>
          <a:noFill/>
        </p:spPr>
        <p:txBody>
          <a:bodyPr wrap="none" lIns="0" rIns="0" tIns="0" bIns="0" anchor="ctr">
            <a:spAutoFit/>
          </a:bodyPr>
          <a:lstStyle/>
          <a:p>
            <a:pPr algn="ctr"/>
            <a:r>
              <a:rPr sz="1800">
                <a:latin typeface="Segoe UI Emoji"/>
              </a:rPr>
              <a:t>🌐</a:t>
            </a:r>
          </a:p>
        </p:txBody>
      </p:sp>
      <p:sp>
        <p:nvSpPr>
          <p:cNvPr id="29" name="TextBox 28"/>
          <p:cNvSpPr txBox="1"/>
          <p:nvPr/>
        </p:nvSpPr>
        <p:spPr>
          <a:xfrm>
            <a:off x="3511296" y="4937760"/>
            <a:ext cx="2249424" cy="320040"/>
          </a:xfrm>
          <a:prstGeom prst="rect">
            <a:avLst/>
          </a:prstGeom>
          <a:noFill/>
        </p:spPr>
        <p:txBody>
          <a:bodyPr wrap="square" lIns="0" rIns="0" tIns="0" bIns="0" anchor="t">
            <a:spAutoFit/>
          </a:bodyPr>
          <a:lstStyle/>
          <a:p>
            <a:pPr algn="l">
              <a:lnSpc>
                <a:spcPct val="100000"/>
              </a:lnSpc>
              <a:spcAft>
                <a:spcPts val="0"/>
              </a:spcAft>
            </a:pPr>
            <a:r>
              <a:rPr sz="1250" b="1" i="0">
                <a:solidFill>
                  <a:srgbClr val="1B4332"/>
                </a:solidFill>
                <a:latin typeface="Cambria"/>
              </a:rPr>
              <a:t>Build Web</a:t>
            </a:r>
          </a:p>
        </p:txBody>
      </p:sp>
      <p:sp>
        <p:nvSpPr>
          <p:cNvPr id="30" name="TextBox 29"/>
          <p:cNvSpPr txBox="1"/>
          <p:nvPr/>
        </p:nvSpPr>
        <p:spPr>
          <a:xfrm>
            <a:off x="3511296" y="5285232"/>
            <a:ext cx="2249424" cy="914400"/>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Publiable sur un hebergeur statique (Firebase Hosting, GitHub Pages, ...).</a:t>
            </a:r>
          </a:p>
        </p:txBody>
      </p:sp>
      <p:sp>
        <p:nvSpPr>
          <p:cNvPr id="31" name="Rounded Rectangle 30"/>
          <p:cNvSpPr/>
          <p:nvPr/>
        </p:nvSpPr>
        <p:spPr>
          <a:xfrm>
            <a:off x="6108192" y="4114800"/>
            <a:ext cx="2615184" cy="214884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291072" y="4297680"/>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4297680"/>
            <a:ext cx="502920" cy="502920"/>
          </a:xfrm>
          <a:prstGeom prst="rect">
            <a:avLst/>
          </a:prstGeom>
          <a:noFill/>
        </p:spPr>
        <p:txBody>
          <a:bodyPr wrap="none" lIns="0" rIns="0" tIns="0" bIns="0" anchor="ctr">
            <a:spAutoFit/>
          </a:bodyPr>
          <a:lstStyle/>
          <a:p>
            <a:pPr algn="ctr"/>
            <a:r>
              <a:rPr sz="1800">
                <a:latin typeface="Segoe UI Emoji"/>
              </a:rPr>
              <a:t>📦</a:t>
            </a:r>
          </a:p>
        </p:txBody>
      </p:sp>
      <p:sp>
        <p:nvSpPr>
          <p:cNvPr id="34" name="TextBox 33"/>
          <p:cNvSpPr txBox="1"/>
          <p:nvPr/>
        </p:nvSpPr>
        <p:spPr>
          <a:xfrm>
            <a:off x="6291072" y="4937760"/>
            <a:ext cx="2249424" cy="320040"/>
          </a:xfrm>
          <a:prstGeom prst="rect">
            <a:avLst/>
          </a:prstGeom>
          <a:noFill/>
        </p:spPr>
        <p:txBody>
          <a:bodyPr wrap="square" lIns="0" rIns="0" tIns="0" bIns="0" anchor="t">
            <a:spAutoFit/>
          </a:bodyPr>
          <a:lstStyle/>
          <a:p>
            <a:pPr algn="l">
              <a:lnSpc>
                <a:spcPct val="100000"/>
              </a:lnSpc>
              <a:spcAft>
                <a:spcPts val="0"/>
              </a:spcAft>
            </a:pPr>
            <a:r>
              <a:rPr sz="1250" b="1" i="0">
                <a:solidFill>
                  <a:srgbClr val="1B4332"/>
                </a:solidFill>
                <a:latin typeface="Cambria"/>
              </a:rPr>
              <a:t>APK / iOS</a:t>
            </a:r>
          </a:p>
        </p:txBody>
      </p:sp>
      <p:sp>
        <p:nvSpPr>
          <p:cNvPr id="35" name="TextBox 34"/>
          <p:cNvSpPr txBox="1"/>
          <p:nvPr/>
        </p:nvSpPr>
        <p:spPr>
          <a:xfrm>
            <a:off x="6291072" y="5285232"/>
            <a:ext cx="2249424" cy="914400"/>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Distribues en artefacts telechargeables — publication stores en perspective.</a:t>
            </a:r>
          </a:p>
        </p:txBody>
      </p:sp>
      <p:sp>
        <p:nvSpPr>
          <p:cNvPr id="36" name="Rounded Rectangle 35"/>
          <p:cNvSpPr/>
          <p:nvPr/>
        </p:nvSpPr>
        <p:spPr>
          <a:xfrm>
            <a:off x="8887968" y="4114800"/>
            <a:ext cx="2615184" cy="214884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070848" y="4297680"/>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70848" y="4297680"/>
            <a:ext cx="502920" cy="502920"/>
          </a:xfrm>
          <a:prstGeom prst="rect">
            <a:avLst/>
          </a:prstGeom>
          <a:noFill/>
        </p:spPr>
        <p:txBody>
          <a:bodyPr wrap="none" lIns="0" rIns="0" tIns="0" bIns="0" anchor="ctr">
            <a:spAutoFit/>
          </a:bodyPr>
          <a:lstStyle/>
          <a:p>
            <a:pPr algn="ctr"/>
            <a:r>
              <a:rPr sz="1800">
                <a:latin typeface="Segoe UI Emoji"/>
              </a:rPr>
              <a:t>🔑</a:t>
            </a:r>
          </a:p>
        </p:txBody>
      </p:sp>
      <p:sp>
        <p:nvSpPr>
          <p:cNvPr id="39" name="TextBox 38"/>
          <p:cNvSpPr txBox="1"/>
          <p:nvPr/>
        </p:nvSpPr>
        <p:spPr>
          <a:xfrm>
            <a:off x="9070848" y="4937760"/>
            <a:ext cx="2249424" cy="320040"/>
          </a:xfrm>
          <a:prstGeom prst="rect">
            <a:avLst/>
          </a:prstGeom>
          <a:noFill/>
        </p:spPr>
        <p:txBody>
          <a:bodyPr wrap="square" lIns="0" rIns="0" tIns="0" bIns="0" anchor="t">
            <a:spAutoFit/>
          </a:bodyPr>
          <a:lstStyle/>
          <a:p>
            <a:pPr algn="l">
              <a:lnSpc>
                <a:spcPct val="100000"/>
              </a:lnSpc>
              <a:spcAft>
                <a:spcPts val="0"/>
              </a:spcAft>
            </a:pPr>
            <a:r>
              <a:rPr sz="1250" b="1" i="0">
                <a:solidFill>
                  <a:srgbClr val="1B4332"/>
                </a:solidFill>
                <a:latin typeface="Cambria"/>
              </a:rPr>
              <a:t>Secrets</a:t>
            </a:r>
          </a:p>
        </p:txBody>
      </p:sp>
      <p:sp>
        <p:nvSpPr>
          <p:cNvPr id="40" name="TextBox 39"/>
          <p:cNvSpPr txBox="1"/>
          <p:nvPr/>
        </p:nvSpPr>
        <p:spPr>
          <a:xfrm>
            <a:off x="9070848" y="5285232"/>
            <a:ext cx="2249424" cy="914400"/>
          </a:xfrm>
          <a:prstGeom prst="rect">
            <a:avLst/>
          </a:prstGeom>
          <a:noFill/>
        </p:spPr>
        <p:txBody>
          <a:bodyPr wrap="square" lIns="0" rIns="0" tIns="0" bIns="0" anchor="t">
            <a:spAutoFit/>
          </a:bodyPr>
          <a:lstStyle/>
          <a:p>
            <a:pPr algn="l">
              <a:lnSpc>
                <a:spcPct val="115000"/>
              </a:lnSpc>
              <a:spcAft>
                <a:spcPts val="0"/>
              </a:spcAft>
            </a:pPr>
            <a:r>
              <a:rPr sz="1000" b="0" i="0">
                <a:solidFill>
                  <a:srgbClr val="5C6B65"/>
                </a:solidFill>
                <a:latin typeface="Calibri"/>
              </a:rPr>
              <a:t>Cles injectees via --dart-define, jamais codees en dur dans le depot.</a:t>
            </a:r>
          </a:p>
        </p:txBody>
      </p:sp>
      <p:sp>
        <p:nvSpPr>
          <p:cNvPr id="41" name="TextBox 40"/>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42" name="TextBox 41"/>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7 — BILAN DU PROJET</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Competences d'ingenierie logicielle acquises</a:t>
            </a:r>
          </a:p>
        </p:txBody>
      </p:sp>
      <p:sp>
        <p:nvSpPr>
          <p:cNvPr id="6" name="Rounded Rectangle 5"/>
          <p:cNvSpPr/>
          <p:nvPr/>
        </p:nvSpPr>
        <p:spPr>
          <a:xfrm>
            <a:off x="548640" y="1554480"/>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5564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55648"/>
            <a:ext cx="502920" cy="502920"/>
          </a:xfrm>
          <a:prstGeom prst="rect">
            <a:avLst/>
          </a:prstGeom>
          <a:noFill/>
        </p:spPr>
        <p:txBody>
          <a:bodyPr wrap="none" lIns="0" rIns="0" tIns="0" bIns="0" anchor="ctr">
            <a:spAutoFit/>
          </a:bodyPr>
          <a:lstStyle/>
          <a:p>
            <a:pPr algn="ctr"/>
            <a:r>
              <a:rPr sz="1800">
                <a:latin typeface="Segoe UI Emoji"/>
              </a:rPr>
              <a:t>📱</a:t>
            </a:r>
          </a:p>
        </p:txBody>
      </p:sp>
      <p:sp>
        <p:nvSpPr>
          <p:cNvPr id="9" name="TextBox 8"/>
          <p:cNvSpPr txBox="1"/>
          <p:nvPr/>
        </p:nvSpPr>
        <p:spPr>
          <a:xfrm>
            <a:off x="749808" y="2395728"/>
            <a:ext cx="3163824" cy="365760"/>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mbria"/>
              </a:rPr>
              <a:t>Dev. multiplateforme</a:t>
            </a:r>
          </a:p>
        </p:txBody>
      </p:sp>
      <p:sp>
        <p:nvSpPr>
          <p:cNvPr id="10" name="TextBox 9"/>
          <p:cNvSpPr txBox="1"/>
          <p:nvPr/>
        </p:nvSpPr>
        <p:spPr>
          <a:xfrm>
            <a:off x="749808" y="2761488"/>
            <a:ext cx="3163824" cy="685800"/>
          </a:xfrm>
          <a:prstGeom prst="rect">
            <a:avLst/>
          </a:prstGeom>
          <a:noFill/>
        </p:spPr>
        <p:txBody>
          <a:bodyPr wrap="square" lIns="0" rIns="0" tIns="0" bIns="0" anchor="t">
            <a:spAutoFit/>
          </a:bodyPr>
          <a:lstStyle/>
          <a:p>
            <a:pPr algn="l">
              <a:lnSpc>
                <a:spcPct val="118000"/>
              </a:lnSpc>
              <a:spcAft>
                <a:spcPts val="0"/>
              </a:spcAft>
            </a:pPr>
            <a:r>
              <a:rPr sz="1050" b="0" i="0">
                <a:solidFill>
                  <a:srgbClr val="5C6B65"/>
                </a:solidFill>
                <a:latin typeface="Calibri"/>
              </a:rPr>
              <a:t>Flutter/Dart : gestion d'etat, navigation declarative (go_router), SDK tiers.</a:t>
            </a:r>
          </a:p>
        </p:txBody>
      </p:sp>
      <p:sp>
        <p:nvSpPr>
          <p:cNvPr id="11" name="Rounded Rectangle 10"/>
          <p:cNvSpPr/>
          <p:nvPr/>
        </p:nvSpPr>
        <p:spPr>
          <a:xfrm>
            <a:off x="4297680" y="1554480"/>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98848" y="175564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755648"/>
            <a:ext cx="502920" cy="502920"/>
          </a:xfrm>
          <a:prstGeom prst="rect">
            <a:avLst/>
          </a:prstGeom>
          <a:noFill/>
        </p:spPr>
        <p:txBody>
          <a:bodyPr wrap="none" lIns="0" rIns="0" tIns="0" bIns="0" anchor="ctr">
            <a:spAutoFit/>
          </a:bodyPr>
          <a:lstStyle/>
          <a:p>
            <a:pPr algn="ctr"/>
            <a:r>
              <a:rPr sz="1800">
                <a:latin typeface="Segoe UI Emoji"/>
              </a:rPr>
              <a:t>🗄️</a:t>
            </a:r>
          </a:p>
        </p:txBody>
      </p:sp>
      <p:sp>
        <p:nvSpPr>
          <p:cNvPr id="14" name="TextBox 13"/>
          <p:cNvSpPr txBox="1"/>
          <p:nvPr/>
        </p:nvSpPr>
        <p:spPr>
          <a:xfrm>
            <a:off x="4498848" y="2395728"/>
            <a:ext cx="3163824" cy="365760"/>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mbria"/>
              </a:rPr>
              <a:t>Bases de donnees</a:t>
            </a:r>
          </a:p>
        </p:txBody>
      </p:sp>
      <p:sp>
        <p:nvSpPr>
          <p:cNvPr id="15" name="TextBox 14"/>
          <p:cNvSpPr txBox="1"/>
          <p:nvPr/>
        </p:nvSpPr>
        <p:spPr>
          <a:xfrm>
            <a:off x="4498848" y="2761488"/>
            <a:ext cx="3163824" cy="685800"/>
          </a:xfrm>
          <a:prstGeom prst="rect">
            <a:avLst/>
          </a:prstGeom>
          <a:noFill/>
        </p:spPr>
        <p:txBody>
          <a:bodyPr wrap="square" lIns="0" rIns="0" tIns="0" bIns="0" anchor="t">
            <a:spAutoFit/>
          </a:bodyPr>
          <a:lstStyle/>
          <a:p>
            <a:pPr algn="l">
              <a:lnSpc>
                <a:spcPct val="118000"/>
              </a:lnSpc>
              <a:spcAft>
                <a:spcPts val="0"/>
              </a:spcAft>
            </a:pPr>
            <a:r>
              <a:rPr sz="1050" b="0" i="0">
                <a:solidFill>
                  <a:srgbClr val="5C6B65"/>
                </a:solidFill>
                <a:latin typeface="Calibri"/>
              </a:rPr>
              <a:t>Modelisation relationnelle PostgreSQL, donnees geospatiales PostGIS, fonctions RPC.</a:t>
            </a:r>
          </a:p>
        </p:txBody>
      </p:sp>
      <p:sp>
        <p:nvSpPr>
          <p:cNvPr id="16" name="Rounded Rectangle 15"/>
          <p:cNvSpPr/>
          <p:nvPr/>
        </p:nvSpPr>
        <p:spPr>
          <a:xfrm>
            <a:off x="8046720" y="1554480"/>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47888" y="1755648"/>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755648"/>
            <a:ext cx="502920" cy="502920"/>
          </a:xfrm>
          <a:prstGeom prst="rect">
            <a:avLst/>
          </a:prstGeom>
          <a:noFill/>
        </p:spPr>
        <p:txBody>
          <a:bodyPr wrap="none" lIns="0" rIns="0" tIns="0" bIns="0" anchor="ctr">
            <a:spAutoFit/>
          </a:bodyPr>
          <a:lstStyle/>
          <a:p>
            <a:pPr algn="ctr"/>
            <a:r>
              <a:rPr sz="1800">
                <a:latin typeface="Segoe UI Emoji"/>
              </a:rPr>
              <a:t>🔒</a:t>
            </a:r>
          </a:p>
        </p:txBody>
      </p:sp>
      <p:sp>
        <p:nvSpPr>
          <p:cNvPr id="19" name="TextBox 18"/>
          <p:cNvSpPr txBox="1"/>
          <p:nvPr/>
        </p:nvSpPr>
        <p:spPr>
          <a:xfrm>
            <a:off x="8247888" y="2395728"/>
            <a:ext cx="3163824" cy="365760"/>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mbria"/>
              </a:rPr>
              <a:t>Securite applicative</a:t>
            </a:r>
          </a:p>
        </p:txBody>
      </p:sp>
      <p:sp>
        <p:nvSpPr>
          <p:cNvPr id="20" name="TextBox 19"/>
          <p:cNvSpPr txBox="1"/>
          <p:nvPr/>
        </p:nvSpPr>
        <p:spPr>
          <a:xfrm>
            <a:off x="8247888" y="2761488"/>
            <a:ext cx="3163824" cy="685800"/>
          </a:xfrm>
          <a:prstGeom prst="rect">
            <a:avLst/>
          </a:prstGeom>
          <a:noFill/>
        </p:spPr>
        <p:txBody>
          <a:bodyPr wrap="square" lIns="0" rIns="0" tIns="0" bIns="0" anchor="t">
            <a:spAutoFit/>
          </a:bodyPr>
          <a:lstStyle/>
          <a:p>
            <a:pPr algn="l">
              <a:lnSpc>
                <a:spcPct val="118000"/>
              </a:lnSpc>
              <a:spcAft>
                <a:spcPts val="0"/>
              </a:spcAft>
            </a:pPr>
            <a:r>
              <a:rPr sz="1050" b="0" i="0">
                <a:solidFill>
                  <a:srgbClr val="5C6B65"/>
                </a:solidFill>
                <a:latin typeface="Calibri"/>
              </a:rPr>
              <a:t>Mise en oeuvre concrete du Row Level Security au-dela des controles applicatifs.</a:t>
            </a:r>
          </a:p>
        </p:txBody>
      </p:sp>
      <p:sp>
        <p:nvSpPr>
          <p:cNvPr id="21" name="Rounded Rectangle 20"/>
          <p:cNvSpPr/>
          <p:nvPr/>
        </p:nvSpPr>
        <p:spPr>
          <a:xfrm>
            <a:off x="548640" y="3721608"/>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9808" y="3922776"/>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922776"/>
            <a:ext cx="502920" cy="502920"/>
          </a:xfrm>
          <a:prstGeom prst="rect">
            <a:avLst/>
          </a:prstGeom>
          <a:noFill/>
        </p:spPr>
        <p:txBody>
          <a:bodyPr wrap="none" lIns="0" rIns="0" tIns="0" bIns="0" anchor="ctr">
            <a:spAutoFit/>
          </a:bodyPr>
          <a:lstStyle/>
          <a:p>
            <a:pPr algn="ctr"/>
            <a:r>
              <a:rPr sz="1800">
                <a:latin typeface="Segoe UI Emoji"/>
              </a:rPr>
              <a:t>🔀</a:t>
            </a:r>
          </a:p>
        </p:txBody>
      </p:sp>
      <p:sp>
        <p:nvSpPr>
          <p:cNvPr id="24" name="TextBox 23"/>
          <p:cNvSpPr txBox="1"/>
          <p:nvPr/>
        </p:nvSpPr>
        <p:spPr>
          <a:xfrm>
            <a:off x="749808" y="4562856"/>
            <a:ext cx="3163824" cy="365760"/>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mbria"/>
              </a:rPr>
              <a:t>DevOps</a:t>
            </a:r>
          </a:p>
        </p:txBody>
      </p:sp>
      <p:sp>
        <p:nvSpPr>
          <p:cNvPr id="25" name="TextBox 24"/>
          <p:cNvSpPr txBox="1"/>
          <p:nvPr/>
        </p:nvSpPr>
        <p:spPr>
          <a:xfrm>
            <a:off x="749808" y="4928616"/>
            <a:ext cx="3163824" cy="685800"/>
          </a:xfrm>
          <a:prstGeom prst="rect">
            <a:avLst/>
          </a:prstGeom>
          <a:noFill/>
        </p:spPr>
        <p:txBody>
          <a:bodyPr wrap="square" lIns="0" rIns="0" tIns="0" bIns="0" anchor="t">
            <a:spAutoFit/>
          </a:bodyPr>
          <a:lstStyle/>
          <a:p>
            <a:pPr algn="l">
              <a:lnSpc>
                <a:spcPct val="118000"/>
              </a:lnSpc>
              <a:spcAft>
                <a:spcPts val="0"/>
              </a:spcAft>
            </a:pPr>
            <a:r>
              <a:rPr sz="1050" b="0" i="0">
                <a:solidFill>
                  <a:srgbClr val="5C6B65"/>
                </a:solidFill>
                <a:latin typeface="Calibri"/>
              </a:rPr>
              <a:t>Versionnement Git/GitHub et pipeline CI/CD avec GitHub Actions.</a:t>
            </a:r>
          </a:p>
        </p:txBody>
      </p:sp>
      <p:sp>
        <p:nvSpPr>
          <p:cNvPr id="26" name="Rounded Rectangle 25"/>
          <p:cNvSpPr/>
          <p:nvPr/>
        </p:nvSpPr>
        <p:spPr>
          <a:xfrm>
            <a:off x="4297680" y="3721608"/>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498848" y="3922776"/>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8848" y="3922776"/>
            <a:ext cx="502920" cy="502920"/>
          </a:xfrm>
          <a:prstGeom prst="rect">
            <a:avLst/>
          </a:prstGeom>
          <a:noFill/>
        </p:spPr>
        <p:txBody>
          <a:bodyPr wrap="none" lIns="0" rIns="0" tIns="0" bIns="0" anchor="ctr">
            <a:spAutoFit/>
          </a:bodyPr>
          <a:lstStyle/>
          <a:p>
            <a:pPr algn="ctr"/>
            <a:r>
              <a:rPr sz="1800">
                <a:latin typeface="Segoe UI Emoji"/>
              </a:rPr>
              <a:t>📄</a:t>
            </a:r>
          </a:p>
        </p:txBody>
      </p:sp>
      <p:sp>
        <p:nvSpPr>
          <p:cNvPr id="29" name="TextBox 28"/>
          <p:cNvSpPr txBox="1"/>
          <p:nvPr/>
        </p:nvSpPr>
        <p:spPr>
          <a:xfrm>
            <a:off x="4498848" y="4562856"/>
            <a:ext cx="3163824" cy="365760"/>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mbria"/>
              </a:rPr>
              <a:t>Documentation</a:t>
            </a:r>
          </a:p>
        </p:txBody>
      </p:sp>
      <p:sp>
        <p:nvSpPr>
          <p:cNvPr id="30" name="TextBox 29"/>
          <p:cNvSpPr txBox="1"/>
          <p:nvPr/>
        </p:nvSpPr>
        <p:spPr>
          <a:xfrm>
            <a:off x="4498848" y="4928616"/>
            <a:ext cx="3163824" cy="685800"/>
          </a:xfrm>
          <a:prstGeom prst="rect">
            <a:avLst/>
          </a:prstGeom>
          <a:noFill/>
        </p:spPr>
        <p:txBody>
          <a:bodyPr wrap="square" lIns="0" rIns="0" tIns="0" bIns="0" anchor="t">
            <a:spAutoFit/>
          </a:bodyPr>
          <a:lstStyle/>
          <a:p>
            <a:pPr algn="l">
              <a:lnSpc>
                <a:spcPct val="118000"/>
              </a:lnSpc>
              <a:spcAft>
                <a:spcPts val="0"/>
              </a:spcAft>
            </a:pPr>
            <a:r>
              <a:rPr sz="1050" b="0" i="0">
                <a:solidFill>
                  <a:srgbClr val="5C6B65"/>
                </a:solidFill>
                <a:latin typeface="Calibri"/>
              </a:rPr>
              <a:t>Diagrammes UML/C4, dictionnaire de donnees, cahier des charges structure.</a:t>
            </a:r>
          </a:p>
        </p:txBody>
      </p:sp>
      <p:sp>
        <p:nvSpPr>
          <p:cNvPr id="31" name="Rounded Rectangle 30"/>
          <p:cNvSpPr/>
          <p:nvPr/>
        </p:nvSpPr>
        <p:spPr>
          <a:xfrm>
            <a:off x="8046720" y="3721608"/>
            <a:ext cx="3566160" cy="1965960"/>
          </a:xfrm>
          <a:prstGeom prst="roundRect">
            <a:avLst>
              <a:gd name="adj" fmla="val 6000"/>
            </a:avLst>
          </a:prstGeom>
          <a:solidFill>
            <a:srgbClr val="EAF4EE"/>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47888" y="3922776"/>
            <a:ext cx="502920" cy="5029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47888" y="3922776"/>
            <a:ext cx="502920" cy="502920"/>
          </a:xfrm>
          <a:prstGeom prst="rect">
            <a:avLst/>
          </a:prstGeom>
          <a:noFill/>
        </p:spPr>
        <p:txBody>
          <a:bodyPr wrap="none" lIns="0" rIns="0" tIns="0" bIns="0" anchor="ctr">
            <a:spAutoFit/>
          </a:bodyPr>
          <a:lstStyle/>
          <a:p>
            <a:pPr algn="ctr"/>
            <a:r>
              <a:rPr sz="1800">
                <a:latin typeface="Segoe UI Emoji"/>
              </a:rPr>
              <a:t>🗃️</a:t>
            </a:r>
          </a:p>
        </p:txBody>
      </p:sp>
      <p:sp>
        <p:nvSpPr>
          <p:cNvPr id="34" name="TextBox 33"/>
          <p:cNvSpPr txBox="1"/>
          <p:nvPr/>
        </p:nvSpPr>
        <p:spPr>
          <a:xfrm>
            <a:off x="8247888" y="4562856"/>
            <a:ext cx="3163824" cy="365760"/>
          </a:xfrm>
          <a:prstGeom prst="rect">
            <a:avLst/>
          </a:prstGeom>
          <a:noFill/>
        </p:spPr>
        <p:txBody>
          <a:bodyPr wrap="square" lIns="0" rIns="0" tIns="0" bIns="0" anchor="t">
            <a:spAutoFit/>
          </a:bodyPr>
          <a:lstStyle/>
          <a:p>
            <a:pPr algn="l">
              <a:lnSpc>
                <a:spcPct val="100000"/>
              </a:lnSpc>
              <a:spcAft>
                <a:spcPts val="0"/>
              </a:spcAft>
            </a:pPr>
            <a:r>
              <a:rPr sz="1300" b="1" i="0">
                <a:solidFill>
                  <a:srgbClr val="1B4332"/>
                </a:solidFill>
                <a:latin typeface="Cambria"/>
              </a:rPr>
              <a:t>Gestion de projet</a:t>
            </a:r>
          </a:p>
        </p:txBody>
      </p:sp>
      <p:sp>
        <p:nvSpPr>
          <p:cNvPr id="35" name="TextBox 34"/>
          <p:cNvSpPr txBox="1"/>
          <p:nvPr/>
        </p:nvSpPr>
        <p:spPr>
          <a:xfrm>
            <a:off x="8247888" y="4928616"/>
            <a:ext cx="3163824" cy="685800"/>
          </a:xfrm>
          <a:prstGeom prst="rect">
            <a:avLst/>
          </a:prstGeom>
          <a:noFill/>
        </p:spPr>
        <p:txBody>
          <a:bodyPr wrap="square" lIns="0" rIns="0" tIns="0" bIns="0" anchor="t">
            <a:spAutoFit/>
          </a:bodyPr>
          <a:lstStyle/>
          <a:p>
            <a:pPr algn="l">
              <a:lnSpc>
                <a:spcPct val="118000"/>
              </a:lnSpc>
              <a:spcAft>
                <a:spcPts val="0"/>
              </a:spcAft>
            </a:pPr>
            <a:r>
              <a:rPr sz="1050" b="0" i="0">
                <a:solidFill>
                  <a:srgbClr val="5C6B65"/>
                </a:solidFill>
                <a:latin typeface="Calibri"/>
              </a:rPr>
              <a:t>Planification individuelle, priorisation sous delai contraint de licence.</a:t>
            </a:r>
          </a:p>
        </p:txBody>
      </p:sp>
      <p:sp>
        <p:nvSpPr>
          <p:cNvPr id="36" name="TextBox 35"/>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37" name="TextBox 36"/>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365760"/>
            <a:ext cx="658368" cy="658368"/>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658368" cy="658368"/>
          </a:xfrm>
          <a:prstGeom prst="rect">
            <a:avLst/>
          </a:prstGeom>
          <a:noFill/>
        </p:spPr>
        <p:txBody>
          <a:bodyPr wrap="none" lIns="0" rIns="0" tIns="0" bIns="0" anchor="ctr">
            <a:spAutoFit/>
          </a:bodyPr>
          <a:lstStyle/>
          <a:p>
            <a:pPr algn="ctr"/>
            <a:r>
              <a:rPr sz="2200">
                <a:latin typeface="Segoe UI Emoji"/>
              </a:rPr>
              <a:t>🔮</a:t>
            </a:r>
          </a:p>
        </p:txBody>
      </p:sp>
      <p:sp>
        <p:nvSpPr>
          <p:cNvPr id="4" name="TextBox 3"/>
          <p:cNvSpPr txBox="1"/>
          <p:nvPr/>
        </p:nvSpPr>
        <p:spPr>
          <a:xfrm>
            <a:off x="1389888" y="347472"/>
            <a:ext cx="9601200" cy="237744"/>
          </a:xfrm>
          <a:prstGeom prst="rect">
            <a:avLst/>
          </a:prstGeom>
          <a:noFill/>
        </p:spPr>
        <p:txBody>
          <a:bodyPr wrap="square" lIns="0" rIns="0" tIns="0" bIns="0" anchor="t">
            <a:spAutoFit/>
          </a:bodyPr>
          <a:lstStyle/>
          <a:p>
            <a:pPr algn="l">
              <a:lnSpc>
                <a:spcPct val="100000"/>
              </a:lnSpc>
              <a:spcAft>
                <a:spcPts val="0"/>
              </a:spcAft>
            </a:pPr>
            <a:r>
              <a:rPr sz="1150" b="1" i="0">
                <a:solidFill>
                  <a:srgbClr val="5C6B65"/>
                </a:solidFill>
                <a:latin typeface="Calibri"/>
              </a:rPr>
              <a:t>CHAPITRE 7 — REGARD CRITIQUE</a:t>
            </a:r>
          </a:p>
        </p:txBody>
      </p:sp>
      <p:sp>
        <p:nvSpPr>
          <p:cNvPr id="5" name="TextBox 4"/>
          <p:cNvSpPr txBox="1"/>
          <p:nvPr/>
        </p:nvSpPr>
        <p:spPr>
          <a:xfrm>
            <a:off x="1389888" y="576072"/>
            <a:ext cx="10698480" cy="621792"/>
          </a:xfrm>
          <a:prstGeom prst="rect">
            <a:avLst/>
          </a:prstGeom>
          <a:noFill/>
        </p:spPr>
        <p:txBody>
          <a:bodyPr wrap="square" lIns="0" rIns="0" tIns="0" bIns="0" anchor="t">
            <a:spAutoFit/>
          </a:bodyPr>
          <a:lstStyle/>
          <a:p>
            <a:pPr algn="l">
              <a:lnSpc>
                <a:spcPct val="105000"/>
              </a:lnSpc>
              <a:spcAft>
                <a:spcPts val="0"/>
              </a:spcAft>
            </a:pPr>
            <a:r>
              <a:rPr sz="2300" b="1" i="0">
                <a:solidFill>
                  <a:srgbClr val="1B4332"/>
                </a:solidFill>
                <a:latin typeface="Cambria"/>
              </a:rPr>
              <a:t>Limites identifiees et perspectives d'evolution</a:t>
            </a:r>
          </a:p>
        </p:txBody>
      </p:sp>
      <p:sp>
        <p:nvSpPr>
          <p:cNvPr id="6" name="Rounded Rectangle 5"/>
          <p:cNvSpPr/>
          <p:nvPr/>
        </p:nvSpPr>
        <p:spPr>
          <a:xfrm>
            <a:off x="548640" y="1554480"/>
            <a:ext cx="5440680" cy="4480560"/>
          </a:xfrm>
          <a:prstGeom prst="roundRect">
            <a:avLst>
              <a:gd name="adj" fmla="val 6000"/>
            </a:avLst>
          </a:prstGeom>
          <a:solidFill>
            <a:srgbClr val="F5FAF7"/>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2" y="1810512"/>
            <a:ext cx="548640" cy="548640"/>
          </a:xfrm>
          <a:prstGeom prst="ellipse">
            <a:avLst/>
          </a:prstGeom>
          <a:solidFill>
            <a:srgbClr val="5C6B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10512"/>
            <a:ext cx="548640" cy="548640"/>
          </a:xfrm>
          <a:prstGeom prst="rect">
            <a:avLst/>
          </a:prstGeom>
          <a:noFill/>
        </p:spPr>
        <p:txBody>
          <a:bodyPr wrap="none" lIns="0" rIns="0" tIns="0" bIns="0" anchor="ctr">
            <a:spAutoFit/>
          </a:bodyPr>
          <a:lstStyle/>
          <a:p>
            <a:pPr algn="ctr"/>
            <a:r>
              <a:rPr sz="2000">
                <a:latin typeface="Segoe UI Emoji"/>
              </a:rPr>
              <a:t>⚠️</a:t>
            </a:r>
          </a:p>
        </p:txBody>
      </p:sp>
      <p:sp>
        <p:nvSpPr>
          <p:cNvPr id="9" name="TextBox 8"/>
          <p:cNvSpPr txBox="1"/>
          <p:nvPr/>
        </p:nvSpPr>
        <p:spPr>
          <a:xfrm>
            <a:off x="1508760" y="1920240"/>
            <a:ext cx="4114800" cy="320040"/>
          </a:xfrm>
          <a:prstGeom prst="rect">
            <a:avLst/>
          </a:prstGeom>
          <a:noFill/>
        </p:spPr>
        <p:txBody>
          <a:bodyPr wrap="square" lIns="0" rIns="0" tIns="0" bIns="0" anchor="t">
            <a:spAutoFit/>
          </a:bodyPr>
          <a:lstStyle/>
          <a:p>
            <a:pPr algn="l">
              <a:lnSpc>
                <a:spcPct val="100000"/>
              </a:lnSpc>
              <a:spcAft>
                <a:spcPts val="0"/>
              </a:spcAft>
            </a:pPr>
            <a:r>
              <a:rPr sz="1300" b="1" i="0">
                <a:solidFill>
                  <a:srgbClr val="5C6B65"/>
                </a:solidFill>
                <a:latin typeface="Calibri"/>
              </a:rPr>
              <a:t>LIMITES ACTUELLES</a:t>
            </a:r>
          </a:p>
        </p:txBody>
      </p:sp>
      <p:sp>
        <p:nvSpPr>
          <p:cNvPr id="10" name="TextBox 9"/>
          <p:cNvSpPr txBox="1"/>
          <p:nvPr/>
        </p:nvSpPr>
        <p:spPr>
          <a:xfrm>
            <a:off x="804672" y="2514600"/>
            <a:ext cx="4937760" cy="3291840"/>
          </a:xfrm>
          <a:prstGeom prst="rect">
            <a:avLst/>
          </a:prstGeom>
          <a:noFill/>
        </p:spPr>
        <p:txBody>
          <a:bodyPr wrap="square" lIns="0" rIns="0" tIns="0" bIns="0">
            <a:spAutoFit/>
          </a:bodyPr>
          <a:lstStyle/>
          <a:p>
            <a:pPr algn="l" marL="228600" indent="-228600">
              <a:lnSpc>
                <a:spcPct val="120000"/>
              </a:lnSpc>
              <a:spcAft>
                <a:spcPts val="1400"/>
              </a:spcAft>
              <a:buClr>
                <a:srgbClr val="5C6B65"/>
              </a:buClr>
              <a:buFont typeface="Arial"/>
              <a:buChar char="•"/>
            </a:pPr>
            <a:r>
              <a:rPr sz="1300">
                <a:solidFill>
                  <a:srgbClr val="1C2B24"/>
                </a:solidFill>
                <a:latin typeface="Calibri"/>
              </a:rPr>
              <a:t>Paiement Mobile Money valide manuellement par un administrateur, sans passerelle Orange Money / MTN reelle.</a:t>
            </a:r>
          </a:p>
          <a:p>
            <a:pPr algn="l" marL="228600" indent="-228600">
              <a:lnSpc>
                <a:spcPct val="120000"/>
              </a:lnSpc>
              <a:spcAft>
                <a:spcPts val="1400"/>
              </a:spcAft>
              <a:buClr>
                <a:srgbClr val="5C6B65"/>
              </a:buClr>
              <a:buFont typeface="Arial"/>
              <a:buChar char="•"/>
            </a:pPr>
            <a:r>
              <a:rPr sz="1300">
                <a:solidFill>
                  <a:srgbClr val="1C2B24"/>
                </a:solidFill>
                <a:latin typeface="Calibri"/>
              </a:rPr>
              <a:t>Absence de mode de fonctionnement veritablement hors connexion.</a:t>
            </a:r>
          </a:p>
          <a:p>
            <a:pPr algn="l" marL="228600" indent="-228600">
              <a:lnSpc>
                <a:spcPct val="120000"/>
              </a:lnSpc>
              <a:spcAft>
                <a:spcPts val="1400"/>
              </a:spcAft>
              <a:buClr>
                <a:srgbClr val="5C6B65"/>
              </a:buClr>
              <a:buFont typeface="Arial"/>
              <a:buChar char="•"/>
            </a:pPr>
            <a:r>
              <a:rPr sz="1300">
                <a:solidFill>
                  <a:srgbClr val="1C2B24"/>
                </a:solidFill>
                <a:latin typeface="Calibri"/>
              </a:rPr>
              <a:t>Couverture de tests automatises concentree sur la logique des modeles de donnees.</a:t>
            </a:r>
          </a:p>
        </p:txBody>
      </p:sp>
      <p:sp>
        <p:nvSpPr>
          <p:cNvPr id="11" name="Rounded Rectangle 10"/>
          <p:cNvSpPr/>
          <p:nvPr/>
        </p:nvSpPr>
        <p:spPr>
          <a:xfrm>
            <a:off x="6263640" y="1554480"/>
            <a:ext cx="5440680" cy="4480560"/>
          </a:xfrm>
          <a:prstGeom prst="roundRect">
            <a:avLst>
              <a:gd name="adj" fmla="val 6000"/>
            </a:avLst>
          </a:prstGeom>
          <a:solidFill>
            <a:srgbClr val="1B4332"/>
          </a:solidFill>
          <a:ln w="9525">
            <a:solidFill>
              <a:srgbClr val="D7E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19672" y="1810512"/>
            <a:ext cx="548640" cy="548640"/>
          </a:xfrm>
          <a:prstGeom prst="ellipse">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810512"/>
            <a:ext cx="548640" cy="548640"/>
          </a:xfrm>
          <a:prstGeom prst="rect">
            <a:avLst/>
          </a:prstGeom>
          <a:noFill/>
        </p:spPr>
        <p:txBody>
          <a:bodyPr wrap="none" lIns="0" rIns="0" tIns="0" bIns="0" anchor="ctr">
            <a:spAutoFit/>
          </a:bodyPr>
          <a:lstStyle/>
          <a:p>
            <a:pPr algn="ctr"/>
            <a:r>
              <a:rPr sz="2000">
                <a:latin typeface="Segoe UI Emoji"/>
              </a:rPr>
              <a:t>🌟</a:t>
            </a:r>
          </a:p>
        </p:txBody>
      </p:sp>
      <p:sp>
        <p:nvSpPr>
          <p:cNvPr id="14" name="TextBox 13"/>
          <p:cNvSpPr txBox="1"/>
          <p:nvPr/>
        </p:nvSpPr>
        <p:spPr>
          <a:xfrm>
            <a:off x="7223760" y="1920240"/>
            <a:ext cx="4114800" cy="320040"/>
          </a:xfrm>
          <a:prstGeom prst="rect">
            <a:avLst/>
          </a:prstGeom>
          <a:noFill/>
        </p:spPr>
        <p:txBody>
          <a:bodyPr wrap="square" lIns="0" rIns="0" tIns="0" bIns="0" anchor="t">
            <a:spAutoFit/>
          </a:bodyPr>
          <a:lstStyle/>
          <a:p>
            <a:pPr algn="l">
              <a:lnSpc>
                <a:spcPct val="100000"/>
              </a:lnSpc>
              <a:spcAft>
                <a:spcPts val="0"/>
              </a:spcAft>
            </a:pPr>
            <a:r>
              <a:rPr sz="1300" b="1" i="0">
                <a:solidFill>
                  <a:srgbClr val="FFB703"/>
                </a:solidFill>
                <a:latin typeface="Calibri"/>
              </a:rPr>
              <a:t>PERSPECTIVES D'EVOLUTION</a:t>
            </a:r>
          </a:p>
        </p:txBody>
      </p:sp>
      <p:sp>
        <p:nvSpPr>
          <p:cNvPr id="15" name="TextBox 14"/>
          <p:cNvSpPr txBox="1"/>
          <p:nvPr/>
        </p:nvSpPr>
        <p:spPr>
          <a:xfrm>
            <a:off x="6519672" y="2514600"/>
            <a:ext cx="4937760" cy="3383280"/>
          </a:xfrm>
          <a:prstGeom prst="rect">
            <a:avLst/>
          </a:prstGeom>
          <a:noFill/>
        </p:spPr>
        <p:txBody>
          <a:bodyPr wrap="square" lIns="0" rIns="0" tIns="0" bIns="0">
            <a:spAutoFit/>
          </a:bodyPr>
          <a:lstStyle/>
          <a:p>
            <a:pPr algn="l" marL="228600" indent="-228600">
              <a:lnSpc>
                <a:spcPct val="115000"/>
              </a:lnSpc>
              <a:spcAft>
                <a:spcPts val="1100"/>
              </a:spcAft>
              <a:buClr>
                <a:srgbClr val="FFB703"/>
              </a:buClr>
              <a:buFont typeface="Arial"/>
              <a:buChar char="•"/>
            </a:pPr>
            <a:r>
              <a:rPr sz="1250">
                <a:solidFill>
                  <a:srgbClr val="FFFFFF"/>
                </a:solidFill>
                <a:latin typeface="Calibri"/>
              </a:rPr>
              <a:t>Integrer une veritable passerelle Mobile Money (API Orange Money / MTN MoMo).</a:t>
            </a:r>
          </a:p>
          <a:p>
            <a:pPr algn="l" marL="228600" indent="-228600">
              <a:lnSpc>
                <a:spcPct val="115000"/>
              </a:lnSpc>
              <a:spcAft>
                <a:spcPts val="1100"/>
              </a:spcAft>
              <a:buClr>
                <a:srgbClr val="FFB703"/>
              </a:buClr>
              <a:buFont typeface="Arial"/>
              <a:buChar char="•"/>
            </a:pPr>
            <a:r>
              <a:rPr sz="1250">
                <a:solidFill>
                  <a:srgbClr val="FFFFFF"/>
                </a:solidFill>
                <a:latin typeface="Calibri"/>
              </a:rPr>
              <a:t>Developper un mode hors connexion avec synchronisation differee pour les zones peu couvertes.</a:t>
            </a:r>
          </a:p>
          <a:p>
            <a:pPr algn="l" marL="228600" indent="-228600">
              <a:lnSpc>
                <a:spcPct val="115000"/>
              </a:lnSpc>
              <a:spcAft>
                <a:spcPts val="1100"/>
              </a:spcAft>
              <a:buClr>
                <a:srgbClr val="FFB703"/>
              </a:buClr>
              <a:buFont typeface="Arial"/>
              <a:buChar char="•"/>
            </a:pPr>
            <a:r>
              <a:rPr sz="1250">
                <a:solidFill>
                  <a:srgbClr val="FFFFFF"/>
                </a:solidFill>
                <a:latin typeface="Calibri"/>
              </a:rPr>
              <a:t>Enrichir l'administration d'un tableau de bord statistique pour les autorites municipales.</a:t>
            </a:r>
          </a:p>
          <a:p>
            <a:pPr algn="l" marL="228600" indent="-228600">
              <a:lnSpc>
                <a:spcPct val="115000"/>
              </a:lnSpc>
              <a:spcAft>
                <a:spcPts val="1100"/>
              </a:spcAft>
              <a:buClr>
                <a:srgbClr val="FFB703"/>
              </a:buClr>
              <a:buFont typeface="Arial"/>
              <a:buChar char="•"/>
            </a:pPr>
            <a:r>
              <a:rPr sz="1250">
                <a:solidFill>
                  <a:srgbClr val="FFFFFF"/>
                </a:solidFill>
                <a:latin typeface="Calibri"/>
              </a:rPr>
              <a:t>Etendre les tests d'integration automatises sur les politiques RLS.</a:t>
            </a:r>
          </a:p>
          <a:p>
            <a:pPr algn="l" marL="228600" indent="-228600">
              <a:lnSpc>
                <a:spcPct val="115000"/>
              </a:lnSpc>
              <a:spcAft>
                <a:spcPts val="1100"/>
              </a:spcAft>
              <a:buClr>
                <a:srgbClr val="FFB703"/>
              </a:buClr>
              <a:buFont typeface="Arial"/>
              <a:buChar char="•"/>
            </a:pPr>
            <a:r>
              <a:rPr sz="1250">
                <a:solidFill>
                  <a:srgbClr val="FFFFFF"/>
                </a:solidFill>
                <a:latin typeface="Calibri"/>
              </a:rPr>
              <a:t>Publier officiellement l'application sur Google Play Store et App Store.</a:t>
            </a:r>
          </a:p>
        </p:txBody>
      </p:sp>
      <p:sp>
        <p:nvSpPr>
          <p:cNvPr id="16" name="TextBox 15"/>
          <p:cNvSpPr txBox="1"/>
          <p:nvPr/>
        </p:nvSpPr>
        <p:spPr>
          <a:xfrm>
            <a:off x="548640" y="6528816"/>
            <a:ext cx="5486400" cy="274320"/>
          </a:xfrm>
          <a:prstGeom prst="rect">
            <a:avLst/>
          </a:prstGeom>
          <a:noFill/>
        </p:spPr>
        <p:txBody>
          <a:bodyPr wrap="square" lIns="0" rIns="0" tIns="0" bIns="0" anchor="t">
            <a:spAutoFit/>
          </a:bodyPr>
          <a:lstStyle/>
          <a:p>
            <a:pPr algn="l">
              <a:lnSpc>
                <a:spcPct val="100000"/>
              </a:lnSpc>
              <a:spcAft>
                <a:spcPts val="0"/>
              </a:spcAft>
            </a:pPr>
            <a:r>
              <a:rPr sz="950" b="0" i="0">
                <a:solidFill>
                  <a:srgbClr val="5C6B65"/>
                </a:solidFill>
                <a:latin typeface="Calibri"/>
              </a:rPr>
              <a:t>CleanCity — Collect · Recover · Preserve</a:t>
            </a:r>
          </a:p>
        </p:txBody>
      </p:sp>
      <p:sp>
        <p:nvSpPr>
          <p:cNvPr id="17" name="TextBox 16"/>
          <p:cNvSpPr txBox="1"/>
          <p:nvPr/>
        </p:nvSpPr>
        <p:spPr>
          <a:xfrm>
            <a:off x="11185855" y="6528816"/>
            <a:ext cx="457200" cy="274320"/>
          </a:xfrm>
          <a:prstGeom prst="rect">
            <a:avLst/>
          </a:prstGeom>
          <a:noFill/>
        </p:spPr>
        <p:txBody>
          <a:bodyPr wrap="square" lIns="0" rIns="0" tIns="0" bIns="0" anchor="t">
            <a:spAutoFit/>
          </a:bodyPr>
          <a:lstStyle/>
          <a:p>
            <a:pPr algn="r">
              <a:lnSpc>
                <a:spcPct val="100000"/>
              </a:lnSpc>
              <a:spcAft>
                <a:spcPts val="0"/>
              </a:spcAft>
            </a:pPr>
            <a:r>
              <a:rPr sz="950" b="0" i="0">
                <a:solidFill>
                  <a:srgbClr val="5C6B65"/>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2B21"/>
        </a:solidFill>
        <a:effectLst/>
      </p:bgPr>
    </p:bg>
    <p:spTree>
      <p:nvGrpSpPr>
        <p:cNvPr id="1" name=""/>
        <p:cNvGrpSpPr/>
        <p:nvPr/>
      </p:nvGrpSpPr>
      <p:grpSpPr/>
      <p:sp>
        <p:nvSpPr>
          <p:cNvPr id="2" name="Oval 1"/>
          <p:cNvSpPr/>
          <p:nvPr/>
        </p:nvSpPr>
        <p:spPr>
          <a:xfrm>
            <a:off x="8961120" y="4206240"/>
            <a:ext cx="4572000" cy="457200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011680" y="-1828800"/>
            <a:ext cx="4206240" cy="420624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777240"/>
            <a:ext cx="914400" cy="914400"/>
          </a:xfrm>
          <a:prstGeom prst="ellipse">
            <a:avLst/>
          </a:prstGeom>
          <a:solidFill>
            <a:srgbClr val="74C6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914400" cy="914400"/>
          </a:xfrm>
          <a:prstGeom prst="rect">
            <a:avLst/>
          </a:prstGeom>
          <a:noFill/>
        </p:spPr>
        <p:txBody>
          <a:bodyPr wrap="none" lIns="0" rIns="0" tIns="0" bIns="0" anchor="ctr">
            <a:spAutoFit/>
          </a:bodyPr>
          <a:lstStyle/>
          <a:p>
            <a:pPr algn="ctr"/>
            <a:r>
              <a:rPr sz="3200">
                <a:latin typeface="Segoe UI Emoji"/>
              </a:rPr>
              <a:t>🍃</a:t>
            </a:r>
          </a:p>
        </p:txBody>
      </p:sp>
      <p:sp>
        <p:nvSpPr>
          <p:cNvPr id="6" name="TextBox 5"/>
          <p:cNvSpPr txBox="1"/>
          <p:nvPr/>
        </p:nvSpPr>
        <p:spPr>
          <a:xfrm>
            <a:off x="822960" y="1920240"/>
            <a:ext cx="9144000" cy="365760"/>
          </a:xfrm>
          <a:prstGeom prst="rect">
            <a:avLst/>
          </a:prstGeom>
          <a:noFill/>
        </p:spPr>
        <p:txBody>
          <a:bodyPr wrap="square" lIns="0" rIns="0" tIns="0" bIns="0" anchor="t">
            <a:spAutoFit/>
          </a:bodyPr>
          <a:lstStyle/>
          <a:p>
            <a:pPr algn="l">
              <a:lnSpc>
                <a:spcPct val="100000"/>
              </a:lnSpc>
              <a:spcAft>
                <a:spcPts val="0"/>
              </a:spcAft>
            </a:pPr>
            <a:r>
              <a:rPr sz="1500" b="1" i="0">
                <a:solidFill>
                  <a:srgbClr val="74C69D"/>
                </a:solidFill>
                <a:latin typeface="Calibri"/>
              </a:rPr>
              <a:t>CONCLUSION GENERALE</a:t>
            </a:r>
          </a:p>
        </p:txBody>
      </p:sp>
      <p:sp>
        <p:nvSpPr>
          <p:cNvPr id="7" name="TextBox 6"/>
          <p:cNvSpPr txBox="1"/>
          <p:nvPr/>
        </p:nvSpPr>
        <p:spPr>
          <a:xfrm>
            <a:off x="777240" y="2286000"/>
            <a:ext cx="10515600" cy="914400"/>
          </a:xfrm>
          <a:prstGeom prst="rect">
            <a:avLst/>
          </a:prstGeom>
          <a:noFill/>
        </p:spPr>
        <p:txBody>
          <a:bodyPr wrap="square" lIns="0" rIns="0" tIns="0" bIns="0" anchor="t">
            <a:spAutoFit/>
          </a:bodyPr>
          <a:lstStyle/>
          <a:p>
            <a:pPr algn="l">
              <a:lnSpc>
                <a:spcPct val="105000"/>
              </a:lnSpc>
              <a:spcAft>
                <a:spcPts val="0"/>
              </a:spcAft>
            </a:pPr>
            <a:r>
              <a:rPr sz="3600" b="1" i="0">
                <a:solidFill>
                  <a:srgbClr val="FFFFFF"/>
                </a:solidFill>
                <a:latin typeface="Cambria"/>
              </a:rPr>
              <a:t>Une plateforme fonctionnelle, securisee et deployable</a:t>
            </a:r>
          </a:p>
        </p:txBody>
      </p:sp>
      <p:sp>
        <p:nvSpPr>
          <p:cNvPr id="8" name="TextBox 7"/>
          <p:cNvSpPr txBox="1"/>
          <p:nvPr/>
        </p:nvSpPr>
        <p:spPr>
          <a:xfrm>
            <a:off x="822960" y="3337560"/>
            <a:ext cx="9509760" cy="1005840"/>
          </a:xfrm>
          <a:prstGeom prst="rect">
            <a:avLst/>
          </a:prstGeom>
          <a:noFill/>
        </p:spPr>
        <p:txBody>
          <a:bodyPr wrap="square" lIns="0" rIns="0" tIns="0" bIns="0" anchor="t">
            <a:spAutoFit/>
          </a:bodyPr>
          <a:lstStyle/>
          <a:p>
            <a:pPr algn="l">
              <a:lnSpc>
                <a:spcPct val="130000"/>
              </a:lnSpc>
              <a:spcAft>
                <a:spcPts val="0"/>
              </a:spcAft>
            </a:pPr>
            <a:r>
              <a:rPr sz="1500" b="0" i="0">
                <a:solidFill>
                  <a:srgbClr val="FFFFFF"/>
                </a:solidFill>
                <a:latin typeface="Calibri"/>
              </a:rPr>
              <a:t>Avec une architecture Flutter + Supabase (PostgreSQL, PostGIS, Row Level Security), CleanCity demontre qu'une equipe reduite, dans le cadre temporel d'une licence, peut repondre concretement a un enjeu reel de salubrite urbaine au Cameroun.</a:t>
            </a:r>
          </a:p>
        </p:txBody>
      </p:sp>
      <p:sp>
        <p:nvSpPr>
          <p:cNvPr id="9" name="Rectangle 8"/>
          <p:cNvSpPr/>
          <p:nvPr/>
        </p:nvSpPr>
        <p:spPr>
          <a:xfrm>
            <a:off x="822960" y="4526280"/>
            <a:ext cx="10515600" cy="18288"/>
          </a:xfrm>
          <a:prstGeom prst="rect">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754880"/>
            <a:ext cx="8229600" cy="457200"/>
          </a:xfrm>
          <a:prstGeom prst="rect">
            <a:avLst/>
          </a:prstGeom>
          <a:noFill/>
        </p:spPr>
        <p:txBody>
          <a:bodyPr wrap="square" lIns="0" rIns="0" tIns="0" bIns="0" anchor="t">
            <a:spAutoFit/>
          </a:bodyPr>
          <a:lstStyle/>
          <a:p>
            <a:pPr algn="l">
              <a:lnSpc>
                <a:spcPct val="100000"/>
              </a:lnSpc>
              <a:spcAft>
                <a:spcPts val="0"/>
              </a:spcAft>
            </a:pPr>
            <a:r>
              <a:rPr sz="1800" b="1" i="1">
                <a:solidFill>
                  <a:srgbClr val="FFB703"/>
                </a:solidFill>
                <a:latin typeface="Cambria"/>
              </a:rPr>
              <a:t>«  Collect  ·  Recover  ·  Preserve  »</a:t>
            </a:r>
          </a:p>
        </p:txBody>
      </p:sp>
      <p:sp>
        <p:nvSpPr>
          <p:cNvPr id="11" name="TextBox 10"/>
          <p:cNvSpPr txBox="1"/>
          <p:nvPr/>
        </p:nvSpPr>
        <p:spPr>
          <a:xfrm>
            <a:off x="822960" y="5440680"/>
            <a:ext cx="9144000" cy="457200"/>
          </a:xfrm>
          <a:prstGeom prst="rect">
            <a:avLst/>
          </a:prstGeom>
          <a:noFill/>
        </p:spPr>
        <p:txBody>
          <a:bodyPr wrap="square" lIns="0" rIns="0" tIns="0" bIns="0" anchor="t">
            <a:spAutoFit/>
          </a:bodyPr>
          <a:lstStyle/>
          <a:p>
            <a:pPr algn="l">
              <a:lnSpc>
                <a:spcPct val="100000"/>
              </a:lnSpc>
              <a:spcAft>
                <a:spcPts val="0"/>
              </a:spcAft>
            </a:pPr>
            <a:r>
              <a:rPr sz="1500" b="0" i="0">
                <a:solidFill>
                  <a:srgbClr val="FFFFFF"/>
                </a:solidFill>
                <a:latin typeface="Calibri"/>
              </a:rPr>
              <a:t>Merci de votre attention — questions et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